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one-sentence problem out loud before anything else. 58 expert-labelled studies against 4,349 report-only ones, and the reports are wrong about one time in six. Everything in the next nineteen minutes follows from that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synovitis number is the strongest single fact in the deck. 46.6 percent against 3.3 percent. If the panel remembers one thing, make it that. It proves the problem is real, it is specific to this dataset, and it is not something we invented.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Handbook C.10 warns that changing platform, language or model name is not a difference. So lead with the structural difference: everyone else consumes report states, we estimate what they are worth. The prior-FYP row is from the Fall-2025 tab of the departmental repository; the full multi-year scan is still in progress and we should say so if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of this slide is that the literature changed what we are building, not that we read a lot. Every row's fourth column is a decision. If a panel member asks which source we would drop, the answer is none — each one closed off an option.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read all nine rows. Lead with 2, 4 and 8, then point at row 6 and say we marked it weak deliberately. Panels notice honesty here — the handbook explicitly warns against inflating every row, so the weak mark is worth more than a ninth strong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contribution statement verbatim — it is written to the handbook's template on purpose, and the panel will recognise the shape. Then point at the diagram and say where the novelty sits: one box, the reliability estimation stage. Everything else is engineering around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handbook is explicit that a slide saying a POC was done is not a POC. Show the screens live if there is time, and state the POC 1 result plainly: the arithmetic told us we could not do what we originally planned, and we changed the design. A POC that disproved an assumption is worth more than one that confirmed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marks sit on the tool boundary alone, so do not rush the right-hand box. The swap test is the sentence to say out loud: replace the encoder with any comparable model and our contribution is untouched. That is what separates core-assist from core-replacement in the handbook.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scope test box is the answer to the question the handbook tells panels to ask. Say it directly: remove any one of us and a hard subsystem plus its evidence vanishes. Nobody here owns only slides or only testing.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DEI point is the one that is genuinely ours rather than generic: our headline metric is a per-language equity measurement. Most projects bolt DEI on; here it falls out of the research question, and that is worth saying plainly.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1F4E79"/>
          </a:solidFill>
          <a:ln/>
        </p:spPr>
      </p:sp>
      <p:sp>
        <p:nvSpPr>
          <p:cNvPr id="3" name="Text 1"/>
          <p:cNvSpPr txBox="1"/>
          <p:nvPr/>
        </p:nvSpPr>
        <p:spPr>
          <a:xfrm>
            <a:off x="502920" y="6473952"/>
            <a:ext cx="7315200" cy="237744"/>
          </a:xfrm>
          <a:prstGeom prst="rect">
            <a:avLst/>
          </a:prstGeom>
          <a:noFill/>
          <a:ln/>
        </p:spPr>
        <p:txBody>
          <a:bodyPr wrap="square" lIns="0" tIns="0" rIns="0" bIns="0" rtlCol="0" anchor="ctr"/>
          <a:lstStyle/>
          <a:p>
            <a:pPr indent="0" marL="0">
              <a:buNone/>
            </a:pPr>
            <a:r>
              <a:rPr lang="en-US" sz="950" dirty="0">
                <a:solidFill>
                  <a:srgbClr val="9AA8B5"/>
                </a:solidFill>
                <a:latin typeface="Calibri" pitchFamily="34" charset="0"/>
                <a:ea typeface="Calibri" pitchFamily="34" charset="-122"/>
                <a:cs typeface="Calibri" pitchFamily="34" charset="-120"/>
              </a:rPr>
              <a:t>KneeWS  ·  noise-aware weak supervision  ·  proposal defence</a:t>
            </a:r>
            <a:endParaRPr lang="en-US" sz="950" dirty="0"/>
          </a:p>
        </p:txBody>
      </p:sp>
      <p:sp>
        <p:nvSpPr>
          <p:cNvPr id="4" name="Text 2"/>
          <p:cNvSpPr txBox="1"/>
          <p:nvPr/>
        </p:nvSpPr>
        <p:spPr>
          <a:xfrm>
            <a:off x="11185855" y="6473952"/>
            <a:ext cx="502920" cy="237744"/>
          </a:xfrm>
          <a:prstGeom prst="rect">
            <a:avLst/>
          </a:prstGeom>
          <a:noFill/>
          <a:ln/>
        </p:spPr>
        <p:txBody>
          <a:bodyPr wrap="square" lIns="0" tIns="0" rIns="0" bIns="0" rtlCol="0" anchor="ctr"/>
          <a:lstStyle/>
          <a:p>
            <a:pPr algn="r" indent="0" marL="0">
              <a:buNone/>
            </a:pPr>
            <a:r>
              <a:rPr lang="en-US" sz="950" dirty="0">
                <a:solidFill>
                  <a:srgbClr val="9AA8B5"/>
                </a:solidFill>
                <a:latin typeface="Calibri" pitchFamily="34" charset="0"/>
                <a:ea typeface="Calibri" pitchFamily="34" charset="-122"/>
                <a:cs typeface="Calibri" pitchFamily="34" charset="-120"/>
              </a:rPr>
              <a:t>1</a:t>
            </a:r>
            <a:endParaRPr lang="en-US" sz="950" dirty="0"/>
          </a:p>
        </p:txBody>
      </p:sp>
      <p:sp>
        <p:nvSpPr>
          <p:cNvPr id="5" name="Shape 3"/>
          <p:cNvSpPr/>
          <p:nvPr/>
        </p:nvSpPr>
        <p:spPr>
          <a:xfrm>
            <a:off x="0" y="0"/>
            <a:ext cx="12191695" cy="822960"/>
          </a:xfrm>
          <a:prstGeom prst="rect">
            <a:avLst/>
          </a:prstGeom>
          <a:solidFill>
            <a:srgbClr val="1F4E79"/>
          </a:solidFill>
          <a:ln/>
        </p:spPr>
      </p:sp>
      <p:sp>
        <p:nvSpPr>
          <p:cNvPr id="6" name="Text 4"/>
          <p:cNvSpPr txBox="1"/>
          <p:nvPr/>
        </p:nvSpPr>
        <p:spPr>
          <a:xfrm>
            <a:off x="502920" y="219456"/>
            <a:ext cx="11185855" cy="365760"/>
          </a:xfrm>
          <a:prstGeom prst="rect">
            <a:avLst/>
          </a:prstGeom>
          <a:noFill/>
          <a:ln/>
        </p:spPr>
        <p:txBody>
          <a:bodyPr wrap="square" lIns="0" tIns="0" rIns="0" bIns="0" rtlCol="0" anchor="ctr"/>
          <a:lstStyle/>
          <a:p>
            <a:pPr indent="0" marL="0">
              <a:buNone/>
            </a:pPr>
            <a:r>
              <a:rPr lang="en-US" sz="1300" b="1" spc="200" kern="0" dirty="0">
                <a:solidFill>
                  <a:srgbClr val="FFFFFF"/>
                </a:solidFill>
                <a:latin typeface="Calibri" pitchFamily="34" charset="0"/>
                <a:ea typeface="Calibri" pitchFamily="34" charset="-122"/>
                <a:cs typeface="Calibri" pitchFamily="34" charset="-120"/>
              </a:rPr>
              <a:t>FYP PROPOSAL DEFENCE  ·  FAST NUCES ISLAMABAD</a:t>
            </a:r>
            <a:endParaRPr lang="en-US" sz="1300" dirty="0"/>
          </a:p>
        </p:txBody>
      </p:sp>
      <p:sp>
        <p:nvSpPr>
          <p:cNvPr id="7" name="Text 5"/>
          <p:cNvSpPr txBox="1"/>
          <p:nvPr/>
        </p:nvSpPr>
        <p:spPr>
          <a:xfrm>
            <a:off x="502920" y="1325880"/>
            <a:ext cx="11185855" cy="1051560"/>
          </a:xfrm>
          <a:prstGeom prst="rect">
            <a:avLst/>
          </a:prstGeom>
          <a:noFill/>
          <a:ln/>
        </p:spPr>
        <p:txBody>
          <a:bodyPr wrap="square" lIns="0" tIns="0" rIns="0" bIns="0" rtlCol="0" anchor="ctr"/>
          <a:lstStyle/>
          <a:p>
            <a:pPr indent="0" marL="0">
              <a:buNone/>
            </a:pPr>
            <a:r>
              <a:rPr lang="en-US" sz="6000" b="1" dirty="0">
                <a:solidFill>
                  <a:srgbClr val="1F4E79"/>
                </a:solidFill>
                <a:latin typeface="Calibri" pitchFamily="34" charset="0"/>
                <a:ea typeface="Calibri" pitchFamily="34" charset="-122"/>
                <a:cs typeface="Calibri" pitchFamily="34" charset="-120"/>
              </a:rPr>
              <a:t>KneeWS</a:t>
            </a:r>
            <a:endParaRPr lang="en-US" sz="6000" dirty="0"/>
          </a:p>
        </p:txBody>
      </p:sp>
      <p:sp>
        <p:nvSpPr>
          <p:cNvPr id="8" name="Text 6"/>
          <p:cNvSpPr txBox="1"/>
          <p:nvPr/>
        </p:nvSpPr>
        <p:spPr>
          <a:xfrm>
            <a:off x="502920" y="2331720"/>
            <a:ext cx="11185855" cy="365760"/>
          </a:xfrm>
          <a:prstGeom prst="rect">
            <a:avLst/>
          </a:prstGeom>
          <a:noFill/>
          <a:ln/>
        </p:spPr>
        <p:txBody>
          <a:bodyPr wrap="square" lIns="0" tIns="0" rIns="0" bIns="0" rtlCol="0" anchor="ctr"/>
          <a:lstStyle/>
          <a:p>
            <a:pPr indent="0" marL="0">
              <a:buNone/>
            </a:pPr>
            <a:r>
              <a:rPr lang="en-US" sz="1700" i="1" dirty="0">
                <a:solidFill>
                  <a:srgbClr val="5A6875"/>
                </a:solidFill>
                <a:latin typeface="Calibri" pitchFamily="34" charset="0"/>
                <a:ea typeface="Calibri" pitchFamily="34" charset="-122"/>
                <a:cs typeface="Calibri" pitchFamily="34" charset="-120"/>
              </a:rPr>
              <a:t>Knee Weak Supervision</a:t>
            </a:r>
            <a:endParaRPr lang="en-US" sz="1700" dirty="0"/>
          </a:p>
        </p:txBody>
      </p:sp>
      <p:sp>
        <p:nvSpPr>
          <p:cNvPr id="9" name="Text 7"/>
          <p:cNvSpPr txBox="1"/>
          <p:nvPr/>
        </p:nvSpPr>
        <p:spPr>
          <a:xfrm>
            <a:off x="502920" y="2788920"/>
            <a:ext cx="10637215" cy="777240"/>
          </a:xfrm>
          <a:prstGeom prst="rect">
            <a:avLst/>
          </a:prstGeom>
          <a:noFill/>
          <a:ln/>
        </p:spPr>
        <p:txBody>
          <a:bodyPr wrap="square" lIns="0" tIns="0" rIns="0" bIns="0" rtlCol="0" anchor="ctr"/>
          <a:lstStyle/>
          <a:p>
            <a:pPr indent="0" marL="0">
              <a:lnSpc>
                <a:spcPct val="112000"/>
              </a:lnSpc>
              <a:buNone/>
            </a:pPr>
            <a:r>
              <a:rPr lang="en-US" sz="1700" b="1" dirty="0">
                <a:solidFill>
                  <a:srgbClr val="12202E"/>
                </a:solidFill>
                <a:latin typeface="Calibri" pitchFamily="34" charset="0"/>
                <a:ea typeface="Calibri" pitchFamily="34" charset="-122"/>
                <a:cs typeface="Calibri" pitchFamily="34" charset="-120"/>
              </a:rPr>
              <a:t>Noise-Aware Weak Supervision from Multilingual Radiology Reports for Multi-Label Knee MRI Analysis</a:t>
            </a:r>
            <a:endParaRPr lang="en-US" sz="1700" dirty="0"/>
          </a:p>
        </p:txBody>
      </p:sp>
      <p:sp>
        <p:nvSpPr>
          <p:cNvPr id="10" name="Shape 8"/>
          <p:cNvSpPr/>
          <p:nvPr/>
        </p:nvSpPr>
        <p:spPr>
          <a:xfrm>
            <a:off x="502920" y="3611880"/>
            <a:ext cx="11185855" cy="1389888"/>
          </a:xfrm>
          <a:prstGeom prst="roundRect">
            <a:avLst>
              <a:gd name="adj" fmla="val 2632"/>
            </a:avLst>
          </a:prstGeom>
          <a:solidFill>
            <a:srgbClr val="E7EFF7"/>
          </a:solidFill>
          <a:ln w="12700">
            <a:solidFill>
              <a:srgbClr val="1F4E79"/>
            </a:solidFill>
            <a:prstDash val="solid"/>
          </a:ln>
        </p:spPr>
      </p:sp>
      <p:sp>
        <p:nvSpPr>
          <p:cNvPr id="11" name="Text 9"/>
          <p:cNvSpPr txBox="1"/>
          <p:nvPr/>
        </p:nvSpPr>
        <p:spPr>
          <a:xfrm>
            <a:off x="667512" y="3730752"/>
            <a:ext cx="10856671" cy="256032"/>
          </a:xfrm>
          <a:prstGeom prst="rect">
            <a:avLst/>
          </a:prstGeom>
          <a:noFill/>
          <a:ln/>
        </p:spPr>
        <p:txBody>
          <a:bodyPr wrap="square" lIns="0" tIns="0" rIns="0" bIns="0" rtlCol="0" anchor="ctr"/>
          <a:lstStyle/>
          <a:p>
            <a:pPr indent="0" marL="0">
              <a:buNone/>
            </a:pPr>
            <a:r>
              <a:rPr lang="en-US" sz="1200" b="1" dirty="0">
                <a:solidFill>
                  <a:srgbClr val="1F4E79"/>
                </a:solidFill>
                <a:latin typeface="Calibri" pitchFamily="34" charset="0"/>
                <a:ea typeface="Calibri" pitchFamily="34" charset="-122"/>
                <a:cs typeface="Calibri" pitchFamily="34" charset="-120"/>
              </a:rPr>
              <a:t>The problem in one sentence</a:t>
            </a:r>
            <a:endParaRPr lang="en-US" sz="1200" dirty="0"/>
          </a:p>
        </p:txBody>
      </p:sp>
      <p:sp>
        <p:nvSpPr>
          <p:cNvPr id="12" name="Text 10"/>
          <p:cNvSpPr txBox="1"/>
          <p:nvPr/>
        </p:nvSpPr>
        <p:spPr>
          <a:xfrm>
            <a:off x="667512" y="4023360"/>
            <a:ext cx="10856671" cy="868680"/>
          </a:xfrm>
          <a:prstGeom prst="rect">
            <a:avLst/>
          </a:prstGeom>
          <a:noFill/>
          <a:ln/>
        </p:spPr>
        <p:txBody>
          <a:bodyPr wrap="square" lIns="0" tIns="0" rIns="0" bIns="0" rtlCol="0" anchor="t"/>
          <a:lstStyle/>
          <a:p>
            <a:pPr indent="0" marL="0">
              <a:lnSpc>
                <a:spcPct val="112000"/>
              </a:lnSpc>
              <a:buNone/>
            </a:pPr>
            <a:r>
              <a:rPr lang="en-US" sz="1350" dirty="0">
                <a:solidFill>
                  <a:srgbClr val="12202E"/>
                </a:solidFill>
                <a:latin typeface="Calibri" pitchFamily="34" charset="0"/>
                <a:ea typeface="Calibri" pitchFamily="34" charset="-122"/>
                <a:cs typeface="Calibri" pitchFamily="34" charset="-120"/>
              </a:rPr>
              <a:t>Only 58 of 4,407 knee MRI studies carry expert labels; the other 4,349 carry radiology reports that disagree with expert readings about one time in six, in ways nobody has measured — so the labels we must train on are wrong, and we do not know how.</a:t>
            </a:r>
            <a:endParaRPr lang="en-US" sz="1350" dirty="0"/>
          </a:p>
        </p:txBody>
      </p:sp>
      <p:sp>
        <p:nvSpPr>
          <p:cNvPr id="13" name="Text 11"/>
          <p:cNvSpPr txBox="1"/>
          <p:nvPr/>
        </p:nvSpPr>
        <p:spPr>
          <a:xfrm>
            <a:off x="502920" y="5138928"/>
            <a:ext cx="11185855" cy="292608"/>
          </a:xfrm>
          <a:prstGeom prst="rect">
            <a:avLst/>
          </a:prstGeom>
          <a:noFill/>
          <a:ln/>
        </p:spPr>
        <p:txBody>
          <a:bodyPr wrap="square" lIns="0" tIns="0" rIns="0" bIns="0" rtlCol="0" anchor="ctr"/>
          <a:lstStyle/>
          <a:p>
            <a:pPr indent="0" marL="0">
              <a:buNone/>
            </a:pPr>
            <a:r>
              <a:rPr lang="en-US" sz="1400" b="1" dirty="0">
                <a:solidFill>
                  <a:srgbClr val="12202E"/>
                </a:solidFill>
                <a:latin typeface="Calibri" pitchFamily="34" charset="0"/>
                <a:ea typeface="Calibri" pitchFamily="34" charset="-122"/>
                <a:cs typeface="Calibri" pitchFamily="34" charset="-120"/>
              </a:rPr>
              <a:t>[ Member 1 ]   ·   [ Member 2 ]   ·   [ Member 3 ]</a:t>
            </a:r>
            <a:endParaRPr lang="en-US" sz="1400" dirty="0"/>
          </a:p>
        </p:txBody>
      </p:sp>
      <p:sp>
        <p:nvSpPr>
          <p:cNvPr id="14" name="Text 12"/>
          <p:cNvSpPr txBox="1"/>
          <p:nvPr/>
        </p:nvSpPr>
        <p:spPr>
          <a:xfrm>
            <a:off x="502920" y="5458968"/>
            <a:ext cx="11185855" cy="274320"/>
          </a:xfrm>
          <a:prstGeom prst="rect">
            <a:avLst/>
          </a:prstGeom>
          <a:noFill/>
          <a:ln/>
        </p:spPr>
        <p:txBody>
          <a:bodyPr wrap="square" lIns="0" tIns="0" rIns="0" bIns="0" rtlCol="0" anchor="ctr"/>
          <a:lstStyle/>
          <a:p>
            <a:pPr indent="0" marL="0">
              <a:buNone/>
            </a:pPr>
            <a:r>
              <a:rPr lang="en-US" sz="1300" dirty="0">
                <a:solidFill>
                  <a:srgbClr val="5A6875"/>
                </a:solidFill>
                <a:latin typeface="Calibri" pitchFamily="34" charset="0"/>
                <a:ea typeface="Calibri" pitchFamily="34" charset="-122"/>
                <a:cs typeface="Calibri" pitchFamily="34" charset="-120"/>
              </a:rPr>
              <a:t>Supervisor:  [ Supervisor name ]</a:t>
            </a:r>
            <a:endParaRPr lang="en-US" sz="1300" dirty="0"/>
          </a:p>
        </p:txBody>
      </p:sp>
      <p:sp>
        <p:nvSpPr>
          <p:cNvPr id="15" name="Text 13"/>
          <p:cNvSpPr txBox="1"/>
          <p:nvPr/>
        </p:nvSpPr>
        <p:spPr>
          <a:xfrm>
            <a:off x="502920" y="5815584"/>
            <a:ext cx="11185855" cy="292608"/>
          </a:xfrm>
          <a:prstGeom prst="rect">
            <a:avLst/>
          </a:prstGeom>
          <a:noFill/>
          <a:ln/>
        </p:spPr>
        <p:txBody>
          <a:bodyPr wrap="square" lIns="0" tIns="0" rIns="0" bIns="0" rtlCol="0" anchor="ctr"/>
          <a:lstStyle/>
          <a:p>
            <a:pPr indent="0" marL="0">
              <a:buNone/>
            </a:pPr>
            <a:r>
              <a:rPr lang="en-US" sz="1250" dirty="0">
                <a:solidFill>
                  <a:srgbClr val="5A6875"/>
                </a:solidFill>
                <a:latin typeface="Calibri" pitchFamily="34" charset="0"/>
                <a:ea typeface="Calibri" pitchFamily="34" charset="-122"/>
                <a:cs typeface="Calibri" pitchFamily="34" charset="-120"/>
              </a:rPr>
              <a:t>Declared stream:  </a:t>
            </a:r>
            <a:pPr indent="0" marL="0">
              <a:buNone/>
            </a:pPr>
            <a:r>
              <a:rPr lang="en-US" sz="1250" b="1" dirty="0">
                <a:solidFill>
                  <a:srgbClr val="1F4E79"/>
                </a:solidFill>
                <a:latin typeface="Calibri" pitchFamily="34" charset="0"/>
                <a:ea typeface="Calibri" pitchFamily="34" charset="-122"/>
                <a:cs typeface="Calibri" pitchFamily="34" charset="-120"/>
              </a:rPr>
              <a:t>Research-derived (Stream A)</a:t>
            </a:r>
            <a:pPr indent="0" marL="0">
              <a:buNone/>
            </a:pPr>
            <a:r>
              <a:rPr lang="en-US" sz="1250" dirty="0">
                <a:solidFill>
                  <a:srgbClr val="5A6875"/>
                </a:solidFill>
                <a:latin typeface="Calibri" pitchFamily="34" charset="0"/>
                <a:ea typeface="Calibri" pitchFamily="34" charset="-122"/>
                <a:cs typeface="Calibri" pitchFamily="34" charset="-120"/>
              </a:rPr>
              <a:t>        Primary SDG:  </a:t>
            </a:r>
            <a:pPr indent="0" marL="0">
              <a:buNone/>
            </a:pPr>
            <a:r>
              <a:rPr lang="en-US" sz="1250" b="1" dirty="0">
                <a:solidFill>
                  <a:srgbClr val="1F4E79"/>
                </a:solidFill>
                <a:latin typeface="Calibri" pitchFamily="34" charset="0"/>
                <a:ea typeface="Calibri" pitchFamily="34" charset="-122"/>
                <a:cs typeface="Calibri" pitchFamily="34" charset="-120"/>
              </a:rPr>
              <a:t>3 — Good Health and Well-being</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1F4E79"/>
          </a:solidFill>
          <a:ln/>
        </p:spPr>
      </p:sp>
      <p:sp>
        <p:nvSpPr>
          <p:cNvPr id="3" name="Shape 1"/>
          <p:cNvSpPr/>
          <p:nvPr/>
        </p:nvSpPr>
        <p:spPr>
          <a:xfrm>
            <a:off x="502920" y="283464"/>
            <a:ext cx="475488" cy="475488"/>
          </a:xfrm>
          <a:prstGeom prst="roundRect">
            <a:avLst>
              <a:gd name="adj" fmla="val 38462"/>
            </a:avLst>
          </a:prstGeom>
          <a:solidFill>
            <a:srgbClr val="1F4E79"/>
          </a:solidFill>
          <a:ln w="12700">
            <a:solidFill>
              <a:srgbClr val="1F4E79"/>
            </a:solidFill>
            <a:prstDash val="solid"/>
          </a:ln>
        </p:spPr>
      </p:sp>
      <p:sp>
        <p:nvSpPr>
          <p:cNvPr id="4" name="Text 2"/>
          <p:cNvSpPr txBox="1"/>
          <p:nvPr/>
        </p:nvSpPr>
        <p:spPr>
          <a:xfrm>
            <a:off x="502920" y="283464"/>
            <a:ext cx="475488" cy="475488"/>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2</a:t>
            </a:r>
            <a:endParaRPr lang="en-US" sz="1900" dirty="0"/>
          </a:p>
        </p:txBody>
      </p:sp>
      <p:sp>
        <p:nvSpPr>
          <p:cNvPr id="5" name="Text 3"/>
          <p:cNvSpPr txBox="1"/>
          <p:nvPr/>
        </p:nvSpPr>
        <p:spPr>
          <a:xfrm>
            <a:off x="502920" y="786384"/>
            <a:ext cx="475488" cy="182880"/>
          </a:xfrm>
          <a:prstGeom prst="rect">
            <a:avLst/>
          </a:prstGeom>
          <a:noFill/>
          <a:ln/>
        </p:spPr>
        <p:txBody>
          <a:bodyPr wrap="square" lIns="0" tIns="0" rIns="0" bIns="0" rtlCol="0" anchor="ctr"/>
          <a:lstStyle/>
          <a:p>
            <a:pPr algn="ctr" indent="0" marL="0">
              <a:buNone/>
            </a:pPr>
            <a:r>
              <a:rPr lang="en-US" sz="750" dirty="0">
                <a:solidFill>
                  <a:srgbClr val="9AA8B5"/>
                </a:solidFill>
                <a:latin typeface="Calibri" pitchFamily="34" charset="0"/>
                <a:ea typeface="Calibri" pitchFamily="34" charset="-122"/>
                <a:cs typeface="Calibri" pitchFamily="34" charset="-120"/>
              </a:rPr>
              <a:t>OF 10</a:t>
            </a:r>
            <a:endParaRPr lang="en-US" sz="750" dirty="0"/>
          </a:p>
        </p:txBody>
      </p:sp>
      <p:sp>
        <p:nvSpPr>
          <p:cNvPr id="6" name="Text 4"/>
          <p:cNvSpPr txBox="1"/>
          <p:nvPr/>
        </p:nvSpPr>
        <p:spPr>
          <a:xfrm>
            <a:off x="1124712" y="274320"/>
            <a:ext cx="9283903" cy="475488"/>
          </a:xfrm>
          <a:prstGeom prst="rect">
            <a:avLst/>
          </a:prstGeom>
          <a:noFill/>
          <a:ln/>
        </p:spPr>
        <p:txBody>
          <a:bodyPr wrap="square" lIns="0" tIns="0" rIns="0" bIns="0" rtlCol="0" anchor="ctr"/>
          <a:lstStyle/>
          <a:p>
            <a:pPr indent="0" marL="0">
              <a:buNone/>
            </a:pPr>
            <a:r>
              <a:rPr lang="en-US" sz="2500" b="1" dirty="0">
                <a:solidFill>
                  <a:srgbClr val="12202E"/>
                </a:solidFill>
                <a:latin typeface="Calibri" pitchFamily="34" charset="0"/>
                <a:ea typeface="Calibri" pitchFamily="34" charset="-122"/>
                <a:cs typeface="Calibri" pitchFamily="34" charset="-120"/>
              </a:rPr>
              <a:t>Problem and users</a:t>
            </a:r>
            <a:endParaRPr lang="en-US" sz="2500" dirty="0"/>
          </a:p>
        </p:txBody>
      </p:sp>
      <p:sp>
        <p:nvSpPr>
          <p:cNvPr id="7" name="Text 5"/>
          <p:cNvSpPr txBox="1"/>
          <p:nvPr/>
        </p:nvSpPr>
        <p:spPr>
          <a:xfrm>
            <a:off x="1124712" y="768096"/>
            <a:ext cx="9283903" cy="310896"/>
          </a:xfrm>
          <a:prstGeom prst="rect">
            <a:avLst/>
          </a:prstGeom>
          <a:noFill/>
          <a:ln/>
        </p:spPr>
        <p:txBody>
          <a:bodyPr wrap="square" lIns="0" tIns="0" rIns="0" bIns="0" rtlCol="0" anchor="ctr"/>
          <a:lstStyle/>
          <a:p>
            <a:pPr indent="0" marL="0">
              <a:buNone/>
            </a:pPr>
            <a:r>
              <a:rPr lang="en-US" sz="1300" i="1" dirty="0">
                <a:solidFill>
                  <a:srgbClr val="5A6875"/>
                </a:solidFill>
                <a:latin typeface="Calibri" pitchFamily="34" charset="0"/>
                <a:ea typeface="Calibri" pitchFamily="34" charset="-122"/>
                <a:cs typeface="Calibri" pitchFamily="34" charset="-120"/>
              </a:rPr>
              <a:t>Who faces it, how it is handled today, and why the failure matters</a:t>
            </a:r>
            <a:endParaRPr lang="en-US" sz="1300" dirty="0"/>
          </a:p>
        </p:txBody>
      </p:sp>
      <p:sp>
        <p:nvSpPr>
          <p:cNvPr id="8" name="Shape 6"/>
          <p:cNvSpPr/>
          <p:nvPr/>
        </p:nvSpPr>
        <p:spPr>
          <a:xfrm>
            <a:off x="502920" y="1115568"/>
            <a:ext cx="11185855" cy="20117"/>
          </a:xfrm>
          <a:prstGeom prst="rect">
            <a:avLst/>
          </a:prstGeom>
          <a:solidFill>
            <a:srgbClr val="1F4E79"/>
          </a:solidFill>
          <a:ln/>
        </p:spPr>
      </p:sp>
      <p:sp>
        <p:nvSpPr>
          <p:cNvPr id="9" name="Text 7"/>
          <p:cNvSpPr txBox="1"/>
          <p:nvPr/>
        </p:nvSpPr>
        <p:spPr>
          <a:xfrm>
            <a:off x="502920" y="6473952"/>
            <a:ext cx="7315200" cy="237744"/>
          </a:xfrm>
          <a:prstGeom prst="rect">
            <a:avLst/>
          </a:prstGeom>
          <a:noFill/>
          <a:ln/>
        </p:spPr>
        <p:txBody>
          <a:bodyPr wrap="square" lIns="0" tIns="0" rIns="0" bIns="0" rtlCol="0" anchor="ctr"/>
          <a:lstStyle/>
          <a:p>
            <a:pPr indent="0" marL="0">
              <a:buNone/>
            </a:pPr>
            <a:r>
              <a:rPr lang="en-US" sz="950" dirty="0">
                <a:solidFill>
                  <a:srgbClr val="9AA8B5"/>
                </a:solidFill>
                <a:latin typeface="Calibri" pitchFamily="34" charset="0"/>
                <a:ea typeface="Calibri" pitchFamily="34" charset="-122"/>
                <a:cs typeface="Calibri" pitchFamily="34" charset="-120"/>
              </a:rPr>
              <a:t>KneeWS  ·  noise-aware weak supervision  ·  proposal defence</a:t>
            </a:r>
            <a:endParaRPr lang="en-US" sz="950" dirty="0"/>
          </a:p>
        </p:txBody>
      </p:sp>
      <p:sp>
        <p:nvSpPr>
          <p:cNvPr id="10" name="Text 8"/>
          <p:cNvSpPr txBox="1"/>
          <p:nvPr/>
        </p:nvSpPr>
        <p:spPr>
          <a:xfrm>
            <a:off x="11185855" y="6473952"/>
            <a:ext cx="502920" cy="237744"/>
          </a:xfrm>
          <a:prstGeom prst="rect">
            <a:avLst/>
          </a:prstGeom>
          <a:noFill/>
          <a:ln/>
        </p:spPr>
        <p:txBody>
          <a:bodyPr wrap="square" lIns="0" tIns="0" rIns="0" bIns="0" rtlCol="0" anchor="ctr"/>
          <a:lstStyle/>
          <a:p>
            <a:pPr algn="r" indent="0" marL="0">
              <a:buNone/>
            </a:pPr>
            <a:r>
              <a:rPr lang="en-US" sz="950" dirty="0">
                <a:solidFill>
                  <a:srgbClr val="9AA8B5"/>
                </a:solidFill>
                <a:latin typeface="Calibri" pitchFamily="34" charset="0"/>
                <a:ea typeface="Calibri" pitchFamily="34" charset="-122"/>
                <a:cs typeface="Calibri" pitchFamily="34" charset="-120"/>
              </a:rPr>
              <a:t>2</a:t>
            </a:r>
            <a:endParaRPr lang="en-US" sz="95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02920" y="1325880"/>
          <a:ext cx="11185855" cy="914400"/>
        </p:xfrm>
        <a:graphic>
          <a:graphicData uri="http://schemas.openxmlformats.org/drawingml/2006/table">
            <a:tbl>
              <a:tblPr/>
              <a:tblGrid>
                <a:gridCol w="2377440"/>
                <a:gridCol w="4480560"/>
                <a:gridCol w="4325112"/>
              </a:tblGrid>
              <a:tr h="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Who</a:t>
                      </a:r>
                      <a:endParaRPr lang="en-US" sz="110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1F4E79"/>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What they face today</a:t>
                      </a:r>
                      <a:endParaRPr lang="en-US" sz="110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1F4E79"/>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Why the current handling fails</a:t>
                      </a:r>
                      <a:endParaRPr lang="en-US" sz="110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1F4E79"/>
                    </a:solidFill>
                  </a:tcPr>
                </a:tc>
              </a:tr>
              <a:tr h="0">
                <a:tc>
                  <a:txBody>
                    <a:bodyPr/>
                    <a:lstStyle/>
                    <a:p>
                      <a:pPr indent="0" marL="0">
                        <a:buNone/>
                      </a:pPr>
                      <a:r>
                        <a:rPr lang="en-US" sz="1150" b="1" dirty="0">
                          <a:solidFill>
                            <a:srgbClr val="12202E"/>
                          </a:solidFill>
                          <a:latin typeface="Calibri" pitchFamily="34" charset="0"/>
                          <a:ea typeface="Calibri" pitchFamily="34" charset="-122"/>
                          <a:cs typeface="Calibri" pitchFamily="34" charset="-120"/>
                        </a:rPr>
                        <a:t>Medical-imaging AI researchers and model developers</a:t>
                      </a:r>
                      <a:endParaRPr lang="en-US" sz="115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FFFFF"/>
                    </a:solidFill>
                  </a:tcPr>
                </a:tc>
                <a:tc>
                  <a:txBody>
                    <a:bodyPr/>
                    <a:lstStyle/>
                    <a:p>
                      <a:pPr indent="0" marL="0">
                        <a:buNone/>
                      </a:pPr>
                      <a:r>
                        <a:rPr lang="en-US" sz="1150" dirty="0">
                          <a:solidFill>
                            <a:srgbClr val="12202E"/>
                          </a:solidFill>
                          <a:latin typeface="Calibri" pitchFamily="34" charset="0"/>
                          <a:ea typeface="Calibri" pitchFamily="34" charset="-122"/>
                          <a:cs typeface="Calibri" pitchFamily="34" charset="-120"/>
                        </a:rPr>
                        <a:t>Expert annotation is the bottleneck. A study takes two radiologists plus an adjudicator; a dataset takes years. So teams train on labels scraped from reports instead.</a:t>
                      </a:r>
                      <a:endParaRPr lang="en-US" sz="115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FFFFF"/>
                    </a:solidFill>
                  </a:tcPr>
                </a:tc>
                <a:tc>
                  <a:txBody>
                    <a:bodyPr/>
                    <a:lstStyle/>
                    <a:p>
                      <a:pPr indent="0" marL="0">
                        <a:buNone/>
                      </a:pPr>
                      <a:r>
                        <a:rPr lang="en-US" sz="1150" dirty="0">
                          <a:solidFill>
                            <a:srgbClr val="12202E"/>
                          </a:solidFill>
                          <a:latin typeface="Calibri" pitchFamily="34" charset="0"/>
                          <a:ea typeface="Calibri" pitchFamily="34" charset="-122"/>
                          <a:cs typeface="Calibri" pitchFamily="34" charset="-120"/>
                        </a:rPr>
                        <a:t>The scraping step converts free text to a hard 1 or 0 and treats every finding the report does not mention as absent. That assumption is never measured, and it is silently wrong.</a:t>
                      </a:r>
                      <a:endParaRPr lang="en-US" sz="115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FFFFF"/>
                    </a:solidFill>
                  </a:tcPr>
                </a:tc>
              </a:tr>
              <a:tr h="0">
                <a:tc>
                  <a:txBody>
                    <a:bodyPr/>
                    <a:lstStyle/>
                    <a:p>
                      <a:pPr indent="0" marL="0">
                        <a:buNone/>
                      </a:pPr>
                      <a:r>
                        <a:rPr lang="en-US" sz="1150" b="1" dirty="0">
                          <a:solidFill>
                            <a:srgbClr val="12202E"/>
                          </a:solidFill>
                          <a:latin typeface="Calibri" pitchFamily="34" charset="0"/>
                          <a:ea typeface="Calibri" pitchFamily="34" charset="-122"/>
                          <a:cs typeface="Calibri" pitchFamily="34" charset="-120"/>
                        </a:rPr>
                        <a:t>Radiologists in high-volume settings</a:t>
                      </a:r>
                      <a:endParaRPr lang="en-US" sz="115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3F6F9"/>
                    </a:solidFill>
                  </a:tcPr>
                </a:tc>
                <a:tc>
                  <a:txBody>
                    <a:bodyPr/>
                    <a:lstStyle/>
                    <a:p>
                      <a:pPr indent="0" marL="0">
                        <a:buNone/>
                      </a:pPr>
                      <a:r>
                        <a:rPr lang="en-US" sz="1150" dirty="0">
                          <a:solidFill>
                            <a:srgbClr val="12202E"/>
                          </a:solidFill>
                          <a:latin typeface="Calibri" pitchFamily="34" charset="0"/>
                          <a:ea typeface="Calibri" pitchFamily="34" charset="-122"/>
                          <a:cs typeface="Calibri" pitchFamily="34" charset="-120"/>
                        </a:rPr>
                        <a:t>A knee MRI is read once, by one reader, under time pressure. What gets written is what was clinically relevant to that referral.</a:t>
                      </a:r>
                      <a:endParaRPr lang="en-US" sz="115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3F6F9"/>
                    </a:solidFill>
                  </a:tcPr>
                </a:tc>
                <a:tc>
                  <a:txBody>
                    <a:bodyPr/>
                    <a:lstStyle/>
                    <a:p>
                      <a:pPr indent="0" marL="0">
                        <a:buNone/>
                      </a:pPr>
                      <a:r>
                        <a:rPr lang="en-US" sz="1150" dirty="0">
                          <a:solidFill>
                            <a:srgbClr val="12202E"/>
                          </a:solidFill>
                          <a:latin typeface="Calibri" pitchFamily="34" charset="0"/>
                          <a:ea typeface="Calibri" pitchFamily="34" charset="-122"/>
                          <a:cs typeface="Calibri" pitchFamily="34" charset="-120"/>
                        </a:rPr>
                        <a:t>Findings that were seen but not worth reporting vanish. They are not negatives — they are silences, and a model trained on them learns the wrong prevalence.</a:t>
                      </a:r>
                      <a:endParaRPr lang="en-US" sz="115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3F6F9"/>
                    </a:solidFill>
                  </a:tcPr>
                </a:tc>
              </a:tr>
              <a:tr h="0">
                <a:tc>
                  <a:txBody>
                    <a:bodyPr/>
                    <a:lstStyle/>
                    <a:p>
                      <a:pPr indent="0" marL="0">
                        <a:buNone/>
                      </a:pPr>
                      <a:r>
                        <a:rPr lang="en-US" sz="1150" b="1" dirty="0">
                          <a:solidFill>
                            <a:srgbClr val="12202E"/>
                          </a:solidFill>
                          <a:latin typeface="Calibri" pitchFamily="34" charset="0"/>
                          <a:ea typeface="Calibri" pitchFamily="34" charset="-122"/>
                          <a:cs typeface="Calibri" pitchFamily="34" charset="-120"/>
                        </a:rPr>
                        <a:t>The notional client — the group operating the deployed model</a:t>
                      </a:r>
                      <a:endParaRPr lang="en-US" sz="115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FFFFF"/>
                    </a:solidFill>
                  </a:tcPr>
                </a:tc>
                <a:tc>
                  <a:txBody>
                    <a:bodyPr/>
                    <a:lstStyle/>
                    <a:p>
                      <a:pPr indent="0" marL="0">
                        <a:buNone/>
                      </a:pPr>
                      <a:r>
                        <a:rPr lang="en-US" sz="1150" dirty="0">
                          <a:solidFill>
                            <a:srgbClr val="12202E"/>
                          </a:solidFill>
                          <a:latin typeface="Calibri" pitchFamily="34" charset="0"/>
                          <a:ea typeface="Calibri" pitchFamily="34" charset="-122"/>
                          <a:cs typeface="Calibri" pitchFamily="34" charset="-120"/>
                        </a:rPr>
                        <a:t>Wants a system that reads a new study from images alone and returns probabilities it can act on.</a:t>
                      </a:r>
                      <a:endParaRPr lang="en-US" sz="115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FFFFF"/>
                    </a:solidFill>
                  </a:tcPr>
                </a:tc>
                <a:tc>
                  <a:txBody>
                    <a:bodyPr/>
                    <a:lstStyle/>
                    <a:p>
                      <a:pPr indent="0" marL="0">
                        <a:buNone/>
                      </a:pPr>
                      <a:r>
                        <a:rPr lang="en-US" sz="1150" dirty="0">
                          <a:solidFill>
                            <a:srgbClr val="12202E"/>
                          </a:solidFill>
                          <a:latin typeface="Calibri" pitchFamily="34" charset="0"/>
                          <a:ea typeface="Calibri" pitchFamily="34" charset="-122"/>
                          <a:cs typeface="Calibri" pitchFamily="34" charset="-120"/>
                        </a:rPr>
                        <a:t>A model trained on unmeasured noise produces confident numbers with no honest error bar, which is worse than no number at all.</a:t>
                      </a:r>
                      <a:endParaRPr lang="en-US" sz="115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FFFFF"/>
                    </a:solidFill>
                  </a:tcPr>
                </a:tc>
              </a:tr>
            </a:tbl>
          </a:graphicData>
        </a:graphic>
      </p:graphicFrame>
      <p:sp>
        <p:nvSpPr>
          <p:cNvPr id="12" name="Shape 9"/>
          <p:cNvSpPr/>
          <p:nvPr/>
        </p:nvSpPr>
        <p:spPr>
          <a:xfrm>
            <a:off x="502920" y="3639312"/>
            <a:ext cx="6767442" cy="1420368"/>
          </a:xfrm>
          <a:prstGeom prst="roundRect">
            <a:avLst>
              <a:gd name="adj" fmla="val 2575"/>
            </a:avLst>
          </a:prstGeom>
          <a:solidFill>
            <a:srgbClr val="F9E7E7"/>
          </a:solidFill>
          <a:ln w="12700">
            <a:solidFill>
              <a:srgbClr val="8C2F2F"/>
            </a:solidFill>
            <a:prstDash val="solid"/>
          </a:ln>
        </p:spPr>
      </p:sp>
      <p:sp>
        <p:nvSpPr>
          <p:cNvPr id="13" name="Text 10"/>
          <p:cNvSpPr txBox="1"/>
          <p:nvPr/>
        </p:nvSpPr>
        <p:spPr>
          <a:xfrm>
            <a:off x="667512" y="3758184"/>
            <a:ext cx="6438258" cy="256032"/>
          </a:xfrm>
          <a:prstGeom prst="rect">
            <a:avLst/>
          </a:prstGeom>
          <a:noFill/>
          <a:ln/>
        </p:spPr>
        <p:txBody>
          <a:bodyPr wrap="square" lIns="0" tIns="0" rIns="0" bIns="0" rtlCol="0" anchor="ctr"/>
          <a:lstStyle/>
          <a:p>
            <a:pPr indent="0" marL="0">
              <a:buNone/>
            </a:pPr>
            <a:r>
              <a:rPr lang="en-US" sz="1200" b="1" dirty="0">
                <a:solidFill>
                  <a:srgbClr val="8C2F2F"/>
                </a:solidFill>
                <a:latin typeface="Calibri" pitchFamily="34" charset="0"/>
                <a:ea typeface="Calibri" pitchFamily="34" charset="-122"/>
                <a:cs typeface="Calibri" pitchFamily="34" charset="-120"/>
              </a:rPr>
              <a:t>The failure, in one number</a:t>
            </a:r>
            <a:endParaRPr lang="en-US" sz="1200" dirty="0"/>
          </a:p>
        </p:txBody>
      </p:sp>
      <p:sp>
        <p:nvSpPr>
          <p:cNvPr id="14" name="Text 11"/>
          <p:cNvSpPr txBox="1"/>
          <p:nvPr/>
        </p:nvSpPr>
        <p:spPr>
          <a:xfrm>
            <a:off x="667512" y="4050792"/>
            <a:ext cx="6438258" cy="899160"/>
          </a:xfrm>
          <a:prstGeom prst="rect">
            <a:avLst/>
          </a:prstGeom>
          <a:noFill/>
          <a:ln/>
        </p:spPr>
        <p:txBody>
          <a:bodyPr wrap="square" lIns="0" tIns="0" rIns="0" bIns="0" rtlCol="0" anchor="t"/>
          <a:lstStyle/>
          <a:p>
            <a:pPr indent="0" marL="0">
              <a:lnSpc>
                <a:spcPct val="112000"/>
              </a:lnSpc>
              <a:buNone/>
            </a:pPr>
            <a:r>
              <a:rPr lang="en-US" sz="1200" dirty="0">
                <a:solidFill>
                  <a:srgbClr val="12202E"/>
                </a:solidFill>
                <a:latin typeface="Calibri" pitchFamily="34" charset="0"/>
                <a:ea typeface="Calibri" pitchFamily="34" charset="-122"/>
                <a:cs typeface="Calibri" pitchFamily="34" charset="-120"/>
              </a:rPr>
              <a:t>Synovitis is present in about 46.6% of expert-read studies in this dataset. It appears in about 3.3% of the reports. Train the standard way and the model learns that synovitis almost never happens — an error of roughly 43 percentage points, introduced entirely by the labelling step.</a:t>
            </a:r>
            <a:endParaRPr lang="en-US" sz="1200" dirty="0"/>
          </a:p>
        </p:txBody>
      </p:sp>
      <p:sp>
        <p:nvSpPr>
          <p:cNvPr id="15" name="Shape 12"/>
          <p:cNvSpPr/>
          <p:nvPr/>
        </p:nvSpPr>
        <p:spPr>
          <a:xfrm>
            <a:off x="7494080" y="3639312"/>
            <a:ext cx="4194696" cy="1386332"/>
          </a:xfrm>
          <a:prstGeom prst="roundRect">
            <a:avLst>
              <a:gd name="adj" fmla="val 2638"/>
            </a:avLst>
          </a:prstGeom>
          <a:solidFill>
            <a:srgbClr val="F3F6F9"/>
          </a:solidFill>
          <a:ln w="12700">
            <a:solidFill>
              <a:srgbClr val="5A6875"/>
            </a:solidFill>
            <a:prstDash val="solid"/>
          </a:ln>
        </p:spPr>
      </p:sp>
      <p:sp>
        <p:nvSpPr>
          <p:cNvPr id="16" name="Text 13"/>
          <p:cNvSpPr txBox="1"/>
          <p:nvPr/>
        </p:nvSpPr>
        <p:spPr>
          <a:xfrm>
            <a:off x="7658672" y="3758184"/>
            <a:ext cx="3865512" cy="256032"/>
          </a:xfrm>
          <a:prstGeom prst="rect">
            <a:avLst/>
          </a:prstGeom>
          <a:noFill/>
          <a:ln/>
        </p:spPr>
        <p:txBody>
          <a:bodyPr wrap="square" lIns="0" tIns="0" rIns="0" bIns="0" rtlCol="0" anchor="ctr"/>
          <a:lstStyle/>
          <a:p>
            <a:pPr indent="0" marL="0">
              <a:buNone/>
            </a:pPr>
            <a:r>
              <a:rPr lang="en-US" sz="1200" b="1" dirty="0">
                <a:solidFill>
                  <a:srgbClr val="5A6875"/>
                </a:solidFill>
                <a:latin typeface="Calibri" pitchFamily="34" charset="0"/>
                <a:ea typeface="Calibri" pitchFamily="34" charset="-122"/>
                <a:cs typeface="Calibri" pitchFamily="34" charset="-120"/>
              </a:rPr>
              <a:t>SDG 3 — Good Health and Well-being</a:t>
            </a:r>
            <a:endParaRPr lang="en-US" sz="1200" dirty="0"/>
          </a:p>
        </p:txBody>
      </p:sp>
      <p:sp>
        <p:nvSpPr>
          <p:cNvPr id="17" name="Text 14"/>
          <p:cNvSpPr txBox="1"/>
          <p:nvPr/>
        </p:nvSpPr>
        <p:spPr>
          <a:xfrm>
            <a:off x="7658672" y="4050792"/>
            <a:ext cx="3865512" cy="865124"/>
          </a:xfrm>
          <a:prstGeom prst="rect">
            <a:avLst/>
          </a:prstGeom>
          <a:noFill/>
          <a:ln/>
        </p:spPr>
        <p:txBody>
          <a:bodyPr wrap="square" lIns="0" tIns="0" rIns="0" bIns="0" rtlCol="0" anchor="t"/>
          <a:lstStyle/>
          <a:p>
            <a:pPr indent="0" marL="0">
              <a:lnSpc>
                <a:spcPct val="112000"/>
              </a:lnSpc>
              <a:buNone/>
            </a:pPr>
            <a:r>
              <a:rPr lang="en-US" sz="1150" dirty="0">
                <a:solidFill>
                  <a:srgbClr val="12202E"/>
                </a:solidFill>
                <a:latin typeface="Calibri" pitchFamily="34" charset="0"/>
                <a:ea typeface="Calibri" pitchFamily="34" charset="-122"/>
                <a:cs typeface="Calibri" pitchFamily="34" charset="-120"/>
              </a:rPr>
              <a:t>Connection: diagnostic support where expert annotation is scarce. Boundary: the SDG is context for the problem, not the claimed technical contribution and not part of the CCP.</a:t>
            </a:r>
            <a:endParaRPr lang="en-US" sz="1150" dirty="0"/>
          </a:p>
        </p:txBody>
      </p:sp>
      <p:sp>
        <p:nvSpPr>
          <p:cNvPr id="18" name="Text 15"/>
          <p:cNvSpPr txBox="1"/>
          <p:nvPr/>
        </p:nvSpPr>
        <p:spPr>
          <a:xfrm>
            <a:off x="502920" y="5175504"/>
            <a:ext cx="11185855" cy="320040"/>
          </a:xfrm>
          <a:prstGeom prst="rect">
            <a:avLst/>
          </a:prstGeom>
          <a:noFill/>
          <a:ln/>
        </p:spPr>
        <p:txBody>
          <a:bodyPr wrap="square" lIns="0" tIns="0" rIns="0" bIns="0" rtlCol="0" anchor="ctr"/>
          <a:lstStyle/>
          <a:p>
            <a:pPr indent="0" marL="0">
              <a:buNone/>
            </a:pPr>
            <a:r>
              <a:rPr lang="en-US" sz="1150" i="1" dirty="0">
                <a:solidFill>
                  <a:srgbClr val="5A6875"/>
                </a:solidFill>
                <a:latin typeface="Calibri" pitchFamily="34" charset="0"/>
                <a:ea typeface="Calibri" pitchFamily="34" charset="-122"/>
                <a:cs typeface="Calibri" pitchFamily="34" charset="-120"/>
              </a:rPr>
              <a:t>The system is a research and decision-support tool. It is not, and will not be presented as, a clinically validated diagnostic system.</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1F4E79"/>
          </a:solidFill>
          <a:ln/>
        </p:spPr>
      </p:sp>
      <p:sp>
        <p:nvSpPr>
          <p:cNvPr id="3" name="Shape 1"/>
          <p:cNvSpPr/>
          <p:nvPr/>
        </p:nvSpPr>
        <p:spPr>
          <a:xfrm>
            <a:off x="502920" y="283464"/>
            <a:ext cx="475488" cy="475488"/>
          </a:xfrm>
          <a:prstGeom prst="roundRect">
            <a:avLst>
              <a:gd name="adj" fmla="val 38462"/>
            </a:avLst>
          </a:prstGeom>
          <a:solidFill>
            <a:srgbClr val="1F4E79"/>
          </a:solidFill>
          <a:ln w="12700">
            <a:solidFill>
              <a:srgbClr val="1F4E79"/>
            </a:solidFill>
            <a:prstDash val="solid"/>
          </a:ln>
        </p:spPr>
      </p:sp>
      <p:sp>
        <p:nvSpPr>
          <p:cNvPr id="4" name="Text 2"/>
          <p:cNvSpPr txBox="1"/>
          <p:nvPr/>
        </p:nvSpPr>
        <p:spPr>
          <a:xfrm>
            <a:off x="502920" y="283464"/>
            <a:ext cx="475488" cy="475488"/>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3</a:t>
            </a:r>
            <a:endParaRPr lang="en-US" sz="1900" dirty="0"/>
          </a:p>
        </p:txBody>
      </p:sp>
      <p:sp>
        <p:nvSpPr>
          <p:cNvPr id="5" name="Text 3"/>
          <p:cNvSpPr txBox="1"/>
          <p:nvPr/>
        </p:nvSpPr>
        <p:spPr>
          <a:xfrm>
            <a:off x="502920" y="786384"/>
            <a:ext cx="475488" cy="182880"/>
          </a:xfrm>
          <a:prstGeom prst="rect">
            <a:avLst/>
          </a:prstGeom>
          <a:noFill/>
          <a:ln/>
        </p:spPr>
        <p:txBody>
          <a:bodyPr wrap="square" lIns="0" tIns="0" rIns="0" bIns="0" rtlCol="0" anchor="ctr"/>
          <a:lstStyle/>
          <a:p>
            <a:pPr algn="ctr" indent="0" marL="0">
              <a:buNone/>
            </a:pPr>
            <a:r>
              <a:rPr lang="en-US" sz="750" dirty="0">
                <a:solidFill>
                  <a:srgbClr val="9AA8B5"/>
                </a:solidFill>
                <a:latin typeface="Calibri" pitchFamily="34" charset="0"/>
                <a:ea typeface="Calibri" pitchFamily="34" charset="-122"/>
                <a:cs typeface="Calibri" pitchFamily="34" charset="-120"/>
              </a:rPr>
              <a:t>OF 10</a:t>
            </a:r>
            <a:endParaRPr lang="en-US" sz="750" dirty="0"/>
          </a:p>
        </p:txBody>
      </p:sp>
      <p:sp>
        <p:nvSpPr>
          <p:cNvPr id="6" name="Text 4"/>
          <p:cNvSpPr txBox="1"/>
          <p:nvPr/>
        </p:nvSpPr>
        <p:spPr>
          <a:xfrm>
            <a:off x="1124712" y="274320"/>
            <a:ext cx="9283903" cy="475488"/>
          </a:xfrm>
          <a:prstGeom prst="rect">
            <a:avLst/>
          </a:prstGeom>
          <a:noFill/>
          <a:ln/>
        </p:spPr>
        <p:txBody>
          <a:bodyPr wrap="square" lIns="0" tIns="0" rIns="0" bIns="0" rtlCol="0" anchor="ctr"/>
          <a:lstStyle/>
          <a:p>
            <a:pPr indent="0" marL="0">
              <a:buNone/>
            </a:pPr>
            <a:r>
              <a:rPr lang="en-US" sz="2500" b="1" dirty="0">
                <a:solidFill>
                  <a:srgbClr val="12202E"/>
                </a:solidFill>
                <a:latin typeface="Calibri" pitchFamily="34" charset="0"/>
                <a:ea typeface="Calibri" pitchFamily="34" charset="-122"/>
                <a:cs typeface="Calibri" pitchFamily="34" charset="-120"/>
              </a:rPr>
              <a:t>Existing solutions and prior FYP comparison</a:t>
            </a:r>
            <a:endParaRPr lang="en-US" sz="2500" dirty="0"/>
          </a:p>
        </p:txBody>
      </p:sp>
      <p:sp>
        <p:nvSpPr>
          <p:cNvPr id="7" name="Text 5"/>
          <p:cNvSpPr txBox="1"/>
          <p:nvPr/>
        </p:nvSpPr>
        <p:spPr>
          <a:xfrm>
            <a:off x="1124712" y="768096"/>
            <a:ext cx="9283903" cy="310896"/>
          </a:xfrm>
          <a:prstGeom prst="rect">
            <a:avLst/>
          </a:prstGeom>
          <a:noFill/>
          <a:ln/>
        </p:spPr>
        <p:txBody>
          <a:bodyPr wrap="square" lIns="0" tIns="0" rIns="0" bIns="0" rtlCol="0" anchor="ctr"/>
          <a:lstStyle/>
          <a:p>
            <a:pPr indent="0" marL="0">
              <a:buNone/>
            </a:pPr>
            <a:r>
              <a:rPr lang="en-US" sz="1300" i="1" dirty="0">
                <a:solidFill>
                  <a:srgbClr val="5A6875"/>
                </a:solidFill>
                <a:latin typeface="Calibri" pitchFamily="34" charset="0"/>
                <a:ea typeface="Calibri" pitchFamily="34" charset="-122"/>
                <a:cs typeface="Calibri" pitchFamily="34" charset="-120"/>
              </a:rPr>
              <a:t>Structural comparison — problem, users, approach, evidenced limitation, and what it implies for us</a:t>
            </a:r>
            <a:endParaRPr lang="en-US" sz="1300" dirty="0"/>
          </a:p>
        </p:txBody>
      </p:sp>
      <p:sp>
        <p:nvSpPr>
          <p:cNvPr id="8" name="Shape 6"/>
          <p:cNvSpPr/>
          <p:nvPr/>
        </p:nvSpPr>
        <p:spPr>
          <a:xfrm>
            <a:off x="502920" y="1115568"/>
            <a:ext cx="11185855" cy="20117"/>
          </a:xfrm>
          <a:prstGeom prst="rect">
            <a:avLst/>
          </a:prstGeom>
          <a:solidFill>
            <a:srgbClr val="1F4E79"/>
          </a:solidFill>
          <a:ln/>
        </p:spPr>
      </p:sp>
      <p:sp>
        <p:nvSpPr>
          <p:cNvPr id="9" name="Text 7"/>
          <p:cNvSpPr txBox="1"/>
          <p:nvPr/>
        </p:nvSpPr>
        <p:spPr>
          <a:xfrm>
            <a:off x="502920" y="6473952"/>
            <a:ext cx="7315200" cy="237744"/>
          </a:xfrm>
          <a:prstGeom prst="rect">
            <a:avLst/>
          </a:prstGeom>
          <a:noFill/>
          <a:ln/>
        </p:spPr>
        <p:txBody>
          <a:bodyPr wrap="square" lIns="0" tIns="0" rIns="0" bIns="0" rtlCol="0" anchor="ctr"/>
          <a:lstStyle/>
          <a:p>
            <a:pPr indent="0" marL="0">
              <a:buNone/>
            </a:pPr>
            <a:r>
              <a:rPr lang="en-US" sz="950" dirty="0">
                <a:solidFill>
                  <a:srgbClr val="9AA8B5"/>
                </a:solidFill>
                <a:latin typeface="Calibri" pitchFamily="34" charset="0"/>
                <a:ea typeface="Calibri" pitchFamily="34" charset="-122"/>
                <a:cs typeface="Calibri" pitchFamily="34" charset="-120"/>
              </a:rPr>
              <a:t>KneeWS  ·  noise-aware weak supervision  ·  proposal defence</a:t>
            </a:r>
            <a:endParaRPr lang="en-US" sz="950" dirty="0"/>
          </a:p>
        </p:txBody>
      </p:sp>
      <p:sp>
        <p:nvSpPr>
          <p:cNvPr id="10" name="Text 8"/>
          <p:cNvSpPr txBox="1"/>
          <p:nvPr/>
        </p:nvSpPr>
        <p:spPr>
          <a:xfrm>
            <a:off x="11185855" y="6473952"/>
            <a:ext cx="502920" cy="237744"/>
          </a:xfrm>
          <a:prstGeom prst="rect">
            <a:avLst/>
          </a:prstGeom>
          <a:noFill/>
          <a:ln/>
        </p:spPr>
        <p:txBody>
          <a:bodyPr wrap="square" lIns="0" tIns="0" rIns="0" bIns="0" rtlCol="0" anchor="ctr"/>
          <a:lstStyle/>
          <a:p>
            <a:pPr algn="r" indent="0" marL="0">
              <a:buNone/>
            </a:pPr>
            <a:r>
              <a:rPr lang="en-US" sz="950" dirty="0">
                <a:solidFill>
                  <a:srgbClr val="9AA8B5"/>
                </a:solidFill>
                <a:latin typeface="Calibri" pitchFamily="34" charset="0"/>
                <a:ea typeface="Calibri" pitchFamily="34" charset="-122"/>
                <a:cs typeface="Calibri" pitchFamily="34" charset="-120"/>
              </a:rPr>
              <a:t>3</a:t>
            </a:r>
            <a:endParaRPr lang="en-US" sz="95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02920" y="1325880"/>
          <a:ext cx="11185855" cy="914400"/>
        </p:xfrm>
        <a:graphic>
          <a:graphicData uri="http://schemas.openxmlformats.org/drawingml/2006/table">
            <a:tbl>
              <a:tblPr/>
              <a:tblGrid>
                <a:gridCol w="2148840"/>
                <a:gridCol w="1920240"/>
                <a:gridCol w="2194560"/>
                <a:gridCol w="2514600"/>
                <a:gridCol w="2404872"/>
              </a:tblGrid>
              <a:tr h="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Existing solution / prior FYP</a:t>
                      </a:r>
                      <a:endParaRPr lang="en-US" sz="95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1F4E79"/>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Problem and target users</a:t>
                      </a:r>
                      <a:endParaRPr lang="en-US" sz="95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1F4E79"/>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Core approach</a:t>
                      </a:r>
                      <a:endParaRPr lang="en-US" sz="95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1F4E79"/>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Evidence-based limitation</a:t>
                      </a:r>
                      <a:endParaRPr lang="en-US" sz="95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1F4E79"/>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Implication for our project</a:t>
                      </a:r>
                      <a:endParaRPr lang="en-US" sz="95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1F4E79"/>
                    </a:solidFill>
                  </a:tcPr>
                </a:tc>
              </a:tr>
              <a:tr h="0">
                <a:tc>
                  <a:txBody>
                    <a:bodyPr/>
                    <a:lstStyle/>
                    <a:p>
                      <a:pPr indent="0" marL="0">
                        <a:buNone/>
                      </a:pPr>
                      <a:r>
                        <a:rPr lang="en-US" sz="1000" dirty="0">
                          <a:solidFill>
                            <a:srgbClr val="12202E"/>
                          </a:solidFill>
                          <a:latin typeface="Calibri" pitchFamily="34" charset="0"/>
                          <a:ea typeface="Calibri" pitchFamily="34" charset="-122"/>
                          <a:cs typeface="Calibri" pitchFamily="34" charset="-120"/>
                        </a:rPr>
                        <a:t>CheXpert 2019 / CheXbert 2020</a:t>
                      </a:r>
                      <a:endParaRPr lang="en-US" sz="100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FFFFF"/>
                    </a:solidFill>
                  </a:tcPr>
                </a:tc>
                <a:tc>
                  <a:txBody>
                    <a:bodyPr/>
                    <a:lstStyle/>
                    <a:p>
                      <a:pPr indent="0" marL="0">
                        <a:buNone/>
                      </a:pPr>
                      <a:r>
                        <a:rPr lang="en-US" sz="1000" dirty="0">
                          <a:solidFill>
                            <a:srgbClr val="12202E"/>
                          </a:solidFill>
                          <a:latin typeface="Calibri" pitchFamily="34" charset="0"/>
                          <a:ea typeface="Calibri" pitchFamily="34" charset="-122"/>
                          <a:cs typeface="Calibri" pitchFamily="34" charset="-120"/>
                        </a:rPr>
                        <a:t>Chest X-ray researchers; report-to-label conversion</a:t>
                      </a:r>
                      <a:endParaRPr lang="en-US" sz="100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FFFFF"/>
                    </a:solidFill>
                  </a:tcPr>
                </a:tc>
                <a:tc>
                  <a:txBody>
                    <a:bodyPr/>
                    <a:lstStyle/>
                    <a:p>
                      <a:pPr indent="0" marL="0">
                        <a:buNone/>
                      </a:pPr>
                      <a:r>
                        <a:rPr lang="en-US" sz="1000" dirty="0">
                          <a:solidFill>
                            <a:srgbClr val="12202E"/>
                          </a:solidFill>
                          <a:latin typeface="Calibri" pitchFamily="34" charset="0"/>
                          <a:ea typeface="Calibri" pitchFamily="34" charset="-122"/>
                          <a:cs typeface="Calibri" pitchFamily="34" charset="-120"/>
                        </a:rPr>
                        <a:t>Four states: positive, negative, uncertain, unmentioned. Rule + BERT labeller.</a:t>
                      </a:r>
                      <a:endParaRPr lang="en-US" sz="100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FFFFF"/>
                    </a:solidFill>
                  </a:tcPr>
                </a:tc>
                <a:tc>
                  <a:txBody>
                    <a:bodyPr/>
                    <a:lstStyle/>
                    <a:p>
                      <a:pPr indent="0" marL="0">
                        <a:buNone/>
                      </a:pPr>
                      <a:r>
                        <a:rPr lang="en-US" sz="1000" dirty="0">
                          <a:solidFill>
                            <a:srgbClr val="12202E"/>
                          </a:solidFill>
                          <a:latin typeface="Calibri" pitchFamily="34" charset="0"/>
                          <a:ea typeface="Calibri" pitchFamily="34" charset="-122"/>
                          <a:cs typeface="Calibri" pitchFamily="34" charset="-120"/>
                        </a:rPr>
                        <a:t>English only. The four states are used as-is — their reliability is never estimated.</a:t>
                      </a:r>
                      <a:endParaRPr lang="en-US" sz="100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FFFFF"/>
                    </a:solidFill>
                  </a:tcPr>
                </a:tc>
                <a:tc>
                  <a:txBody>
                    <a:bodyPr/>
                    <a:lstStyle/>
                    <a:p>
                      <a:pPr indent="0" marL="0">
                        <a:buNone/>
                      </a:pPr>
                      <a:r>
                        <a:rPr lang="en-US" sz="1000" b="1" dirty="0">
                          <a:solidFill>
                            <a:srgbClr val="12202E"/>
                          </a:solidFill>
                          <a:latin typeface="Calibri" pitchFamily="34" charset="0"/>
                          <a:ea typeface="Calibri" pitchFamily="34" charset="-122"/>
                          <a:cs typeface="Calibri" pitchFamily="34" charset="-120"/>
                        </a:rPr>
                        <a:t>We estimate what each state is worth, across ~10 languages, on MRI.</a:t>
                      </a:r>
                      <a:endParaRPr lang="en-US" sz="100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2202E"/>
                          </a:solidFill>
                          <a:latin typeface="Calibri" pitchFamily="34" charset="0"/>
                          <a:ea typeface="Calibri" pitchFamily="34" charset="-122"/>
                          <a:cs typeface="Calibri" pitchFamily="34" charset="-120"/>
                        </a:rPr>
                        <a:t>MAPLEZ, MedIA 2025</a:t>
                      </a:r>
                      <a:endParaRPr lang="en-US" sz="100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3F6F9"/>
                    </a:solidFill>
                  </a:tcPr>
                </a:tc>
                <a:tc>
                  <a:txBody>
                    <a:bodyPr/>
                    <a:lstStyle/>
                    <a:p>
                      <a:pPr indent="0" marL="0">
                        <a:buNone/>
                      </a:pPr>
                      <a:r>
                        <a:rPr lang="en-US" sz="1000" dirty="0">
                          <a:solidFill>
                            <a:srgbClr val="12202E"/>
                          </a:solidFill>
                          <a:latin typeface="Calibri" pitchFamily="34" charset="0"/>
                          <a:ea typeface="Calibri" pitchFamily="34" charset="-122"/>
                          <a:cs typeface="Calibri" pitchFamily="34" charset="-120"/>
                        </a:rPr>
                        <a:t>Chest imaging; soft supervision from reports</a:t>
                      </a:r>
                      <a:endParaRPr lang="en-US" sz="100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3F6F9"/>
                    </a:solidFill>
                  </a:tcPr>
                </a:tc>
                <a:tc>
                  <a:txBody>
                    <a:bodyPr/>
                    <a:lstStyle/>
                    <a:p>
                      <a:pPr indent="0" marL="0">
                        <a:buNone/>
                      </a:pPr>
                      <a:r>
                        <a:rPr lang="en-US" sz="1000" dirty="0">
                          <a:solidFill>
                            <a:srgbClr val="12202E"/>
                          </a:solidFill>
                          <a:latin typeface="Calibri" pitchFamily="34" charset="0"/>
                          <a:ea typeface="Calibri" pitchFamily="34" charset="-122"/>
                          <a:cs typeface="Calibri" pitchFamily="34" charset="-120"/>
                        </a:rPr>
                        <a:t>LLM states a verbalised probability, used directly as a soft target.</a:t>
                      </a:r>
                      <a:endParaRPr lang="en-US" sz="100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3F6F9"/>
                    </a:solidFill>
                  </a:tcPr>
                </a:tc>
                <a:tc>
                  <a:txBody>
                    <a:bodyPr/>
                    <a:lstStyle/>
                    <a:p>
                      <a:pPr indent="0" marL="0">
                        <a:buNone/>
                      </a:pPr>
                      <a:r>
                        <a:rPr lang="en-US" sz="1000" dirty="0">
                          <a:solidFill>
                            <a:srgbClr val="12202E"/>
                          </a:solidFill>
                          <a:latin typeface="Calibri" pitchFamily="34" charset="0"/>
                          <a:ea typeface="Calibri" pitchFamily="34" charset="-122"/>
                          <a:cs typeface="Calibri" pitchFamily="34" charset="-120"/>
                        </a:rPr>
                        <a:t>Gain of only +0.4 AUROC. Depends on the LLM's own calibration, unmeasured for non-English.</a:t>
                      </a:r>
                      <a:endParaRPr lang="en-US" sz="100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3F6F9"/>
                    </a:solidFill>
                  </a:tcPr>
                </a:tc>
                <a:tc>
                  <a:txBody>
                    <a:bodyPr/>
                    <a:lstStyle/>
                    <a:p>
                      <a:pPr indent="0" marL="0">
                        <a:buNone/>
                      </a:pPr>
                      <a:r>
                        <a:rPr lang="en-US" sz="1000" b="1" dirty="0">
                          <a:solidFill>
                            <a:srgbClr val="12202E"/>
                          </a:solidFill>
                          <a:latin typeface="Calibri" pitchFamily="34" charset="0"/>
                          <a:ea typeface="Calibri" pitchFamily="34" charset="-122"/>
                          <a:cs typeface="Calibri" pitchFamily="34" charset="-120"/>
                        </a:rPr>
                        <a:t>Becomes our Arm 4. We estimate reliability from data, not from self-report.</a:t>
                      </a:r>
                      <a:endParaRPr lang="en-US" sz="100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3F6F9"/>
                    </a:solidFill>
                  </a:tcPr>
                </a:tc>
              </a:tr>
              <a:tr h="0">
                <a:tc>
                  <a:txBody>
                    <a:bodyPr/>
                    <a:lstStyle/>
                    <a:p>
                      <a:pPr indent="0" marL="0">
                        <a:buNone/>
                      </a:pPr>
                      <a:r>
                        <a:rPr lang="en-US" sz="1000" dirty="0">
                          <a:solidFill>
                            <a:srgbClr val="12202E"/>
                          </a:solidFill>
                          <a:latin typeface="Calibri" pitchFamily="34" charset="0"/>
                          <a:ea typeface="Calibri" pitchFamily="34" charset="-122"/>
                          <a:cs typeface="Calibri" pitchFamily="34" charset="-120"/>
                        </a:rPr>
                        <a:t>RSNA public baseline (0.891)</a:t>
                      </a:r>
                      <a:endParaRPr lang="en-US" sz="100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FFFFF"/>
                    </a:solidFill>
                  </a:tcPr>
                </a:tc>
                <a:tc>
                  <a:txBody>
                    <a:bodyPr/>
                    <a:lstStyle/>
                    <a:p>
                      <a:pPr indent="0" marL="0">
                        <a:buNone/>
                      </a:pPr>
                      <a:r>
                        <a:rPr lang="en-US" sz="1000" dirty="0">
                          <a:solidFill>
                            <a:srgbClr val="12202E"/>
                          </a:solidFill>
                          <a:latin typeface="Calibri" pitchFamily="34" charset="0"/>
                          <a:ea typeface="Calibri" pitchFamily="34" charset="-122"/>
                          <a:cs typeface="Calibri" pitchFamily="34" charset="-120"/>
                        </a:rPr>
                        <a:t>Competition entrants</a:t>
                      </a:r>
                      <a:endParaRPr lang="en-US" sz="100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FFFFF"/>
                    </a:solidFill>
                  </a:tcPr>
                </a:tc>
                <a:tc>
                  <a:txBody>
                    <a:bodyPr/>
                    <a:lstStyle/>
                    <a:p>
                      <a:pPr indent="0" marL="0">
                        <a:buNone/>
                      </a:pPr>
                      <a:r>
                        <a:rPr lang="en-US" sz="1000" dirty="0">
                          <a:solidFill>
                            <a:srgbClr val="12202E"/>
                          </a:solidFill>
                          <a:latin typeface="Calibri" pitchFamily="34" charset="0"/>
                          <a:ea typeface="Calibri" pitchFamily="34" charset="-122"/>
                          <a:cs typeface="Calibri" pitchFamily="34" charset="-120"/>
                        </a:rPr>
                        <a:t>Multilingual rule extractor + DINOv2-small 2.5D image model.</a:t>
                      </a:r>
                      <a:endParaRPr lang="en-US" sz="100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FFFFF"/>
                    </a:solidFill>
                  </a:tcPr>
                </a:tc>
                <a:tc>
                  <a:txBody>
                    <a:bodyPr/>
                    <a:lstStyle/>
                    <a:p>
                      <a:pPr indent="0" marL="0">
                        <a:buNone/>
                      </a:pPr>
                      <a:r>
                        <a:rPr lang="en-US" sz="1000" dirty="0">
                          <a:solidFill>
                            <a:srgbClr val="12202E"/>
                          </a:solidFill>
                          <a:latin typeface="Calibri" pitchFamily="34" charset="0"/>
                          <a:ea typeface="Calibri" pitchFamily="34" charset="-122"/>
                          <a:cs typeface="Calibri" pitchFamily="34" charset="-120"/>
                        </a:rPr>
                        <a:t>Treats every unmentioned finding as absent — the assumption we believe is costly.</a:t>
                      </a:r>
                      <a:endParaRPr lang="en-US" sz="100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FFFFF"/>
                    </a:solidFill>
                  </a:tcPr>
                </a:tc>
                <a:tc>
                  <a:txBody>
                    <a:bodyPr/>
                    <a:lstStyle/>
                    <a:p>
                      <a:pPr indent="0" marL="0">
                        <a:buNone/>
                      </a:pPr>
                      <a:r>
                        <a:rPr lang="en-US" sz="1000" b="1" dirty="0">
                          <a:solidFill>
                            <a:srgbClr val="12202E"/>
                          </a:solidFill>
                          <a:latin typeface="Calibri" pitchFamily="34" charset="0"/>
                          <a:ea typeface="Calibri" pitchFamily="34" charset="-122"/>
                          <a:cs typeface="Calibri" pitchFamily="34" charset="-120"/>
                        </a:rPr>
                        <a:t>Becomes our Arm 1 baseline; we measure what that assumption costs.</a:t>
                      </a:r>
                      <a:endParaRPr lang="en-US" sz="100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12202E"/>
                          </a:solidFill>
                          <a:latin typeface="Calibri" pitchFamily="34" charset="0"/>
                          <a:ea typeface="Calibri" pitchFamily="34" charset="-122"/>
                          <a:cs typeface="Calibri" pitchFamily="34" charset="-120"/>
                        </a:rPr>
                        <a:t>Closest prior FYPs: EarlyRay (F25-064-D), RetinaScope (F25-045-D)</a:t>
                      </a:r>
                      <a:endParaRPr lang="en-US" sz="100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3F6F9"/>
                    </a:solidFill>
                  </a:tcPr>
                </a:tc>
                <a:tc>
                  <a:txBody>
                    <a:bodyPr/>
                    <a:lstStyle/>
                    <a:p>
                      <a:pPr indent="0" marL="0">
                        <a:buNone/>
                      </a:pPr>
                      <a:r>
                        <a:rPr lang="en-US" sz="1000" dirty="0">
                          <a:solidFill>
                            <a:srgbClr val="12202E"/>
                          </a:solidFill>
                          <a:latin typeface="Calibri" pitchFamily="34" charset="0"/>
                          <a:ea typeface="Calibri" pitchFamily="34" charset="-122"/>
                          <a:cs typeface="Calibri" pitchFamily="34" charset="-120"/>
                        </a:rPr>
                        <a:t>Radiology workflow; retinal disease screening</a:t>
                      </a:r>
                      <a:endParaRPr lang="en-US" sz="100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3F6F9"/>
                    </a:solidFill>
                  </a:tcPr>
                </a:tc>
                <a:tc>
                  <a:txBody>
                    <a:bodyPr/>
                    <a:lstStyle/>
                    <a:p>
                      <a:pPr indent="0" marL="0">
                        <a:buNone/>
                      </a:pPr>
                      <a:r>
                        <a:rPr lang="en-US" sz="1000" dirty="0">
                          <a:solidFill>
                            <a:srgbClr val="12202E"/>
                          </a:solidFill>
                          <a:latin typeface="Calibri" pitchFamily="34" charset="0"/>
                          <a:ea typeface="Calibri" pitchFamily="34" charset="-122"/>
                          <a:cs typeface="Calibri" pitchFamily="34" charset="-120"/>
                        </a:rPr>
                        <a:t>Images in, labels out. Both development-designated.</a:t>
                      </a:r>
                      <a:endParaRPr lang="en-US" sz="100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3F6F9"/>
                    </a:solidFill>
                  </a:tcPr>
                </a:tc>
                <a:tc>
                  <a:txBody>
                    <a:bodyPr/>
                    <a:lstStyle/>
                    <a:p>
                      <a:pPr indent="0" marL="0">
                        <a:buNone/>
                      </a:pPr>
                      <a:r>
                        <a:rPr lang="en-US" sz="1000" dirty="0">
                          <a:solidFill>
                            <a:srgbClr val="12202E"/>
                          </a:solidFill>
                          <a:latin typeface="Calibri" pitchFamily="34" charset="0"/>
                          <a:ea typeface="Calibri" pitchFamily="34" charset="-122"/>
                          <a:cs typeface="Calibri" pitchFamily="34" charset="-120"/>
                        </a:rPr>
                        <a:t>Both assume the training labels are correct. Neither treats label quality as a problem.</a:t>
                      </a:r>
                      <a:endParaRPr lang="en-US" sz="100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3F6F9"/>
                    </a:solidFill>
                  </a:tcPr>
                </a:tc>
                <a:tc>
                  <a:txBody>
                    <a:bodyPr/>
                    <a:lstStyle/>
                    <a:p>
                      <a:pPr indent="0" marL="0">
                        <a:buNone/>
                      </a:pPr>
                      <a:r>
                        <a:rPr lang="en-US" sz="1000" b="1" dirty="0">
                          <a:solidFill>
                            <a:srgbClr val="12202E"/>
                          </a:solidFill>
                          <a:latin typeface="Calibri" pitchFamily="34" charset="0"/>
                          <a:ea typeface="Calibri" pitchFamily="34" charset="-122"/>
                          <a:cs typeface="Calibri" pitchFamily="34" charset="-120"/>
                        </a:rPr>
                        <a:t>No departmental FYP has made supervision quality the research object.</a:t>
                      </a:r>
                      <a:endParaRPr lang="en-US" sz="100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3F6F9"/>
                    </a:solidFill>
                  </a:tcPr>
                </a:tc>
              </a:tr>
              <a:tr h="0">
                <a:tc>
                  <a:txBody>
                    <a:bodyPr/>
                    <a:lstStyle/>
                    <a:p>
                      <a:pPr indent="0" marL="0">
                        <a:buNone/>
                      </a:pPr>
                      <a:r>
                        <a:rPr lang="en-US" sz="1000" dirty="0">
                          <a:solidFill>
                            <a:srgbClr val="12202E"/>
                          </a:solidFill>
                          <a:latin typeface="Calibri" pitchFamily="34" charset="0"/>
                          <a:ea typeface="Calibri" pitchFamily="34" charset="-122"/>
                          <a:cs typeface="Calibri" pitchFamily="34" charset="-120"/>
                        </a:rPr>
                        <a:t>Current manual workflow</a:t>
                      </a:r>
                      <a:endParaRPr lang="en-US" sz="100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FFFFF"/>
                    </a:solidFill>
                  </a:tcPr>
                </a:tc>
                <a:tc>
                  <a:txBody>
                    <a:bodyPr/>
                    <a:lstStyle/>
                    <a:p>
                      <a:pPr indent="0" marL="0">
                        <a:buNone/>
                      </a:pPr>
                      <a:r>
                        <a:rPr lang="en-US" sz="1000" dirty="0">
                          <a:solidFill>
                            <a:srgbClr val="12202E"/>
                          </a:solidFill>
                          <a:latin typeface="Calibri" pitchFamily="34" charset="0"/>
                          <a:ea typeface="Calibri" pitchFamily="34" charset="-122"/>
                          <a:cs typeface="Calibri" pitchFamily="34" charset="-120"/>
                        </a:rPr>
                        <a:t>Radiologists and referring clinicians</a:t>
                      </a:r>
                      <a:endParaRPr lang="en-US" sz="100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FFFFF"/>
                    </a:solidFill>
                  </a:tcPr>
                </a:tc>
                <a:tc>
                  <a:txBody>
                    <a:bodyPr/>
                    <a:lstStyle/>
                    <a:p>
                      <a:pPr indent="0" marL="0">
                        <a:buNone/>
                      </a:pPr>
                      <a:r>
                        <a:rPr lang="en-US" sz="1000" dirty="0">
                          <a:solidFill>
                            <a:srgbClr val="12202E"/>
                          </a:solidFill>
                          <a:latin typeface="Calibri" pitchFamily="34" charset="0"/>
                          <a:ea typeface="Calibri" pitchFamily="34" charset="-122"/>
                          <a:cs typeface="Calibri" pitchFamily="34" charset="-120"/>
                        </a:rPr>
                        <a:t>Radiologist reads the study and dictates free text for one reader.</a:t>
                      </a:r>
                      <a:endParaRPr lang="en-US" sz="100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FFFFF"/>
                    </a:solidFill>
                  </a:tcPr>
                </a:tc>
                <a:tc>
                  <a:txBody>
                    <a:bodyPr/>
                    <a:lstStyle/>
                    <a:p>
                      <a:pPr indent="0" marL="0">
                        <a:buNone/>
                      </a:pPr>
                      <a:r>
                        <a:rPr lang="en-US" sz="1000" dirty="0">
                          <a:solidFill>
                            <a:srgbClr val="12202E"/>
                          </a:solidFill>
                          <a:latin typeface="Calibri" pitchFamily="34" charset="0"/>
                          <a:ea typeface="Calibri" pitchFamily="34" charset="-122"/>
                          <a:cs typeface="Calibri" pitchFamily="34" charset="-120"/>
                        </a:rPr>
                        <a:t>No structured multi-label record exists; findings not written down are lost to any later use.</a:t>
                      </a:r>
                      <a:endParaRPr lang="en-US" sz="100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FFFFF"/>
                    </a:solidFill>
                  </a:tcPr>
                </a:tc>
                <a:tc>
                  <a:txBody>
                    <a:bodyPr/>
                    <a:lstStyle/>
                    <a:p>
                      <a:pPr indent="0" marL="0">
                        <a:buNone/>
                      </a:pPr>
                      <a:r>
                        <a:rPr lang="en-US" sz="1000" dirty="0">
                          <a:solidFill>
                            <a:srgbClr val="12202E"/>
                          </a:solidFill>
                          <a:latin typeface="Calibri" pitchFamily="34" charset="0"/>
                          <a:ea typeface="Calibri" pitchFamily="34" charset="-122"/>
                          <a:cs typeface="Calibri" pitchFamily="34" charset="-120"/>
                        </a:rPr>
                        <a:t>This is the source of the noise we model, not a competitor.</a:t>
                      </a:r>
                      <a:endParaRPr lang="en-US" sz="100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FFFFF"/>
                    </a:solidFill>
                  </a:tcPr>
                </a:tc>
              </a:tr>
            </a:tbl>
          </a:graphicData>
        </a:graphic>
      </p:graphicFrame>
      <p:sp>
        <p:nvSpPr>
          <p:cNvPr id="12" name="Shape 9"/>
          <p:cNvSpPr/>
          <p:nvPr/>
        </p:nvSpPr>
        <p:spPr>
          <a:xfrm>
            <a:off x="502920" y="4407408"/>
            <a:ext cx="11185855" cy="1420368"/>
          </a:xfrm>
          <a:prstGeom prst="roundRect">
            <a:avLst>
              <a:gd name="adj" fmla="val 2575"/>
            </a:avLst>
          </a:prstGeom>
          <a:solidFill>
            <a:srgbClr val="E7EFF7"/>
          </a:solidFill>
          <a:ln w="12700">
            <a:solidFill>
              <a:srgbClr val="1F4E79"/>
            </a:solidFill>
            <a:prstDash val="solid"/>
          </a:ln>
        </p:spPr>
      </p:sp>
      <p:sp>
        <p:nvSpPr>
          <p:cNvPr id="13" name="Text 10"/>
          <p:cNvSpPr txBox="1"/>
          <p:nvPr/>
        </p:nvSpPr>
        <p:spPr>
          <a:xfrm>
            <a:off x="667512" y="4526280"/>
            <a:ext cx="10856671" cy="256032"/>
          </a:xfrm>
          <a:prstGeom prst="rect">
            <a:avLst/>
          </a:prstGeom>
          <a:noFill/>
          <a:ln/>
        </p:spPr>
        <p:txBody>
          <a:bodyPr wrap="square" lIns="0" tIns="0" rIns="0" bIns="0" rtlCol="0" anchor="ctr"/>
          <a:lstStyle/>
          <a:p>
            <a:pPr indent="0" marL="0">
              <a:buNone/>
            </a:pPr>
            <a:r>
              <a:rPr lang="en-US" sz="1200" b="1" dirty="0">
                <a:solidFill>
                  <a:srgbClr val="1F4E79"/>
                </a:solidFill>
                <a:latin typeface="Calibri" pitchFamily="34" charset="0"/>
                <a:ea typeface="Calibri" pitchFamily="34" charset="-122"/>
                <a:cs typeface="Calibri" pitchFamily="34" charset="-120"/>
              </a:rPr>
              <a:t>The gap, stated structurally</a:t>
            </a:r>
            <a:endParaRPr lang="en-US" sz="1200" dirty="0"/>
          </a:p>
        </p:txBody>
      </p:sp>
      <p:sp>
        <p:nvSpPr>
          <p:cNvPr id="14" name="Text 11"/>
          <p:cNvSpPr txBox="1"/>
          <p:nvPr/>
        </p:nvSpPr>
        <p:spPr>
          <a:xfrm>
            <a:off x="667512" y="4818888"/>
            <a:ext cx="10856671" cy="899160"/>
          </a:xfrm>
          <a:prstGeom prst="rect">
            <a:avLst/>
          </a:prstGeom>
          <a:noFill/>
          <a:ln/>
        </p:spPr>
        <p:txBody>
          <a:bodyPr wrap="square" lIns="0" tIns="0" rIns="0" bIns="0" rtlCol="0" anchor="t"/>
          <a:lstStyle/>
          <a:p>
            <a:pPr indent="0" marL="0">
              <a:lnSpc>
                <a:spcPct val="112000"/>
              </a:lnSpc>
              <a:buNone/>
            </a:pPr>
            <a:r>
              <a:rPr lang="en-US" sz="1200" dirty="0">
                <a:solidFill>
                  <a:srgbClr val="12202E"/>
                </a:solidFill>
                <a:latin typeface="Calibri" pitchFamily="34" charset="0"/>
                <a:ea typeface="Calibri" pitchFamily="34" charset="-122"/>
                <a:cs typeface="Calibri" pitchFamily="34" charset="-120"/>
              </a:rPr>
              <a:t>Four-state report labels exist. Soft targets from reports exist. Quantified omission exists for chest and brain. What does not exist is a per-finding, per-state reliability model estimated for knee MRI, across ten languages, on a dataset where multiple sites share each language — which is the first dataset that lets language bias and institution bias be told apart. Changing the modality alone would not be a contribution; changing what is estimated, and proving it against held-out experts, is.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1F4E79"/>
          </a:solidFill>
          <a:ln/>
        </p:spPr>
      </p:sp>
      <p:sp>
        <p:nvSpPr>
          <p:cNvPr id="3" name="Shape 1"/>
          <p:cNvSpPr/>
          <p:nvPr/>
        </p:nvSpPr>
        <p:spPr>
          <a:xfrm>
            <a:off x="502920" y="283464"/>
            <a:ext cx="475488" cy="475488"/>
          </a:xfrm>
          <a:prstGeom prst="roundRect">
            <a:avLst>
              <a:gd name="adj" fmla="val 38462"/>
            </a:avLst>
          </a:prstGeom>
          <a:solidFill>
            <a:srgbClr val="1F4E79"/>
          </a:solidFill>
          <a:ln w="12700">
            <a:solidFill>
              <a:srgbClr val="1F4E79"/>
            </a:solidFill>
            <a:prstDash val="solid"/>
          </a:ln>
        </p:spPr>
      </p:sp>
      <p:sp>
        <p:nvSpPr>
          <p:cNvPr id="4" name="Text 2"/>
          <p:cNvSpPr txBox="1"/>
          <p:nvPr/>
        </p:nvSpPr>
        <p:spPr>
          <a:xfrm>
            <a:off x="502920" y="283464"/>
            <a:ext cx="475488" cy="475488"/>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4</a:t>
            </a:r>
            <a:endParaRPr lang="en-US" sz="1900" dirty="0"/>
          </a:p>
        </p:txBody>
      </p:sp>
      <p:sp>
        <p:nvSpPr>
          <p:cNvPr id="5" name="Text 3"/>
          <p:cNvSpPr txBox="1"/>
          <p:nvPr/>
        </p:nvSpPr>
        <p:spPr>
          <a:xfrm>
            <a:off x="502920" y="786384"/>
            <a:ext cx="475488" cy="182880"/>
          </a:xfrm>
          <a:prstGeom prst="rect">
            <a:avLst/>
          </a:prstGeom>
          <a:noFill/>
          <a:ln/>
        </p:spPr>
        <p:txBody>
          <a:bodyPr wrap="square" lIns="0" tIns="0" rIns="0" bIns="0" rtlCol="0" anchor="ctr"/>
          <a:lstStyle/>
          <a:p>
            <a:pPr algn="ctr" indent="0" marL="0">
              <a:buNone/>
            </a:pPr>
            <a:r>
              <a:rPr lang="en-US" sz="750" dirty="0">
                <a:solidFill>
                  <a:srgbClr val="9AA8B5"/>
                </a:solidFill>
                <a:latin typeface="Calibri" pitchFamily="34" charset="0"/>
                <a:ea typeface="Calibri" pitchFamily="34" charset="-122"/>
                <a:cs typeface="Calibri" pitchFamily="34" charset="-120"/>
              </a:rPr>
              <a:t>OF 10</a:t>
            </a:r>
            <a:endParaRPr lang="en-US" sz="750" dirty="0"/>
          </a:p>
        </p:txBody>
      </p:sp>
      <p:sp>
        <p:nvSpPr>
          <p:cNvPr id="6" name="Text 4"/>
          <p:cNvSpPr txBox="1"/>
          <p:nvPr/>
        </p:nvSpPr>
        <p:spPr>
          <a:xfrm>
            <a:off x="1124712" y="274320"/>
            <a:ext cx="9283903" cy="475488"/>
          </a:xfrm>
          <a:prstGeom prst="rect">
            <a:avLst/>
          </a:prstGeom>
          <a:noFill/>
          <a:ln/>
        </p:spPr>
        <p:txBody>
          <a:bodyPr wrap="square" lIns="0" tIns="0" rIns="0" bIns="0" rtlCol="0" anchor="ctr"/>
          <a:lstStyle/>
          <a:p>
            <a:pPr indent="0" marL="0">
              <a:buNone/>
            </a:pPr>
            <a:r>
              <a:rPr lang="en-US" sz="2500" b="1" dirty="0">
                <a:solidFill>
                  <a:srgbClr val="12202E"/>
                </a:solidFill>
                <a:latin typeface="Calibri" pitchFamily="34" charset="0"/>
                <a:ea typeface="Calibri" pitchFamily="34" charset="-122"/>
                <a:cs typeface="Calibri" pitchFamily="34" charset="-120"/>
              </a:rPr>
              <a:t>R&amp;D / recent technical work</a:t>
            </a:r>
            <a:endParaRPr lang="en-US" sz="2500" dirty="0"/>
          </a:p>
        </p:txBody>
      </p:sp>
      <p:sp>
        <p:nvSpPr>
          <p:cNvPr id="7" name="Text 5"/>
          <p:cNvSpPr txBox="1"/>
          <p:nvPr/>
        </p:nvSpPr>
        <p:spPr>
          <a:xfrm>
            <a:off x="1124712" y="768096"/>
            <a:ext cx="9283903" cy="310896"/>
          </a:xfrm>
          <a:prstGeom prst="rect">
            <a:avLst/>
          </a:prstGeom>
          <a:noFill/>
          <a:ln/>
        </p:spPr>
        <p:txBody>
          <a:bodyPr wrap="square" lIns="0" tIns="0" rIns="0" bIns="0" rtlCol="0" anchor="ctr"/>
          <a:lstStyle/>
          <a:p>
            <a:pPr indent="0" marL="0">
              <a:buNone/>
            </a:pPr>
            <a:r>
              <a:rPr lang="en-US" sz="1300" i="1" dirty="0">
                <a:solidFill>
                  <a:srgbClr val="5A6875"/>
                </a:solidFill>
                <a:latin typeface="Calibri" pitchFamily="34" charset="0"/>
                <a:ea typeface="Calibri" pitchFamily="34" charset="-122"/>
                <a:cs typeface="Calibri" pitchFamily="34" charset="-120"/>
              </a:rPr>
              <a:t>Every source below changed a decision — research used to decide, not to fill pages</a:t>
            </a:r>
            <a:endParaRPr lang="en-US" sz="1300" dirty="0"/>
          </a:p>
        </p:txBody>
      </p:sp>
      <p:sp>
        <p:nvSpPr>
          <p:cNvPr id="8" name="Shape 6"/>
          <p:cNvSpPr/>
          <p:nvPr/>
        </p:nvSpPr>
        <p:spPr>
          <a:xfrm>
            <a:off x="502920" y="1115568"/>
            <a:ext cx="11185855" cy="20117"/>
          </a:xfrm>
          <a:prstGeom prst="rect">
            <a:avLst/>
          </a:prstGeom>
          <a:solidFill>
            <a:srgbClr val="1F4E79"/>
          </a:solidFill>
          <a:ln/>
        </p:spPr>
      </p:sp>
      <p:sp>
        <p:nvSpPr>
          <p:cNvPr id="9" name="Text 7"/>
          <p:cNvSpPr txBox="1"/>
          <p:nvPr/>
        </p:nvSpPr>
        <p:spPr>
          <a:xfrm>
            <a:off x="502920" y="6473952"/>
            <a:ext cx="7315200" cy="237744"/>
          </a:xfrm>
          <a:prstGeom prst="rect">
            <a:avLst/>
          </a:prstGeom>
          <a:noFill/>
          <a:ln/>
        </p:spPr>
        <p:txBody>
          <a:bodyPr wrap="square" lIns="0" tIns="0" rIns="0" bIns="0" rtlCol="0" anchor="ctr"/>
          <a:lstStyle/>
          <a:p>
            <a:pPr indent="0" marL="0">
              <a:buNone/>
            </a:pPr>
            <a:r>
              <a:rPr lang="en-US" sz="950" dirty="0">
                <a:solidFill>
                  <a:srgbClr val="9AA8B5"/>
                </a:solidFill>
                <a:latin typeface="Calibri" pitchFamily="34" charset="0"/>
                <a:ea typeface="Calibri" pitchFamily="34" charset="-122"/>
                <a:cs typeface="Calibri" pitchFamily="34" charset="-120"/>
              </a:rPr>
              <a:t>KneeWS  ·  noise-aware weak supervision  ·  proposal defence</a:t>
            </a:r>
            <a:endParaRPr lang="en-US" sz="950" dirty="0"/>
          </a:p>
        </p:txBody>
      </p:sp>
      <p:sp>
        <p:nvSpPr>
          <p:cNvPr id="10" name="Text 8"/>
          <p:cNvSpPr txBox="1"/>
          <p:nvPr/>
        </p:nvSpPr>
        <p:spPr>
          <a:xfrm>
            <a:off x="11185855" y="6473952"/>
            <a:ext cx="502920" cy="237744"/>
          </a:xfrm>
          <a:prstGeom prst="rect">
            <a:avLst/>
          </a:prstGeom>
          <a:noFill/>
          <a:ln/>
        </p:spPr>
        <p:txBody>
          <a:bodyPr wrap="square" lIns="0" tIns="0" rIns="0" bIns="0" rtlCol="0" anchor="ctr"/>
          <a:lstStyle/>
          <a:p>
            <a:pPr algn="r" indent="0" marL="0">
              <a:buNone/>
            </a:pPr>
            <a:r>
              <a:rPr lang="en-US" sz="950" dirty="0">
                <a:solidFill>
                  <a:srgbClr val="9AA8B5"/>
                </a:solidFill>
                <a:latin typeface="Calibri" pitchFamily="34" charset="0"/>
                <a:ea typeface="Calibri" pitchFamily="34" charset="-122"/>
                <a:cs typeface="Calibri" pitchFamily="34" charset="-120"/>
              </a:rPr>
              <a:t>4</a:t>
            </a:r>
            <a:endParaRPr lang="en-US" sz="9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02920" y="1325880"/>
          <a:ext cx="11185855" cy="914400"/>
        </p:xfrm>
        <a:graphic>
          <a:graphicData uri="http://schemas.openxmlformats.org/drawingml/2006/table">
            <a:tbl>
              <a:tblPr/>
              <a:tblGrid>
                <a:gridCol w="2011680"/>
                <a:gridCol w="2514600"/>
                <a:gridCol w="2194560"/>
                <a:gridCol w="2286000"/>
                <a:gridCol w="2176272"/>
              </a:tblGrid>
              <a:tr h="0">
                <a:tc>
                  <a:txBody>
                    <a:bodyPr/>
                    <a:lstStyle/>
                    <a:p>
                      <a:pPr indent="0" marL="0">
                        <a:buNone/>
                      </a:pPr>
                      <a:r>
                        <a:rPr lang="en-US" sz="930" b="1" dirty="0">
                          <a:solidFill>
                            <a:srgbClr val="FFFFFF"/>
                          </a:solidFill>
                          <a:latin typeface="Calibri" pitchFamily="34" charset="0"/>
                          <a:ea typeface="Calibri" pitchFamily="34" charset="-122"/>
                          <a:cs typeface="Calibri" pitchFamily="34" charset="-120"/>
                        </a:rPr>
                        <a:t>Source / method</a:t>
                      </a:r>
                      <a:endParaRPr lang="en-US" sz="93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1F4E79"/>
                    </a:solidFill>
                  </a:tcPr>
                </a:tc>
                <a:tc>
                  <a:txBody>
                    <a:bodyPr/>
                    <a:lstStyle/>
                    <a:p>
                      <a:pPr indent="0" marL="0">
                        <a:buNone/>
                      </a:pPr>
                      <a:r>
                        <a:rPr lang="en-US" sz="930" b="1" dirty="0">
                          <a:solidFill>
                            <a:srgbClr val="FFFFFF"/>
                          </a:solidFill>
                          <a:latin typeface="Calibri" pitchFamily="34" charset="0"/>
                          <a:ea typeface="Calibri" pitchFamily="34" charset="-122"/>
                          <a:cs typeface="Calibri" pitchFamily="34" charset="-120"/>
                        </a:rPr>
                        <a:t>Main finding or method</a:t>
                      </a:r>
                      <a:endParaRPr lang="en-US" sz="93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1F4E79"/>
                    </a:solidFill>
                  </a:tcPr>
                </a:tc>
                <a:tc>
                  <a:txBody>
                    <a:bodyPr/>
                    <a:lstStyle/>
                    <a:p>
                      <a:pPr indent="0" marL="0">
                        <a:buNone/>
                      </a:pPr>
                      <a:r>
                        <a:rPr lang="en-US" sz="930" b="1" dirty="0">
                          <a:solidFill>
                            <a:srgbClr val="FFFFFF"/>
                          </a:solidFill>
                          <a:latin typeface="Calibri" pitchFamily="34" charset="0"/>
                          <a:ea typeface="Calibri" pitchFamily="34" charset="-122"/>
                          <a:cs typeface="Calibri" pitchFamily="34" charset="-120"/>
                        </a:rPr>
                        <a:t>Relevance and limitation</a:t>
                      </a:r>
                      <a:endParaRPr lang="en-US" sz="93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1F4E79"/>
                    </a:solidFill>
                  </a:tcPr>
                </a:tc>
                <a:tc>
                  <a:txBody>
                    <a:bodyPr/>
                    <a:lstStyle/>
                    <a:p>
                      <a:pPr indent="0" marL="0">
                        <a:buNone/>
                      </a:pPr>
                      <a:r>
                        <a:rPr lang="en-US" sz="930" b="1" dirty="0">
                          <a:solidFill>
                            <a:srgbClr val="FFFFFF"/>
                          </a:solidFill>
                          <a:latin typeface="Calibri" pitchFamily="34" charset="0"/>
                          <a:ea typeface="Calibri" pitchFamily="34" charset="-122"/>
                          <a:cs typeface="Calibri" pitchFamily="34" charset="-120"/>
                        </a:rPr>
                        <a:t>Decision it influenced</a:t>
                      </a:r>
                      <a:endParaRPr lang="en-US" sz="93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1F4E79"/>
                    </a:solidFill>
                  </a:tcPr>
                </a:tc>
                <a:tc>
                  <a:txBody>
                    <a:bodyPr/>
                    <a:lstStyle/>
                    <a:p>
                      <a:pPr indent="0" marL="0">
                        <a:buNone/>
                      </a:pPr>
                      <a:r>
                        <a:rPr lang="en-US" sz="930" b="1" dirty="0">
                          <a:solidFill>
                            <a:srgbClr val="FFFFFF"/>
                          </a:solidFill>
                          <a:latin typeface="Calibri" pitchFamily="34" charset="0"/>
                          <a:ea typeface="Calibri" pitchFamily="34" charset="-122"/>
                          <a:cs typeface="Calibri" pitchFamily="34" charset="-120"/>
                        </a:rPr>
                        <a:t>Planned evidence</a:t>
                      </a:r>
                      <a:endParaRPr lang="en-US" sz="93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1F4E79"/>
                    </a:solidFill>
                  </a:tcPr>
                </a:tc>
              </a:tr>
              <a:tr h="0">
                <a:tc>
                  <a:txBody>
                    <a:bodyPr/>
                    <a:lstStyle/>
                    <a:p>
                      <a:pPr indent="0" marL="0">
                        <a:buNone/>
                      </a:pPr>
                      <a:r>
                        <a:rPr lang="en-US" sz="980" dirty="0">
                          <a:solidFill>
                            <a:srgbClr val="12202E"/>
                          </a:solidFill>
                          <a:latin typeface="Calibri" pitchFamily="34" charset="0"/>
                          <a:ea typeface="Calibri" pitchFamily="34" charset="-122"/>
                          <a:cs typeface="Calibri" pitchFamily="34" charset="-120"/>
                        </a:rPr>
                        <a:t>CheXpert / CheXbert (2019–20)</a:t>
                      </a:r>
                      <a:endParaRPr lang="en-US" sz="98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FFFFF"/>
                    </a:solidFill>
                  </a:tcPr>
                </a:tc>
                <a:tc>
                  <a:txBody>
                    <a:bodyPr/>
                    <a:lstStyle/>
                    <a:p>
                      <a:pPr indent="0" marL="0">
                        <a:buNone/>
                      </a:pPr>
                      <a:r>
                        <a:rPr lang="en-US" sz="980" dirty="0">
                          <a:solidFill>
                            <a:srgbClr val="12202E"/>
                          </a:solidFill>
                          <a:latin typeface="Calibri" pitchFamily="34" charset="0"/>
                          <a:ea typeface="Calibri" pitchFamily="34" charset="-122"/>
                          <a:cs typeface="Calibri" pitchFamily="34" charset="-120"/>
                        </a:rPr>
                        <a:t>Four-state representation of report findings.</a:t>
                      </a:r>
                      <a:endParaRPr lang="en-US" sz="98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FFFFF"/>
                    </a:solidFill>
                  </a:tcPr>
                </a:tc>
                <a:tc>
                  <a:txBody>
                    <a:bodyPr/>
                    <a:lstStyle/>
                    <a:p>
                      <a:pPr indent="0" marL="0">
                        <a:buNone/>
                      </a:pPr>
                      <a:r>
                        <a:rPr lang="en-US" sz="980" dirty="0">
                          <a:solidFill>
                            <a:srgbClr val="12202E"/>
                          </a:solidFill>
                          <a:latin typeface="Calibri" pitchFamily="34" charset="0"/>
                          <a:ea typeface="Calibri" pitchFamily="34" charset="-122"/>
                          <a:cs typeface="Calibri" pitchFamily="34" charset="-120"/>
                        </a:rPr>
                        <a:t>Foundational, but English-only and single modality.</a:t>
                      </a:r>
                      <a:endParaRPr lang="en-US" sz="98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FFFFF"/>
                    </a:solidFill>
                  </a:tcPr>
                </a:tc>
                <a:tc>
                  <a:txBody>
                    <a:bodyPr/>
                    <a:lstStyle/>
                    <a:p>
                      <a:pPr indent="0" marL="0">
                        <a:buNone/>
                      </a:pPr>
                      <a:r>
                        <a:rPr lang="en-US" sz="980" dirty="0">
                          <a:solidFill>
                            <a:srgbClr val="12202E"/>
                          </a:solidFill>
                          <a:latin typeface="Calibri" pitchFamily="34" charset="0"/>
                          <a:ea typeface="Calibri" pitchFamily="34" charset="-122"/>
                          <a:cs typeface="Calibri" pitchFamily="34" charset="-120"/>
                        </a:rPr>
                        <a:t>Adopt four states; build our own multilingual labeller.</a:t>
                      </a:r>
                      <a:endParaRPr lang="en-US" sz="98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FFFFF"/>
                    </a:solidFill>
                  </a:tcPr>
                </a:tc>
                <a:tc>
                  <a:txBody>
                    <a:bodyPr/>
                    <a:lstStyle/>
                    <a:p>
                      <a:pPr indent="0" marL="0">
                        <a:buNone/>
                      </a:pPr>
                      <a:r>
                        <a:rPr lang="en-US" sz="980" dirty="0">
                          <a:solidFill>
                            <a:srgbClr val="12202E"/>
                          </a:solidFill>
                          <a:latin typeface="Calibri" pitchFamily="34" charset="0"/>
                          <a:ea typeface="Calibri" pitchFamily="34" charset="-122"/>
                          <a:cs typeface="Calibri" pitchFamily="34" charset="-120"/>
                        </a:rPr>
                        <a:t>Hand-audited labeller accuracy across languages.</a:t>
                      </a:r>
                      <a:endParaRPr lang="en-US" sz="98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FFFFF"/>
                    </a:solidFill>
                  </a:tcPr>
                </a:tc>
              </a:tr>
              <a:tr h="0">
                <a:tc>
                  <a:txBody>
                    <a:bodyPr/>
                    <a:lstStyle/>
                    <a:p>
                      <a:pPr indent="0" marL="0">
                        <a:buNone/>
                      </a:pPr>
                      <a:r>
                        <a:rPr lang="en-US" sz="980" b="1" dirty="0">
                          <a:solidFill>
                            <a:srgbClr val="12202E"/>
                          </a:solidFill>
                          <a:latin typeface="Calibri" pitchFamily="34" charset="0"/>
                          <a:ea typeface="Calibri" pitchFamily="34" charset="-122"/>
                          <a:cs typeface="Calibri" pitchFamily="34" charset="-120"/>
                        </a:rPr>
                        <a:t>VisualCheXbert 2021; Wood 2020 / Benger 2023; Fytas 2026</a:t>
                      </a:r>
                      <a:endParaRPr lang="en-US" sz="98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3F6F9"/>
                    </a:solidFill>
                  </a:tcPr>
                </a:tc>
                <a:tc>
                  <a:txBody>
                    <a:bodyPr/>
                    <a:lstStyle/>
                    <a:p>
                      <a:pPr indent="0" marL="0">
                        <a:buNone/>
                      </a:pPr>
                      <a:r>
                        <a:rPr lang="en-US" sz="980" dirty="0">
                          <a:solidFill>
                            <a:srgbClr val="12202E"/>
                          </a:solidFill>
                          <a:latin typeface="Calibri" pitchFamily="34" charset="0"/>
                          <a:ea typeface="Calibri" pitchFamily="34" charset="-122"/>
                          <a:cs typeface="Calibri" pitchFamily="34" charset="-120"/>
                        </a:rPr>
                        <a:t>Unmentioned ≠ absent, measured. Report sensitivity 60–78% in brain MRI; 59% of confirmed chest findings absent from reports.</a:t>
                      </a:r>
                      <a:endParaRPr lang="en-US" sz="98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3F6F9"/>
                    </a:solidFill>
                  </a:tcPr>
                </a:tc>
                <a:tc>
                  <a:txBody>
                    <a:bodyPr/>
                    <a:lstStyle/>
                    <a:p>
                      <a:pPr indent="0" marL="0">
                        <a:buNone/>
                      </a:pPr>
                      <a:r>
                        <a:rPr lang="en-US" sz="980" dirty="0">
                          <a:solidFill>
                            <a:srgbClr val="12202E"/>
                          </a:solidFill>
                          <a:latin typeface="Calibri" pitchFamily="34" charset="0"/>
                          <a:ea typeface="Calibri" pitchFamily="34" charset="-122"/>
                          <a:cs typeface="Calibri" pitchFamily="34" charset="-120"/>
                        </a:rPr>
                        <a:t>Proves the problem is real and general. Never measured for knee MRI.</a:t>
                      </a:r>
                      <a:endParaRPr lang="en-US" sz="98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3F6F9"/>
                    </a:solidFill>
                  </a:tcPr>
                </a:tc>
                <a:tc>
                  <a:txBody>
                    <a:bodyPr/>
                    <a:lstStyle/>
                    <a:p>
                      <a:pPr indent="0" marL="0">
                        <a:buNone/>
                      </a:pPr>
                      <a:r>
                        <a:rPr lang="en-US" sz="980" dirty="0">
                          <a:solidFill>
                            <a:srgbClr val="12202E"/>
                          </a:solidFill>
                          <a:latin typeface="Calibri" pitchFamily="34" charset="0"/>
                          <a:ea typeface="Calibri" pitchFamily="34" charset="-122"/>
                          <a:cs typeface="Calibri" pitchFamily="34" charset="-120"/>
                        </a:rPr>
                        <a:t>Justifies the whole project; sets omission as a headline metric.</a:t>
                      </a:r>
                      <a:endParaRPr lang="en-US" sz="98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3F6F9"/>
                    </a:solidFill>
                  </a:tcPr>
                </a:tc>
                <a:tc>
                  <a:txBody>
                    <a:bodyPr/>
                    <a:lstStyle/>
                    <a:p>
                      <a:pPr indent="0" marL="0">
                        <a:buNone/>
                      </a:pPr>
                      <a:r>
                        <a:rPr lang="en-US" sz="980" dirty="0">
                          <a:solidFill>
                            <a:srgbClr val="12202E"/>
                          </a:solidFill>
                          <a:latin typeface="Calibri" pitchFamily="34" charset="0"/>
                          <a:ea typeface="Calibri" pitchFamily="34" charset="-122"/>
                          <a:cs typeface="Calibri" pitchFamily="34" charset="-120"/>
                        </a:rPr>
                        <a:t>Per-finding, per-language omission estimates for knee MRI.</a:t>
                      </a:r>
                      <a:endParaRPr lang="en-US" sz="98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3F6F9"/>
                    </a:solidFill>
                  </a:tcPr>
                </a:tc>
              </a:tr>
              <a:tr h="0">
                <a:tc>
                  <a:txBody>
                    <a:bodyPr/>
                    <a:lstStyle/>
                    <a:p>
                      <a:pPr indent="0" marL="0">
                        <a:buNone/>
                      </a:pPr>
                      <a:r>
                        <a:rPr lang="en-US" sz="980" b="1" dirty="0">
                          <a:solidFill>
                            <a:srgbClr val="12202E"/>
                          </a:solidFill>
                          <a:latin typeface="Calibri" pitchFamily="34" charset="0"/>
                          <a:ea typeface="Calibri" pitchFamily="34" charset="-122"/>
                          <a:cs typeface="Calibri" pitchFamily="34" charset="-120"/>
                        </a:rPr>
                        <a:t>Gündel &amp; Ghesu, MedIA 2021</a:t>
                      </a:r>
                      <a:endParaRPr lang="en-US" sz="98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FFFFF"/>
                    </a:solidFill>
                  </a:tcPr>
                </a:tc>
                <a:tc>
                  <a:txBody>
                    <a:bodyPr/>
                    <a:lstStyle/>
                    <a:p>
                      <a:pPr indent="0" marL="0">
                        <a:buNone/>
                      </a:pPr>
                      <a:r>
                        <a:rPr lang="en-US" sz="980" dirty="0">
                          <a:solidFill>
                            <a:srgbClr val="12202E"/>
                          </a:solidFill>
                          <a:latin typeface="Calibri" pitchFamily="34" charset="0"/>
                          <a:ea typeface="Calibri" pitchFamily="34" charset="-122"/>
                          <a:cs typeface="Calibri" pitchFamily="34" charset="-120"/>
                        </a:rPr>
                        <a:t>Per-class report reliability estimated on a small expert re-read subset, injected into the loss.</a:t>
                      </a:r>
                      <a:endParaRPr lang="en-US" sz="98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FFFFF"/>
                    </a:solidFill>
                  </a:tcPr>
                </a:tc>
                <a:tc>
                  <a:txBody>
                    <a:bodyPr/>
                    <a:lstStyle/>
                    <a:p>
                      <a:pPr indent="0" marL="0">
                        <a:buNone/>
                      </a:pPr>
                      <a:r>
                        <a:rPr lang="en-US" sz="980" dirty="0">
                          <a:solidFill>
                            <a:srgbClr val="12202E"/>
                          </a:solidFill>
                          <a:latin typeface="Calibri" pitchFamily="34" charset="0"/>
                          <a:ea typeface="Calibri" pitchFamily="34" charset="-122"/>
                          <a:cs typeface="Calibri" pitchFamily="34" charset="-120"/>
                        </a:rPr>
                        <a:t>Closest published method to ours. Single language, chest X-ray, two states.</a:t>
                      </a:r>
                      <a:endParaRPr lang="en-US" sz="98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FFFFF"/>
                    </a:solidFill>
                  </a:tcPr>
                </a:tc>
                <a:tc>
                  <a:txBody>
                    <a:bodyPr/>
                    <a:lstStyle/>
                    <a:p>
                      <a:pPr indent="0" marL="0">
                        <a:buNone/>
                      </a:pPr>
                      <a:r>
                        <a:rPr lang="en-US" sz="980" dirty="0">
                          <a:solidFill>
                            <a:srgbClr val="12202E"/>
                          </a:solidFill>
                          <a:latin typeface="Calibri" pitchFamily="34" charset="0"/>
                          <a:ea typeface="Calibri" pitchFamily="34" charset="-122"/>
                          <a:cs typeface="Calibri" pitchFamily="34" charset="-120"/>
                        </a:rPr>
                        <a:t>Our primary estimator, extended to 4 states × 12 findings with hierarchical pooling.</a:t>
                      </a:r>
                      <a:endParaRPr lang="en-US" sz="98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FFFFF"/>
                    </a:solidFill>
                  </a:tcPr>
                </a:tc>
                <a:tc>
                  <a:txBody>
                    <a:bodyPr/>
                    <a:lstStyle/>
                    <a:p>
                      <a:pPr indent="0" marL="0">
                        <a:buNone/>
                      </a:pPr>
                      <a:r>
                        <a:rPr lang="en-US" sz="980" dirty="0">
                          <a:solidFill>
                            <a:srgbClr val="12202E"/>
                          </a:solidFill>
                          <a:latin typeface="Calibri" pitchFamily="34" charset="0"/>
                          <a:ea typeface="Calibri" pitchFamily="34" charset="-122"/>
                          <a:cs typeface="Calibri" pitchFamily="34" charset="-120"/>
                        </a:rPr>
                        <a:t>Reliability table with credible intervals; ablation against this method.</a:t>
                      </a:r>
                      <a:endParaRPr lang="en-US" sz="98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FFFFF"/>
                    </a:solidFill>
                  </a:tcPr>
                </a:tc>
              </a:tr>
              <a:tr h="0">
                <a:tc>
                  <a:txBody>
                    <a:bodyPr/>
                    <a:lstStyle/>
                    <a:p>
                      <a:pPr indent="0" marL="0">
                        <a:buNone/>
                      </a:pPr>
                      <a:r>
                        <a:rPr lang="en-US" sz="980" dirty="0">
                          <a:solidFill>
                            <a:srgbClr val="12202E"/>
                          </a:solidFill>
                          <a:latin typeface="Calibri" pitchFamily="34" charset="0"/>
                          <a:ea typeface="Calibri" pitchFamily="34" charset="-122"/>
                          <a:cs typeface="Calibri" pitchFamily="34" charset="-120"/>
                        </a:rPr>
                        <a:t>Northcutt, JAIR 2021; Bernhardt, Nat Comms 2022</a:t>
                      </a:r>
                      <a:endParaRPr lang="en-US" sz="98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3F6F9"/>
                    </a:solidFill>
                  </a:tcPr>
                </a:tc>
                <a:tc>
                  <a:txBody>
                    <a:bodyPr/>
                    <a:lstStyle/>
                    <a:p>
                      <a:pPr indent="0" marL="0">
                        <a:buNone/>
                      </a:pPr>
                      <a:r>
                        <a:rPr lang="en-US" sz="980" dirty="0">
                          <a:solidFill>
                            <a:srgbClr val="12202E"/>
                          </a:solidFill>
                          <a:latin typeface="Calibri" pitchFamily="34" charset="0"/>
                          <a:ea typeface="Calibri" pitchFamily="34" charset="-122"/>
                          <a:cs typeface="Calibri" pitchFamily="34" charset="-120"/>
                        </a:rPr>
                        <a:t>Confident learning — estimate a noise model from a model's own out-of-fold behaviour, no gold labels.</a:t>
                      </a:r>
                      <a:endParaRPr lang="en-US" sz="98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3F6F9"/>
                    </a:solidFill>
                  </a:tcPr>
                </a:tc>
                <a:tc>
                  <a:txBody>
                    <a:bodyPr/>
                    <a:lstStyle/>
                    <a:p>
                      <a:pPr indent="0" marL="0">
                        <a:buNone/>
                      </a:pPr>
                      <a:r>
                        <a:rPr lang="en-US" sz="980" dirty="0">
                          <a:solidFill>
                            <a:srgbClr val="12202E"/>
                          </a:solidFill>
                          <a:latin typeface="Calibri" pitchFamily="34" charset="0"/>
                          <a:ea typeface="Calibri" pitchFamily="34" charset="-122"/>
                          <a:cs typeface="Calibri" pitchFamily="34" charset="-120"/>
                        </a:rPr>
                        <a:t>Mature and well-tested, but not applied to four-state report supervision or to MRI.</a:t>
                      </a:r>
                      <a:endParaRPr lang="en-US" sz="98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3F6F9"/>
                    </a:solidFill>
                  </a:tcPr>
                </a:tc>
                <a:tc>
                  <a:txBody>
                    <a:bodyPr/>
                    <a:lstStyle/>
                    <a:p>
                      <a:pPr indent="0" marL="0">
                        <a:buNone/>
                      </a:pPr>
                      <a:r>
                        <a:rPr lang="en-US" sz="980" dirty="0">
                          <a:solidFill>
                            <a:srgbClr val="12202E"/>
                          </a:solidFill>
                          <a:latin typeface="Calibri" pitchFamily="34" charset="0"/>
                          <a:ea typeface="Calibri" pitchFamily="34" charset="-122"/>
                          <a:cs typeface="Calibri" pitchFamily="34" charset="-120"/>
                        </a:rPr>
                        <a:t>Becomes our secondary method and an ablation arm.</a:t>
                      </a:r>
                      <a:endParaRPr lang="en-US" sz="98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3F6F9"/>
                    </a:solidFill>
                  </a:tcPr>
                </a:tc>
                <a:tc>
                  <a:txBody>
                    <a:bodyPr/>
                    <a:lstStyle/>
                    <a:p>
                      <a:pPr indent="0" marL="0">
                        <a:buNone/>
                      </a:pPr>
                      <a:r>
                        <a:rPr lang="en-US" sz="980" dirty="0">
                          <a:solidFill>
                            <a:srgbClr val="12202E"/>
                          </a:solidFill>
                          <a:latin typeface="Calibri" pitchFamily="34" charset="0"/>
                          <a:ea typeface="Calibri" pitchFamily="34" charset="-122"/>
                          <a:cs typeface="Calibri" pitchFamily="34" charset="-120"/>
                        </a:rPr>
                        <a:t>Estimated noise model validated against the untouched expert set.</a:t>
                      </a:r>
                      <a:endParaRPr lang="en-US" sz="98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3F6F9"/>
                    </a:solidFill>
                  </a:tcPr>
                </a:tc>
              </a:tr>
              <a:tr h="0">
                <a:tc>
                  <a:txBody>
                    <a:bodyPr/>
                    <a:lstStyle/>
                    <a:p>
                      <a:pPr indent="0" marL="0">
                        <a:buNone/>
                      </a:pPr>
                      <a:r>
                        <a:rPr lang="en-US" sz="980" dirty="0">
                          <a:solidFill>
                            <a:srgbClr val="12202E"/>
                          </a:solidFill>
                          <a:latin typeface="Calibri" pitchFamily="34" charset="0"/>
                          <a:ea typeface="Calibri" pitchFamily="34" charset="-122"/>
                          <a:cs typeface="Calibri" pitchFamily="34" charset="-120"/>
                        </a:rPr>
                        <a:t>RSNA data card + competition rules</a:t>
                      </a:r>
                      <a:endParaRPr lang="en-US" sz="98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FFFFF"/>
                    </a:solidFill>
                  </a:tcPr>
                </a:tc>
                <a:tc>
                  <a:txBody>
                    <a:bodyPr/>
                    <a:lstStyle/>
                    <a:p>
                      <a:pPr indent="0" marL="0">
                        <a:buNone/>
                      </a:pPr>
                      <a:r>
                        <a:rPr lang="en-US" sz="980" dirty="0">
                          <a:solidFill>
                            <a:srgbClr val="12202E"/>
                          </a:solidFill>
                          <a:latin typeface="Calibri" pitchFamily="34" charset="0"/>
                          <a:ea typeface="Calibri" pitchFamily="34" charset="-122"/>
                          <a:cs typeface="Calibri" pitchFamily="34" charset="-120"/>
                        </a:rPr>
                        <a:t>58 gold / 4,349 report-only; hosted LLM APIs not permitted for report text; 9-hour offline notebook.</a:t>
                      </a:r>
                      <a:endParaRPr lang="en-US" sz="98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FFFFF"/>
                    </a:solidFill>
                  </a:tcPr>
                </a:tc>
                <a:tc>
                  <a:txBody>
                    <a:bodyPr/>
                    <a:lstStyle/>
                    <a:p>
                      <a:pPr indent="0" marL="0">
                        <a:buNone/>
                      </a:pPr>
                      <a:r>
                        <a:rPr lang="en-US" sz="980" dirty="0">
                          <a:solidFill>
                            <a:srgbClr val="12202E"/>
                          </a:solidFill>
                          <a:latin typeface="Calibri" pitchFamily="34" charset="0"/>
                          <a:ea typeface="Calibri" pitchFamily="34" charset="-122"/>
                          <a:cs typeface="Calibri" pitchFamily="34" charset="-120"/>
                        </a:rPr>
                        <a:t>Hard constraints on what we may build.</a:t>
                      </a:r>
                      <a:endParaRPr lang="en-US" sz="98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FFFFF"/>
                    </a:solidFill>
                  </a:tcPr>
                </a:tc>
                <a:tc>
                  <a:txBody>
                    <a:bodyPr/>
                    <a:lstStyle/>
                    <a:p>
                      <a:pPr indent="0" marL="0">
                        <a:buNone/>
                      </a:pPr>
                      <a:r>
                        <a:rPr lang="en-US" sz="980" dirty="0">
                          <a:solidFill>
                            <a:srgbClr val="12202E"/>
                          </a:solidFill>
                          <a:latin typeface="Calibri" pitchFamily="34" charset="0"/>
                          <a:ea typeface="Calibri" pitchFamily="34" charset="-122"/>
                          <a:cs typeface="Calibri" pitchFamily="34" charset="-120"/>
                        </a:rPr>
                        <a:t>Open-weight labeller running in-notebook; two-stage 2.5D to fit 8 GB.</a:t>
                      </a:r>
                      <a:endParaRPr lang="en-US" sz="98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FFFFF"/>
                    </a:solidFill>
                  </a:tcPr>
                </a:tc>
                <a:tc>
                  <a:txBody>
                    <a:bodyPr/>
                    <a:lstStyle/>
                    <a:p>
                      <a:pPr indent="0" marL="0">
                        <a:buNone/>
                      </a:pPr>
                      <a:r>
                        <a:rPr lang="en-US" sz="980" dirty="0">
                          <a:solidFill>
                            <a:srgbClr val="12202E"/>
                          </a:solidFill>
                          <a:latin typeface="Calibri" pitchFamily="34" charset="0"/>
                          <a:ea typeface="Calibri" pitchFamily="34" charset="-122"/>
                          <a:cs typeface="Calibri" pitchFamily="34" charset="-120"/>
                        </a:rPr>
                        <a:t>Rules compliance check; runtime measured on target hardware.</a:t>
                      </a:r>
                      <a:endParaRPr lang="en-US" sz="98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FFFFF"/>
                    </a:solidFill>
                  </a:tcPr>
                </a:tc>
              </a:tr>
            </a:tbl>
          </a:graphicData>
        </a:graphic>
      </p:graphicFrame>
      <p:sp>
        <p:nvSpPr>
          <p:cNvPr id="12" name="Shape 9"/>
          <p:cNvSpPr/>
          <p:nvPr/>
        </p:nvSpPr>
        <p:spPr>
          <a:xfrm>
            <a:off x="502920" y="5230368"/>
            <a:ext cx="11185855" cy="994918"/>
          </a:xfrm>
          <a:prstGeom prst="roundRect">
            <a:avLst>
              <a:gd name="adj" fmla="val 3676"/>
            </a:avLst>
          </a:prstGeom>
          <a:solidFill>
            <a:srgbClr val="F3F6F9"/>
          </a:solidFill>
          <a:ln w="12700">
            <a:solidFill>
              <a:srgbClr val="5A6875"/>
            </a:solidFill>
            <a:prstDash val="solid"/>
          </a:ln>
        </p:spPr>
      </p:sp>
      <p:sp>
        <p:nvSpPr>
          <p:cNvPr id="13" name="Text 10"/>
          <p:cNvSpPr txBox="1"/>
          <p:nvPr/>
        </p:nvSpPr>
        <p:spPr>
          <a:xfrm>
            <a:off x="667512" y="5349240"/>
            <a:ext cx="10856671" cy="256032"/>
          </a:xfrm>
          <a:prstGeom prst="rect">
            <a:avLst/>
          </a:prstGeom>
          <a:noFill/>
          <a:ln/>
        </p:spPr>
        <p:txBody>
          <a:bodyPr wrap="square" lIns="0" tIns="0" rIns="0" bIns="0" rtlCol="0" anchor="ctr"/>
          <a:lstStyle/>
          <a:p>
            <a:pPr indent="0" marL="0">
              <a:buNone/>
            </a:pPr>
            <a:r>
              <a:rPr lang="en-US" sz="1200" b="1" dirty="0">
                <a:solidFill>
                  <a:srgbClr val="5A6875"/>
                </a:solidFill>
                <a:latin typeface="Calibri" pitchFamily="34" charset="0"/>
                <a:ea typeface="Calibri" pitchFamily="34" charset="-122"/>
                <a:cs typeface="Calibri" pitchFamily="34" charset="-120"/>
              </a:rPr>
              <a:t>Two papers still to be read in full before the novelty claim is written down</a:t>
            </a:r>
            <a:endParaRPr lang="en-US" sz="1200" dirty="0"/>
          </a:p>
        </p:txBody>
      </p:sp>
      <p:sp>
        <p:nvSpPr>
          <p:cNvPr id="14" name="Text 11"/>
          <p:cNvSpPr txBox="1"/>
          <p:nvPr/>
        </p:nvSpPr>
        <p:spPr>
          <a:xfrm>
            <a:off x="667512" y="5641848"/>
            <a:ext cx="10856671" cy="473710"/>
          </a:xfrm>
          <a:prstGeom prst="rect">
            <a:avLst/>
          </a:prstGeom>
          <a:noFill/>
          <a:ln/>
        </p:spPr>
        <p:txBody>
          <a:bodyPr wrap="square" lIns="0" tIns="0" rIns="0" bIns="0" rtlCol="0" anchor="t"/>
          <a:lstStyle/>
          <a:p>
            <a:pPr indent="0" marL="0">
              <a:lnSpc>
                <a:spcPct val="112000"/>
              </a:lnSpc>
              <a:buNone/>
            </a:pPr>
            <a:r>
              <a:rPr lang="en-US" sz="1150" dirty="0">
                <a:solidFill>
                  <a:srgbClr val="12202E"/>
                </a:solidFill>
                <a:latin typeface="Calibri" pitchFamily="34" charset="0"/>
                <a:ea typeface="Calibri" pitchFamily="34" charset="-122"/>
                <a:cs typeface="Calibri" pitchFamily="34" charset="-120"/>
              </a:rPr>
              <a:t>Ye et al., Expert Systems with Applications 2026 (label-wise reliability for chest radiography) and Xiao, IEEE TMI 2024 (multi-label positive-unlabelled learning). We name them now rather than discover them later.</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1F4E79"/>
          </a:solidFill>
          <a:ln/>
        </p:spPr>
      </p:sp>
      <p:sp>
        <p:nvSpPr>
          <p:cNvPr id="3" name="Shape 1"/>
          <p:cNvSpPr/>
          <p:nvPr/>
        </p:nvSpPr>
        <p:spPr>
          <a:xfrm>
            <a:off x="502920" y="283464"/>
            <a:ext cx="475488" cy="475488"/>
          </a:xfrm>
          <a:prstGeom prst="roundRect">
            <a:avLst>
              <a:gd name="adj" fmla="val 38462"/>
            </a:avLst>
          </a:prstGeom>
          <a:solidFill>
            <a:srgbClr val="1F4E79"/>
          </a:solidFill>
          <a:ln w="12700">
            <a:solidFill>
              <a:srgbClr val="1F4E79"/>
            </a:solidFill>
            <a:prstDash val="solid"/>
          </a:ln>
        </p:spPr>
      </p:sp>
      <p:sp>
        <p:nvSpPr>
          <p:cNvPr id="4" name="Text 2"/>
          <p:cNvSpPr txBox="1"/>
          <p:nvPr/>
        </p:nvSpPr>
        <p:spPr>
          <a:xfrm>
            <a:off x="502920" y="283464"/>
            <a:ext cx="475488" cy="475488"/>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5</a:t>
            </a:r>
            <a:endParaRPr lang="en-US" sz="1900" dirty="0"/>
          </a:p>
        </p:txBody>
      </p:sp>
      <p:sp>
        <p:nvSpPr>
          <p:cNvPr id="5" name="Text 3"/>
          <p:cNvSpPr txBox="1"/>
          <p:nvPr/>
        </p:nvSpPr>
        <p:spPr>
          <a:xfrm>
            <a:off x="502920" y="786384"/>
            <a:ext cx="475488" cy="182880"/>
          </a:xfrm>
          <a:prstGeom prst="rect">
            <a:avLst/>
          </a:prstGeom>
          <a:noFill/>
          <a:ln/>
        </p:spPr>
        <p:txBody>
          <a:bodyPr wrap="square" lIns="0" tIns="0" rIns="0" bIns="0" rtlCol="0" anchor="ctr"/>
          <a:lstStyle/>
          <a:p>
            <a:pPr algn="ctr" indent="0" marL="0">
              <a:buNone/>
            </a:pPr>
            <a:r>
              <a:rPr lang="en-US" sz="750" dirty="0">
                <a:solidFill>
                  <a:srgbClr val="9AA8B5"/>
                </a:solidFill>
                <a:latin typeface="Calibri" pitchFamily="34" charset="0"/>
                <a:ea typeface="Calibri" pitchFamily="34" charset="-122"/>
                <a:cs typeface="Calibri" pitchFamily="34" charset="-120"/>
              </a:rPr>
              <a:t>OF 10</a:t>
            </a:r>
            <a:endParaRPr lang="en-US" sz="750" dirty="0"/>
          </a:p>
        </p:txBody>
      </p:sp>
      <p:sp>
        <p:nvSpPr>
          <p:cNvPr id="6" name="Text 4"/>
          <p:cNvSpPr txBox="1"/>
          <p:nvPr/>
        </p:nvSpPr>
        <p:spPr>
          <a:xfrm>
            <a:off x="1124712" y="274320"/>
            <a:ext cx="9283903" cy="475488"/>
          </a:xfrm>
          <a:prstGeom prst="rect">
            <a:avLst/>
          </a:prstGeom>
          <a:noFill/>
          <a:ln/>
        </p:spPr>
        <p:txBody>
          <a:bodyPr wrap="square" lIns="0" tIns="0" rIns="0" bIns="0" rtlCol="0" anchor="ctr"/>
          <a:lstStyle/>
          <a:p>
            <a:pPr indent="0" marL="0">
              <a:buNone/>
            </a:pPr>
            <a:r>
              <a:rPr lang="en-US" sz="2500" b="1" dirty="0">
                <a:solidFill>
                  <a:srgbClr val="12202E"/>
                </a:solidFill>
                <a:latin typeface="Calibri" pitchFamily="34" charset="0"/>
                <a:ea typeface="Calibri" pitchFamily="34" charset="-122"/>
                <a:cs typeface="Calibri" pitchFamily="34" charset="-120"/>
              </a:rPr>
              <a:t>Complex computing challenge</a:t>
            </a:r>
            <a:endParaRPr lang="en-US" sz="2500" dirty="0"/>
          </a:p>
        </p:txBody>
      </p:sp>
      <p:sp>
        <p:nvSpPr>
          <p:cNvPr id="7" name="Text 5"/>
          <p:cNvSpPr txBox="1"/>
          <p:nvPr/>
        </p:nvSpPr>
        <p:spPr>
          <a:xfrm>
            <a:off x="1124712" y="768096"/>
            <a:ext cx="9283903" cy="310896"/>
          </a:xfrm>
          <a:prstGeom prst="rect">
            <a:avLst/>
          </a:prstGeom>
          <a:noFill/>
          <a:ln/>
        </p:spPr>
        <p:txBody>
          <a:bodyPr wrap="square" lIns="0" tIns="0" rIns="0" bIns="0" rtlCol="0" anchor="ctr"/>
          <a:lstStyle/>
          <a:p>
            <a:pPr indent="0" marL="0">
              <a:buNone/>
            </a:pPr>
            <a:r>
              <a:rPr lang="en-US" sz="1300" i="1" dirty="0">
                <a:solidFill>
                  <a:srgbClr val="5A6875"/>
                </a:solidFill>
                <a:latin typeface="Calibri" pitchFamily="34" charset="0"/>
                <a:ea typeface="Calibri" pitchFamily="34" charset="-122"/>
                <a:cs typeface="Calibri" pitchFamily="34" charset="-120"/>
              </a:rPr>
              <a:t>What is technically hard, and why this is not a course project</a:t>
            </a:r>
            <a:endParaRPr lang="en-US" sz="1300" dirty="0"/>
          </a:p>
        </p:txBody>
      </p:sp>
      <p:sp>
        <p:nvSpPr>
          <p:cNvPr id="8" name="Shape 6"/>
          <p:cNvSpPr/>
          <p:nvPr/>
        </p:nvSpPr>
        <p:spPr>
          <a:xfrm>
            <a:off x="502920" y="1115568"/>
            <a:ext cx="11185855" cy="20117"/>
          </a:xfrm>
          <a:prstGeom prst="rect">
            <a:avLst/>
          </a:prstGeom>
          <a:solidFill>
            <a:srgbClr val="1F4E79"/>
          </a:solidFill>
          <a:ln/>
        </p:spPr>
      </p:sp>
      <p:sp>
        <p:nvSpPr>
          <p:cNvPr id="9" name="Text 7"/>
          <p:cNvSpPr txBox="1"/>
          <p:nvPr/>
        </p:nvSpPr>
        <p:spPr>
          <a:xfrm>
            <a:off x="502920" y="6473952"/>
            <a:ext cx="7315200" cy="237744"/>
          </a:xfrm>
          <a:prstGeom prst="rect">
            <a:avLst/>
          </a:prstGeom>
          <a:noFill/>
          <a:ln/>
        </p:spPr>
        <p:txBody>
          <a:bodyPr wrap="square" lIns="0" tIns="0" rIns="0" bIns="0" rtlCol="0" anchor="ctr"/>
          <a:lstStyle/>
          <a:p>
            <a:pPr indent="0" marL="0">
              <a:buNone/>
            </a:pPr>
            <a:r>
              <a:rPr lang="en-US" sz="950" dirty="0">
                <a:solidFill>
                  <a:srgbClr val="9AA8B5"/>
                </a:solidFill>
                <a:latin typeface="Calibri" pitchFamily="34" charset="0"/>
                <a:ea typeface="Calibri" pitchFamily="34" charset="-122"/>
                <a:cs typeface="Calibri" pitchFamily="34" charset="-120"/>
              </a:rPr>
              <a:t>KneeWS  ·  noise-aware weak supervision  ·  proposal defence</a:t>
            </a:r>
            <a:endParaRPr lang="en-US" sz="950" dirty="0"/>
          </a:p>
        </p:txBody>
      </p:sp>
      <p:sp>
        <p:nvSpPr>
          <p:cNvPr id="10" name="Text 8"/>
          <p:cNvSpPr txBox="1"/>
          <p:nvPr/>
        </p:nvSpPr>
        <p:spPr>
          <a:xfrm>
            <a:off x="11185855" y="6473952"/>
            <a:ext cx="502920" cy="237744"/>
          </a:xfrm>
          <a:prstGeom prst="rect">
            <a:avLst/>
          </a:prstGeom>
          <a:noFill/>
          <a:ln/>
        </p:spPr>
        <p:txBody>
          <a:bodyPr wrap="square" lIns="0" tIns="0" rIns="0" bIns="0" rtlCol="0" anchor="ctr"/>
          <a:lstStyle/>
          <a:p>
            <a:pPr algn="r" indent="0" marL="0">
              <a:buNone/>
            </a:pPr>
            <a:r>
              <a:rPr lang="en-US" sz="950" dirty="0">
                <a:solidFill>
                  <a:srgbClr val="9AA8B5"/>
                </a:solidFill>
                <a:latin typeface="Calibri" pitchFamily="34" charset="0"/>
                <a:ea typeface="Calibri" pitchFamily="34" charset="-122"/>
                <a:cs typeface="Calibri" pitchFamily="34" charset="-120"/>
              </a:rPr>
              <a:t>5</a:t>
            </a:r>
            <a:endParaRPr lang="en-US" sz="9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02920" y="1325880"/>
          <a:ext cx="11185855" cy="914400"/>
        </p:xfrm>
        <a:graphic>
          <a:graphicData uri="http://schemas.openxmlformats.org/drawingml/2006/table">
            <a:tbl>
              <a:tblPr/>
              <a:tblGrid>
                <a:gridCol w="384048"/>
                <a:gridCol w="2286000"/>
                <a:gridCol w="1234440"/>
                <a:gridCol w="7315200"/>
              </a:tblGrid>
              <a:tr h="0">
                <a:tc>
                  <a:txBody>
                    <a:bodyPr/>
                    <a:lstStyle/>
                    <a:p>
                      <a:pPr indent="0" marL="0">
                        <a:buNone/>
                      </a:pPr>
                      <a:r>
                        <a:rPr lang="en-US" sz="910" b="1" dirty="0">
                          <a:solidFill>
                            <a:srgbClr val="FFFFFF"/>
                          </a:solidFill>
                          <a:latin typeface="Calibri" pitchFamily="34" charset="0"/>
                          <a:ea typeface="Calibri" pitchFamily="34" charset="-122"/>
                          <a:cs typeface="Calibri" pitchFamily="34" charset="-120"/>
                        </a:rPr>
                        <a:t>#</a:t>
                      </a:r>
                      <a:endParaRPr lang="en-US" sz="91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1F4E79"/>
                    </a:solidFill>
                  </a:tcPr>
                </a:tc>
                <a:tc>
                  <a:txBody>
                    <a:bodyPr/>
                    <a:lstStyle/>
                    <a:p>
                      <a:pPr indent="0" marL="0">
                        <a:buNone/>
                      </a:pPr>
                      <a:r>
                        <a:rPr lang="en-US" sz="910" b="1" dirty="0">
                          <a:solidFill>
                            <a:srgbClr val="FFFFFF"/>
                          </a:solidFill>
                          <a:latin typeface="Calibri" pitchFamily="34" charset="0"/>
                          <a:ea typeface="Calibri" pitchFamily="34" charset="-122"/>
                          <a:cs typeface="Calibri" pitchFamily="34" charset="-120"/>
                        </a:rPr>
                        <a:t>Characteristic</a:t>
                      </a:r>
                      <a:endParaRPr lang="en-US" sz="91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1F4E79"/>
                    </a:solidFill>
                  </a:tcPr>
                </a:tc>
                <a:tc>
                  <a:txBody>
                    <a:bodyPr/>
                    <a:lstStyle/>
                    <a:p>
                      <a:pPr indent="0" marL="0">
                        <a:buNone/>
                      </a:pPr>
                      <a:r>
                        <a:rPr lang="en-US" sz="910" b="1" dirty="0">
                          <a:solidFill>
                            <a:srgbClr val="FFFFFF"/>
                          </a:solidFill>
                          <a:latin typeface="Calibri" pitchFamily="34" charset="0"/>
                          <a:ea typeface="Calibri" pitchFamily="34" charset="-122"/>
                          <a:cs typeface="Calibri" pitchFamily="34" charset="-120"/>
                        </a:rPr>
                        <a:t>Claim</a:t>
                      </a:r>
                      <a:endParaRPr lang="en-US" sz="91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1F4E79"/>
                    </a:solidFill>
                  </a:tcPr>
                </a:tc>
                <a:tc>
                  <a:txBody>
                    <a:bodyPr/>
                    <a:lstStyle/>
                    <a:p>
                      <a:pPr indent="0" marL="0">
                        <a:buNone/>
                      </a:pPr>
                      <a:r>
                        <a:rPr lang="en-US" sz="910" b="1" dirty="0">
                          <a:solidFill>
                            <a:srgbClr val="FFFFFF"/>
                          </a:solidFill>
                          <a:latin typeface="Calibri" pitchFamily="34" charset="0"/>
                          <a:ea typeface="Calibri" pitchFamily="34" charset="-122"/>
                          <a:cs typeface="Calibri" pitchFamily="34" charset="-120"/>
                        </a:rPr>
                        <a:t>Why</a:t>
                      </a:r>
                      <a:endParaRPr lang="en-US" sz="91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1F4E79"/>
                    </a:solidFill>
                  </a:tcPr>
                </a:tc>
              </a:tr>
              <a:tr h="0">
                <a:tc>
                  <a:txBody>
                    <a:bodyPr/>
                    <a:lstStyle/>
                    <a:p>
                      <a:pPr indent="0" marL="0">
                        <a:buNone/>
                      </a:pPr>
                      <a:r>
                        <a:rPr lang="en-US" sz="960" dirty="0">
                          <a:solidFill>
                            <a:srgbClr val="12202E"/>
                          </a:solidFill>
                          <a:latin typeface="Calibri" pitchFamily="34" charset="0"/>
                          <a:ea typeface="Calibri" pitchFamily="34" charset="-122"/>
                          <a:cs typeface="Calibri" pitchFamily="34" charset="-120"/>
                        </a:rPr>
                        <a:t>1</a:t>
                      </a:r>
                      <a:endParaRPr lang="en-US" sz="96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FFFFF"/>
                    </a:solidFill>
                  </a:tcPr>
                </a:tc>
                <a:tc>
                  <a:txBody>
                    <a:bodyPr/>
                    <a:lstStyle/>
                    <a:p>
                      <a:pPr indent="0" marL="0">
                        <a:buNone/>
                      </a:pPr>
                      <a:r>
                        <a:rPr lang="en-US" sz="960" dirty="0">
                          <a:solidFill>
                            <a:srgbClr val="12202E"/>
                          </a:solidFill>
                          <a:latin typeface="Calibri" pitchFamily="34" charset="0"/>
                          <a:ea typeface="Calibri" pitchFamily="34" charset="-122"/>
                          <a:cs typeface="Calibri" pitchFamily="34" charset="-120"/>
                        </a:rPr>
                        <a:t>Conflicting requirements</a:t>
                      </a:r>
                      <a:endParaRPr lang="en-US" sz="96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FFFFF"/>
                    </a:solidFill>
                  </a:tcPr>
                </a:tc>
                <a:tc>
                  <a:txBody>
                    <a:bodyPr/>
                    <a:lstStyle/>
                    <a:p>
                      <a:pPr indent="0" marL="0">
                        <a:buNone/>
                      </a:pPr>
                      <a:r>
                        <a:rPr lang="en-US" sz="960" b="1" dirty="0">
                          <a:solidFill>
                            <a:srgbClr val="2F6B34"/>
                          </a:solidFill>
                          <a:latin typeface="Calibri" pitchFamily="34" charset="0"/>
                          <a:ea typeface="Calibri" pitchFamily="34" charset="-122"/>
                          <a:cs typeface="Calibri" pitchFamily="34" charset="-120"/>
                        </a:rPr>
                        <a:t>Strong</a:t>
                      </a:r>
                      <a:endParaRPr lang="en-US" sz="96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FFFFF"/>
                    </a:solidFill>
                  </a:tcPr>
                </a:tc>
                <a:tc>
                  <a:txBody>
                    <a:bodyPr/>
                    <a:lstStyle/>
                    <a:p>
                      <a:pPr indent="0" marL="0">
                        <a:buNone/>
                      </a:pPr>
                      <a:r>
                        <a:rPr lang="en-US" sz="960" dirty="0">
                          <a:solidFill>
                            <a:srgbClr val="12202E"/>
                          </a:solidFill>
                          <a:latin typeface="Calibri" pitchFamily="34" charset="0"/>
                          <a:ea typeface="Calibri" pitchFamily="34" charset="-122"/>
                          <a:cs typeface="Calibri" pitchFamily="34" charset="-120"/>
                        </a:rPr>
                        <a:t>4,349 noisy studies are needed for signal, yet each one may be wrong; uncertainty must be preserved and simultaneously turned into a usable number; 569 GB of imaging must be processed within 8 GB of video memory.</a:t>
                      </a:r>
                      <a:endParaRPr lang="en-US" sz="96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FFFFF"/>
                    </a:solidFill>
                  </a:tcPr>
                </a:tc>
              </a:tr>
              <a:tr h="0">
                <a:tc>
                  <a:txBody>
                    <a:bodyPr/>
                    <a:lstStyle/>
                    <a:p>
                      <a:pPr indent="0" marL="0">
                        <a:buNone/>
                      </a:pPr>
                      <a:r>
                        <a:rPr lang="en-US" sz="960" dirty="0">
                          <a:solidFill>
                            <a:srgbClr val="12202E"/>
                          </a:solidFill>
                          <a:latin typeface="Calibri" pitchFamily="34" charset="0"/>
                          <a:ea typeface="Calibri" pitchFamily="34" charset="-122"/>
                          <a:cs typeface="Calibri" pitchFamily="34" charset="-120"/>
                        </a:rPr>
                        <a:t>2</a:t>
                      </a:r>
                      <a:endParaRPr lang="en-US" sz="96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3F6F9"/>
                    </a:solidFill>
                  </a:tcPr>
                </a:tc>
                <a:tc>
                  <a:txBody>
                    <a:bodyPr/>
                    <a:lstStyle/>
                    <a:p>
                      <a:pPr indent="0" marL="0">
                        <a:buNone/>
                      </a:pPr>
                      <a:r>
                        <a:rPr lang="en-US" sz="960" dirty="0">
                          <a:solidFill>
                            <a:srgbClr val="12202E"/>
                          </a:solidFill>
                          <a:latin typeface="Calibri" pitchFamily="34" charset="0"/>
                          <a:ea typeface="Calibri" pitchFamily="34" charset="-122"/>
                          <a:cs typeface="Calibri" pitchFamily="34" charset="-120"/>
                        </a:rPr>
                        <a:t>No obvious solution / depth of analysis</a:t>
                      </a:r>
                      <a:endParaRPr lang="en-US" sz="96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3F6F9"/>
                    </a:solidFill>
                  </a:tcPr>
                </a:tc>
                <a:tc>
                  <a:txBody>
                    <a:bodyPr/>
                    <a:lstStyle/>
                    <a:p>
                      <a:pPr indent="0" marL="0">
                        <a:buNone/>
                      </a:pPr>
                      <a:r>
                        <a:rPr lang="en-US" sz="960" b="1" dirty="0">
                          <a:solidFill>
                            <a:srgbClr val="2F6B34"/>
                          </a:solidFill>
                          <a:latin typeface="Calibri" pitchFamily="34" charset="0"/>
                          <a:ea typeface="Calibri" pitchFamily="34" charset="-122"/>
                          <a:cs typeface="Calibri" pitchFamily="34" charset="-120"/>
                        </a:rPr>
                        <a:t>Strong</a:t>
                      </a:r>
                      <a:endParaRPr lang="en-US" sz="96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3F6F9"/>
                    </a:solidFill>
                  </a:tcPr>
                </a:tc>
                <a:tc>
                  <a:txBody>
                    <a:bodyPr/>
                    <a:lstStyle/>
                    <a:p>
                      <a:pPr indent="0" marL="0">
                        <a:buNone/>
                      </a:pPr>
                      <a:r>
                        <a:rPr lang="en-US" sz="960" dirty="0">
                          <a:solidFill>
                            <a:srgbClr val="12202E"/>
                          </a:solidFill>
                          <a:latin typeface="Calibri" pitchFamily="34" charset="0"/>
                          <a:ea typeface="Calibri" pitchFamily="34" charset="-122"/>
                          <a:cs typeface="Calibri" pitchFamily="34" charset="-120"/>
                        </a:rPr>
                        <a:t>There is no standard answer to "what is the training target for a finding the report never mentions". It has to be determined experimentally, and the alternatives disagree.</a:t>
                      </a:r>
                      <a:endParaRPr lang="en-US" sz="96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3F6F9"/>
                    </a:solidFill>
                  </a:tcPr>
                </a:tc>
              </a:tr>
              <a:tr h="0">
                <a:tc>
                  <a:txBody>
                    <a:bodyPr/>
                    <a:lstStyle/>
                    <a:p>
                      <a:pPr indent="0" marL="0">
                        <a:buNone/>
                      </a:pPr>
                      <a:r>
                        <a:rPr lang="en-US" sz="960" dirty="0">
                          <a:solidFill>
                            <a:srgbClr val="12202E"/>
                          </a:solidFill>
                          <a:latin typeface="Calibri" pitchFamily="34" charset="0"/>
                          <a:ea typeface="Calibri" pitchFamily="34" charset="-122"/>
                          <a:cs typeface="Calibri" pitchFamily="34" charset="-120"/>
                        </a:rPr>
                        <a:t>3</a:t>
                      </a:r>
                      <a:endParaRPr lang="en-US" sz="96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FFFFF"/>
                    </a:solidFill>
                  </a:tcPr>
                </a:tc>
                <a:tc>
                  <a:txBody>
                    <a:bodyPr/>
                    <a:lstStyle/>
                    <a:p>
                      <a:pPr indent="0" marL="0">
                        <a:buNone/>
                      </a:pPr>
                      <a:r>
                        <a:rPr lang="en-US" sz="960" dirty="0">
                          <a:solidFill>
                            <a:srgbClr val="12202E"/>
                          </a:solidFill>
                          <a:latin typeface="Calibri" pitchFamily="34" charset="0"/>
                          <a:ea typeface="Calibri" pitchFamily="34" charset="-122"/>
                          <a:cs typeface="Calibri" pitchFamily="34" charset="-120"/>
                        </a:rPr>
                        <a:t>Depth of knowledge</a:t>
                      </a:r>
                      <a:endParaRPr lang="en-US" sz="96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FFFFF"/>
                    </a:solidFill>
                  </a:tcPr>
                </a:tc>
                <a:tc>
                  <a:txBody>
                    <a:bodyPr/>
                    <a:lstStyle/>
                    <a:p>
                      <a:pPr indent="0" marL="0">
                        <a:buNone/>
                      </a:pPr>
                      <a:r>
                        <a:rPr lang="en-US" sz="960" b="1" dirty="0">
                          <a:solidFill>
                            <a:srgbClr val="2F6B34"/>
                          </a:solidFill>
                          <a:latin typeface="Calibri" pitchFamily="34" charset="0"/>
                          <a:ea typeface="Calibri" pitchFamily="34" charset="-122"/>
                          <a:cs typeface="Calibri" pitchFamily="34" charset="-120"/>
                        </a:rPr>
                        <a:t>Strong</a:t>
                      </a:r>
                      <a:endParaRPr lang="en-US" sz="96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FFFFF"/>
                    </a:solidFill>
                  </a:tcPr>
                </a:tc>
                <a:tc>
                  <a:txBody>
                    <a:bodyPr/>
                    <a:lstStyle/>
                    <a:p>
                      <a:pPr indent="0" marL="0">
                        <a:buNone/>
                      </a:pPr>
                      <a:r>
                        <a:rPr lang="en-US" sz="960" dirty="0">
                          <a:solidFill>
                            <a:srgbClr val="12202E"/>
                          </a:solidFill>
                          <a:latin typeface="Calibri" pitchFamily="34" charset="0"/>
                          <a:ea typeface="Calibri" pitchFamily="34" charset="-122"/>
                          <a:cs typeface="Calibri" pitchFamily="34" charset="-120"/>
                        </a:rPr>
                        <a:t>MRI and DICOM handling, multi-label learning, noisy-label theory, multilingual clinical language, probability calibration, and leakage-safe experimental design must all be combined.</a:t>
                      </a:r>
                      <a:endParaRPr lang="en-US" sz="96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FFFFF"/>
                    </a:solidFill>
                  </a:tcPr>
                </a:tc>
              </a:tr>
              <a:tr h="0">
                <a:tc>
                  <a:txBody>
                    <a:bodyPr/>
                    <a:lstStyle/>
                    <a:p>
                      <a:pPr indent="0" marL="0">
                        <a:buNone/>
                      </a:pPr>
                      <a:r>
                        <a:rPr lang="en-US" sz="960" dirty="0">
                          <a:solidFill>
                            <a:srgbClr val="12202E"/>
                          </a:solidFill>
                          <a:latin typeface="Calibri" pitchFamily="34" charset="0"/>
                          <a:ea typeface="Calibri" pitchFamily="34" charset="-122"/>
                          <a:cs typeface="Calibri" pitchFamily="34" charset="-120"/>
                        </a:rPr>
                        <a:t>4</a:t>
                      </a:r>
                      <a:endParaRPr lang="en-US" sz="96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3F6F9"/>
                    </a:solidFill>
                  </a:tcPr>
                </a:tc>
                <a:tc>
                  <a:txBody>
                    <a:bodyPr/>
                    <a:lstStyle/>
                    <a:p>
                      <a:pPr indent="0" marL="0">
                        <a:buNone/>
                      </a:pPr>
                      <a:r>
                        <a:rPr lang="en-US" sz="960" dirty="0">
                          <a:solidFill>
                            <a:srgbClr val="12202E"/>
                          </a:solidFill>
                          <a:latin typeface="Calibri" pitchFamily="34" charset="0"/>
                          <a:ea typeface="Calibri" pitchFamily="34" charset="-122"/>
                          <a:cs typeface="Calibri" pitchFamily="34" charset="-120"/>
                        </a:rPr>
                        <a:t>Unfamiliar issues</a:t>
                      </a:r>
                      <a:endParaRPr lang="en-US" sz="96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3F6F9"/>
                    </a:solidFill>
                  </a:tcPr>
                </a:tc>
                <a:tc>
                  <a:txBody>
                    <a:bodyPr/>
                    <a:lstStyle/>
                    <a:p>
                      <a:pPr indent="0" marL="0">
                        <a:buNone/>
                      </a:pPr>
                      <a:r>
                        <a:rPr lang="en-US" sz="960" b="1" dirty="0">
                          <a:solidFill>
                            <a:srgbClr val="2F6B34"/>
                          </a:solidFill>
                          <a:latin typeface="Calibri" pitchFamily="34" charset="0"/>
                          <a:ea typeface="Calibri" pitchFamily="34" charset="-122"/>
                          <a:cs typeface="Calibri" pitchFamily="34" charset="-120"/>
                        </a:rPr>
                        <a:t>Strong</a:t>
                      </a:r>
                      <a:endParaRPr lang="en-US" sz="96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3F6F9"/>
                    </a:solidFill>
                  </a:tcPr>
                </a:tc>
                <a:tc>
                  <a:txBody>
                    <a:bodyPr/>
                    <a:lstStyle/>
                    <a:p>
                      <a:pPr indent="0" marL="0">
                        <a:buNone/>
                      </a:pPr>
                      <a:r>
                        <a:rPr lang="en-US" sz="960" dirty="0">
                          <a:solidFill>
                            <a:srgbClr val="12202E"/>
                          </a:solidFill>
                          <a:latin typeface="Calibri" pitchFamily="34" charset="0"/>
                          <a:ea typeface="Calibri" pitchFamily="34" charset="-122"/>
                          <a:cs typeface="Calibri" pitchFamily="34" charset="-120"/>
                        </a:rPr>
                        <a:t>Language is nearly a proxy for institution; reports and expert reads disagree systematically; 48 quantities must be estimated from 58 studies. None of this arises in routine development.</a:t>
                      </a:r>
                      <a:endParaRPr lang="en-US" sz="96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3F6F9"/>
                    </a:solidFill>
                  </a:tcPr>
                </a:tc>
              </a:tr>
              <a:tr h="0">
                <a:tc>
                  <a:txBody>
                    <a:bodyPr/>
                    <a:lstStyle/>
                    <a:p>
                      <a:pPr indent="0" marL="0">
                        <a:buNone/>
                      </a:pPr>
                      <a:r>
                        <a:rPr lang="en-US" sz="960" dirty="0">
                          <a:solidFill>
                            <a:srgbClr val="12202E"/>
                          </a:solidFill>
                          <a:latin typeface="Calibri" pitchFamily="34" charset="0"/>
                          <a:ea typeface="Calibri" pitchFamily="34" charset="-122"/>
                          <a:cs typeface="Calibri" pitchFamily="34" charset="-120"/>
                        </a:rPr>
                        <a:t>5</a:t>
                      </a:r>
                      <a:endParaRPr lang="en-US" sz="96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FFFFF"/>
                    </a:solidFill>
                  </a:tcPr>
                </a:tc>
                <a:tc>
                  <a:txBody>
                    <a:bodyPr/>
                    <a:lstStyle/>
                    <a:p>
                      <a:pPr indent="0" marL="0">
                        <a:buNone/>
                      </a:pPr>
                      <a:r>
                        <a:rPr lang="en-US" sz="960" dirty="0">
                          <a:solidFill>
                            <a:srgbClr val="12202E"/>
                          </a:solidFill>
                          <a:latin typeface="Calibri" pitchFamily="34" charset="0"/>
                          <a:ea typeface="Calibri" pitchFamily="34" charset="-122"/>
                          <a:cs typeface="Calibri" pitchFamily="34" charset="-120"/>
                        </a:rPr>
                        <a:t>Beyond standard practice</a:t>
                      </a:r>
                      <a:endParaRPr lang="en-US" sz="96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FFFFF"/>
                    </a:solidFill>
                  </a:tcPr>
                </a:tc>
                <a:tc>
                  <a:txBody>
                    <a:bodyPr/>
                    <a:lstStyle/>
                    <a:p>
                      <a:pPr indent="0" marL="0">
                        <a:buNone/>
                      </a:pPr>
                      <a:r>
                        <a:rPr lang="en-US" sz="960" b="1" dirty="0">
                          <a:solidFill>
                            <a:srgbClr val="2F6B34"/>
                          </a:solidFill>
                          <a:latin typeface="Calibri" pitchFamily="34" charset="0"/>
                          <a:ea typeface="Calibri" pitchFamily="34" charset="-122"/>
                          <a:cs typeface="Calibri" pitchFamily="34" charset="-120"/>
                        </a:rPr>
                        <a:t>Strong</a:t>
                      </a:r>
                      <a:endParaRPr lang="en-US" sz="96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FFFFF"/>
                    </a:solidFill>
                  </a:tcPr>
                </a:tc>
                <a:tc>
                  <a:txBody>
                    <a:bodyPr/>
                    <a:lstStyle/>
                    <a:p>
                      <a:pPr indent="0" marL="0">
                        <a:buNone/>
                      </a:pPr>
                      <a:r>
                        <a:rPr lang="en-US" sz="960" dirty="0">
                          <a:solidFill>
                            <a:srgbClr val="12202E"/>
                          </a:solidFill>
                          <a:latin typeface="Calibri" pitchFamily="34" charset="0"/>
                          <a:ea typeface="Calibri" pitchFamily="34" charset="-122"/>
                          <a:cs typeface="Calibri" pitchFamily="34" charset="-120"/>
                        </a:rPr>
                        <a:t>Frameworks supply networks, DICOM readers and language models. None of them decides how noisy report supervision should be modelled or how its effect should be measured.</a:t>
                      </a:r>
                      <a:endParaRPr lang="en-US" sz="96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FFFFF"/>
                    </a:solidFill>
                  </a:tcPr>
                </a:tc>
              </a:tr>
              <a:tr h="0">
                <a:tc>
                  <a:txBody>
                    <a:bodyPr/>
                    <a:lstStyle/>
                    <a:p>
                      <a:pPr indent="0" marL="0">
                        <a:buNone/>
                      </a:pPr>
                      <a:r>
                        <a:rPr lang="en-US" sz="960" dirty="0">
                          <a:solidFill>
                            <a:srgbClr val="12202E"/>
                          </a:solidFill>
                          <a:latin typeface="Calibri" pitchFamily="34" charset="0"/>
                          <a:ea typeface="Calibri" pitchFamily="34" charset="-122"/>
                          <a:cs typeface="Calibri" pitchFamily="34" charset="-120"/>
                        </a:rPr>
                        <a:t>6</a:t>
                      </a:r>
                      <a:endParaRPr lang="en-US" sz="96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3F6F9"/>
                    </a:solidFill>
                  </a:tcPr>
                </a:tc>
                <a:tc>
                  <a:txBody>
                    <a:bodyPr/>
                    <a:lstStyle/>
                    <a:p>
                      <a:pPr indent="0" marL="0">
                        <a:buNone/>
                      </a:pPr>
                      <a:r>
                        <a:rPr lang="en-US" sz="960" dirty="0">
                          <a:solidFill>
                            <a:srgbClr val="12202E"/>
                          </a:solidFill>
                          <a:latin typeface="Calibri" pitchFamily="34" charset="0"/>
                          <a:ea typeface="Calibri" pitchFamily="34" charset="-122"/>
                          <a:cs typeface="Calibri" pitchFamily="34" charset="-120"/>
                        </a:rPr>
                        <a:t>Diverse stakeholders</a:t>
                      </a:r>
                      <a:endParaRPr lang="en-US" sz="96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3F6F9"/>
                    </a:solidFill>
                  </a:tcPr>
                </a:tc>
                <a:tc>
                  <a:txBody>
                    <a:bodyPr/>
                    <a:lstStyle/>
                    <a:p>
                      <a:pPr indent="0" marL="0">
                        <a:buNone/>
                      </a:pPr>
                      <a:r>
                        <a:rPr lang="en-US" sz="960" b="1" dirty="0">
                          <a:solidFill>
                            <a:srgbClr val="8C2F2F"/>
                          </a:solidFill>
                          <a:latin typeface="Calibri" pitchFamily="34" charset="0"/>
                          <a:ea typeface="Calibri" pitchFamily="34" charset="-122"/>
                          <a:cs typeface="Calibri" pitchFamily="34" charset="-120"/>
                        </a:rPr>
                        <a:t>Weak — declared</a:t>
                      </a:r>
                      <a:endParaRPr lang="en-US" sz="96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3F6F9"/>
                    </a:solidFill>
                  </a:tcPr>
                </a:tc>
                <a:tc>
                  <a:txBody>
                    <a:bodyPr/>
                    <a:lstStyle/>
                    <a:p>
                      <a:pPr indent="0" marL="0">
                        <a:buNone/>
                      </a:pPr>
                      <a:r>
                        <a:rPr lang="en-US" sz="960" dirty="0">
                          <a:solidFill>
                            <a:srgbClr val="12202E"/>
                          </a:solidFill>
                          <a:latin typeface="Calibri" pitchFamily="34" charset="0"/>
                          <a:ea typeface="Calibri" pitchFamily="34" charset="-122"/>
                          <a:cs typeface="Calibri" pitchFamily="34" charset="-120"/>
                        </a:rPr>
                        <a:t>Users are imaging researchers, model developers and domain experts reviewing errors. We do not claim a broad conflicting stakeholder landscape, because there isn't one.</a:t>
                      </a:r>
                      <a:endParaRPr lang="en-US" sz="96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3F6F9"/>
                    </a:solidFill>
                  </a:tcPr>
                </a:tc>
              </a:tr>
              <a:tr h="0">
                <a:tc>
                  <a:txBody>
                    <a:bodyPr/>
                    <a:lstStyle/>
                    <a:p>
                      <a:pPr indent="0" marL="0">
                        <a:buNone/>
                      </a:pPr>
                      <a:r>
                        <a:rPr lang="en-US" sz="960" dirty="0">
                          <a:solidFill>
                            <a:srgbClr val="12202E"/>
                          </a:solidFill>
                          <a:latin typeface="Calibri" pitchFamily="34" charset="0"/>
                          <a:ea typeface="Calibri" pitchFamily="34" charset="-122"/>
                          <a:cs typeface="Calibri" pitchFamily="34" charset="-120"/>
                        </a:rPr>
                        <a:t>7</a:t>
                      </a:r>
                      <a:endParaRPr lang="en-US" sz="96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FFFFF"/>
                    </a:solidFill>
                  </a:tcPr>
                </a:tc>
                <a:tc>
                  <a:txBody>
                    <a:bodyPr/>
                    <a:lstStyle/>
                    <a:p>
                      <a:pPr indent="0" marL="0">
                        <a:buNone/>
                      </a:pPr>
                      <a:r>
                        <a:rPr lang="en-US" sz="960" dirty="0">
                          <a:solidFill>
                            <a:srgbClr val="12202E"/>
                          </a:solidFill>
                          <a:latin typeface="Calibri" pitchFamily="34" charset="0"/>
                          <a:ea typeface="Calibri" pitchFamily="34" charset="-122"/>
                          <a:cs typeface="Calibri" pitchFamily="34" charset="-120"/>
                        </a:rPr>
                        <a:t>Significant consequences</a:t>
                      </a:r>
                      <a:endParaRPr lang="en-US" sz="96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FFFFF"/>
                    </a:solidFill>
                  </a:tcPr>
                </a:tc>
                <a:tc>
                  <a:txBody>
                    <a:bodyPr/>
                    <a:lstStyle/>
                    <a:p>
                      <a:pPr indent="0" marL="0">
                        <a:buNone/>
                      </a:pPr>
                      <a:r>
                        <a:rPr lang="en-US" sz="960" b="1" dirty="0">
                          <a:solidFill>
                            <a:srgbClr val="8A5A00"/>
                          </a:solidFill>
                          <a:latin typeface="Calibri" pitchFamily="34" charset="0"/>
                          <a:ea typeface="Calibri" pitchFamily="34" charset="-122"/>
                          <a:cs typeface="Calibri" pitchFamily="34" charset="-120"/>
                        </a:rPr>
                        <a:t>Moderate</a:t>
                      </a:r>
                      <a:endParaRPr lang="en-US" sz="96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FFFFF"/>
                    </a:solidFill>
                  </a:tcPr>
                </a:tc>
                <a:tc>
                  <a:txBody>
                    <a:bodyPr/>
                    <a:lstStyle/>
                    <a:p>
                      <a:pPr indent="0" marL="0">
                        <a:buNone/>
                      </a:pPr>
                      <a:r>
                        <a:rPr lang="en-US" sz="960" dirty="0">
                          <a:solidFill>
                            <a:srgbClr val="12202E"/>
                          </a:solidFill>
                          <a:latin typeface="Calibri" pitchFamily="34" charset="0"/>
                          <a:ea typeface="Calibri" pitchFamily="34" charset="-122"/>
                          <a:cs typeface="Calibri" pitchFamily="34" charset="-120"/>
                        </a:rPr>
                        <a:t>Over-confident predictions matter in a domain that may later inform clinical decisions, which is why uncertainty and failure are evaluated explicitly. No clinical validation is claimed.</a:t>
                      </a:r>
                      <a:endParaRPr lang="en-US" sz="96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FFFFF"/>
                    </a:solidFill>
                  </a:tcPr>
                </a:tc>
              </a:tr>
              <a:tr h="0">
                <a:tc>
                  <a:txBody>
                    <a:bodyPr/>
                    <a:lstStyle/>
                    <a:p>
                      <a:pPr indent="0" marL="0">
                        <a:buNone/>
                      </a:pPr>
                      <a:r>
                        <a:rPr lang="en-US" sz="960" dirty="0">
                          <a:solidFill>
                            <a:srgbClr val="12202E"/>
                          </a:solidFill>
                          <a:latin typeface="Calibri" pitchFamily="34" charset="0"/>
                          <a:ea typeface="Calibri" pitchFamily="34" charset="-122"/>
                          <a:cs typeface="Calibri" pitchFamily="34" charset="-120"/>
                        </a:rPr>
                        <a:t>8</a:t>
                      </a:r>
                      <a:endParaRPr lang="en-US" sz="96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3F6F9"/>
                    </a:solidFill>
                  </a:tcPr>
                </a:tc>
                <a:tc>
                  <a:txBody>
                    <a:bodyPr/>
                    <a:lstStyle/>
                    <a:p>
                      <a:pPr indent="0" marL="0">
                        <a:buNone/>
                      </a:pPr>
                      <a:r>
                        <a:rPr lang="en-US" sz="960" dirty="0">
                          <a:solidFill>
                            <a:srgbClr val="12202E"/>
                          </a:solidFill>
                          <a:latin typeface="Calibri" pitchFamily="34" charset="0"/>
                          <a:ea typeface="Calibri" pitchFamily="34" charset="-122"/>
                          <a:cs typeface="Calibri" pitchFamily="34" charset="-120"/>
                        </a:rPr>
                        <a:t>Interdependence</a:t>
                      </a:r>
                      <a:endParaRPr lang="en-US" sz="96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3F6F9"/>
                    </a:solidFill>
                  </a:tcPr>
                </a:tc>
                <a:tc>
                  <a:txBody>
                    <a:bodyPr/>
                    <a:lstStyle/>
                    <a:p>
                      <a:pPr indent="0" marL="0">
                        <a:buNone/>
                      </a:pPr>
                      <a:r>
                        <a:rPr lang="en-US" sz="960" b="1" dirty="0">
                          <a:solidFill>
                            <a:srgbClr val="2F6B34"/>
                          </a:solidFill>
                          <a:latin typeface="Calibri" pitchFamily="34" charset="0"/>
                          <a:ea typeface="Calibri" pitchFamily="34" charset="-122"/>
                          <a:cs typeface="Calibri" pitchFamily="34" charset="-120"/>
                        </a:rPr>
                        <a:t>Strong</a:t>
                      </a:r>
                      <a:endParaRPr lang="en-US" sz="96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3F6F9"/>
                    </a:solidFill>
                  </a:tcPr>
                </a:tc>
                <a:tc>
                  <a:txBody>
                    <a:bodyPr/>
                    <a:lstStyle/>
                    <a:p>
                      <a:pPr indent="0" marL="0">
                        <a:buNone/>
                      </a:pPr>
                      <a:r>
                        <a:rPr lang="en-US" sz="960" dirty="0">
                          <a:solidFill>
                            <a:srgbClr val="12202E"/>
                          </a:solidFill>
                          <a:latin typeface="Calibri" pitchFamily="34" charset="0"/>
                          <a:ea typeface="Calibri" pitchFamily="34" charset="-122"/>
                          <a:cs typeface="Calibri" pitchFamily="34" charset="-120"/>
                        </a:rPr>
                        <a:t>Report interpretation determines reliability, which determines the targets, which determine model behaviour, which is what the disagreement analysis inspects. No part can be solved alone.</a:t>
                      </a:r>
                      <a:endParaRPr lang="en-US" sz="96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3F6F9"/>
                    </a:solidFill>
                  </a:tcPr>
                </a:tc>
              </a:tr>
              <a:tr h="0">
                <a:tc>
                  <a:txBody>
                    <a:bodyPr/>
                    <a:lstStyle/>
                    <a:p>
                      <a:pPr indent="0" marL="0">
                        <a:buNone/>
                      </a:pPr>
                      <a:r>
                        <a:rPr lang="en-US" sz="960" dirty="0">
                          <a:solidFill>
                            <a:srgbClr val="12202E"/>
                          </a:solidFill>
                          <a:latin typeface="Calibri" pitchFamily="34" charset="0"/>
                          <a:ea typeface="Calibri" pitchFamily="34" charset="-122"/>
                          <a:cs typeface="Calibri" pitchFamily="34" charset="-120"/>
                        </a:rPr>
                        <a:t>9</a:t>
                      </a:r>
                      <a:endParaRPr lang="en-US" sz="96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FFFFF"/>
                    </a:solidFill>
                  </a:tcPr>
                </a:tc>
                <a:tc>
                  <a:txBody>
                    <a:bodyPr/>
                    <a:lstStyle/>
                    <a:p>
                      <a:pPr indent="0" marL="0">
                        <a:buNone/>
                      </a:pPr>
                      <a:r>
                        <a:rPr lang="en-US" sz="960" dirty="0">
                          <a:solidFill>
                            <a:srgbClr val="12202E"/>
                          </a:solidFill>
                          <a:latin typeface="Calibri" pitchFamily="34" charset="0"/>
                          <a:ea typeface="Calibri" pitchFamily="34" charset="-122"/>
                          <a:cs typeface="Calibri" pitchFamily="34" charset="-120"/>
                        </a:rPr>
                        <a:t>Ill-defined requirements or cause</a:t>
                      </a:r>
                      <a:endParaRPr lang="en-US" sz="96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FFFFF"/>
                    </a:solidFill>
                  </a:tcPr>
                </a:tc>
                <a:tc>
                  <a:txBody>
                    <a:bodyPr/>
                    <a:lstStyle/>
                    <a:p>
                      <a:pPr indent="0" marL="0">
                        <a:buNone/>
                      </a:pPr>
                      <a:r>
                        <a:rPr lang="en-US" sz="960" b="1" dirty="0">
                          <a:solidFill>
                            <a:srgbClr val="2F6B34"/>
                          </a:solidFill>
                          <a:latin typeface="Calibri" pitchFamily="34" charset="0"/>
                          <a:ea typeface="Calibri" pitchFamily="34" charset="-122"/>
                          <a:cs typeface="Calibri" pitchFamily="34" charset="-120"/>
                        </a:rPr>
                        <a:t>Strong</a:t>
                      </a:r>
                      <a:endParaRPr lang="en-US" sz="96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FFFFF"/>
                    </a:solidFill>
                  </a:tcPr>
                </a:tc>
                <a:tc>
                  <a:txBody>
                    <a:bodyPr/>
                    <a:lstStyle/>
                    <a:p>
                      <a:pPr indent="0" marL="0">
                        <a:buNone/>
                      </a:pPr>
                      <a:r>
                        <a:rPr lang="en-US" sz="960" dirty="0">
                          <a:solidFill>
                            <a:srgbClr val="12202E"/>
                          </a:solidFill>
                          <a:latin typeface="Calibri" pitchFamily="34" charset="0"/>
                          <a:ea typeface="Calibri" pitchFamily="34" charset="-122"/>
                          <a:cs typeface="Calibri" pitchFamily="34" charset="-120"/>
                        </a:rPr>
                        <a:t>Whether the noise is class-conditional or severity-dependent is unknown at the start. The POC and the planned experiments exist to reduce that uncertainty.</a:t>
                      </a:r>
                      <a:endParaRPr lang="en-US" sz="96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FFFFF"/>
                    </a:solidFill>
                  </a:tcPr>
                </a:tc>
              </a:tr>
            </a:tbl>
          </a:graphicData>
        </a:graphic>
      </p:graphicFrame>
      <p:sp>
        <p:nvSpPr>
          <p:cNvPr id="12" name="Shape 9"/>
          <p:cNvSpPr/>
          <p:nvPr/>
        </p:nvSpPr>
        <p:spPr>
          <a:xfrm>
            <a:off x="502920" y="5413248"/>
            <a:ext cx="5481069" cy="1190625"/>
          </a:xfrm>
          <a:prstGeom prst="roundRect">
            <a:avLst>
              <a:gd name="adj" fmla="val 3072"/>
            </a:avLst>
          </a:prstGeom>
          <a:solidFill>
            <a:srgbClr val="E7EFF7"/>
          </a:solidFill>
          <a:ln w="12700">
            <a:solidFill>
              <a:srgbClr val="1F4E79"/>
            </a:solidFill>
            <a:prstDash val="solid"/>
          </a:ln>
        </p:spPr>
      </p:sp>
      <p:sp>
        <p:nvSpPr>
          <p:cNvPr id="13" name="Text 10"/>
          <p:cNvSpPr txBox="1"/>
          <p:nvPr/>
        </p:nvSpPr>
        <p:spPr>
          <a:xfrm>
            <a:off x="667512" y="5532120"/>
            <a:ext cx="5151885" cy="256032"/>
          </a:xfrm>
          <a:prstGeom prst="rect">
            <a:avLst/>
          </a:prstGeom>
          <a:noFill/>
          <a:ln/>
        </p:spPr>
        <p:txBody>
          <a:bodyPr wrap="square" lIns="0" tIns="0" rIns="0" bIns="0" rtlCol="0" anchor="ctr"/>
          <a:lstStyle/>
          <a:p>
            <a:pPr indent="0" marL="0">
              <a:buNone/>
            </a:pPr>
            <a:r>
              <a:rPr lang="en-US" sz="1200" b="1" dirty="0">
                <a:solidFill>
                  <a:srgbClr val="1F4E79"/>
                </a:solidFill>
                <a:latin typeface="Calibri" pitchFamily="34" charset="0"/>
                <a:ea typeface="Calibri" pitchFamily="34" charset="-122"/>
                <a:cs typeface="Calibri" pitchFamily="34" charset="-120"/>
              </a:rPr>
              <a:t>Why this is not a course project</a:t>
            </a:r>
            <a:endParaRPr lang="en-US" sz="1200" dirty="0"/>
          </a:p>
        </p:txBody>
      </p:sp>
      <p:sp>
        <p:nvSpPr>
          <p:cNvPr id="14" name="Text 11"/>
          <p:cNvSpPr txBox="1"/>
          <p:nvPr/>
        </p:nvSpPr>
        <p:spPr>
          <a:xfrm>
            <a:off x="667512" y="5824728"/>
            <a:ext cx="5151885" cy="669417"/>
          </a:xfrm>
          <a:prstGeom prst="rect">
            <a:avLst/>
          </a:prstGeom>
          <a:noFill/>
          <a:ln/>
        </p:spPr>
        <p:txBody>
          <a:bodyPr wrap="square" lIns="0" tIns="0" rIns="0" bIns="0" rtlCol="0" anchor="t"/>
          <a:lstStyle/>
          <a:p>
            <a:pPr indent="0" marL="0">
              <a:lnSpc>
                <a:spcPct val="112000"/>
              </a:lnSpc>
              <a:buNone/>
            </a:pPr>
            <a:r>
              <a:rPr lang="en-US" sz="1150" dirty="0">
                <a:solidFill>
                  <a:srgbClr val="12202E"/>
                </a:solidFill>
                <a:latin typeface="Calibri" pitchFamily="34" charset="0"/>
                <a:ea typeface="Calibri" pitchFamily="34" charset="-122"/>
                <a:cs typeface="Calibri" pitchFamily="34" charset="-120"/>
              </a:rPr>
              <a:t>A course project trains a classifier on labels it is given. Here the labels are the research object — what they are worth has to be estimated, and no framework, template or documented procedure answers that.</a:t>
            </a:r>
            <a:endParaRPr lang="en-US" sz="1150" dirty="0"/>
          </a:p>
        </p:txBody>
      </p:sp>
      <p:sp>
        <p:nvSpPr>
          <p:cNvPr id="15" name="Shape 12"/>
          <p:cNvSpPr/>
          <p:nvPr/>
        </p:nvSpPr>
        <p:spPr>
          <a:xfrm>
            <a:off x="6207706" y="5413248"/>
            <a:ext cx="5481069" cy="1190625"/>
          </a:xfrm>
          <a:prstGeom prst="roundRect">
            <a:avLst>
              <a:gd name="adj" fmla="val 3072"/>
            </a:avLst>
          </a:prstGeom>
          <a:solidFill>
            <a:srgbClr val="F3F6F9"/>
          </a:solidFill>
          <a:ln w="12700">
            <a:solidFill>
              <a:srgbClr val="5A6875"/>
            </a:solidFill>
            <a:prstDash val="solid"/>
          </a:ln>
        </p:spPr>
      </p:sp>
      <p:sp>
        <p:nvSpPr>
          <p:cNvPr id="16" name="Text 13"/>
          <p:cNvSpPr txBox="1"/>
          <p:nvPr/>
        </p:nvSpPr>
        <p:spPr>
          <a:xfrm>
            <a:off x="6372298" y="5532120"/>
            <a:ext cx="5151885" cy="256032"/>
          </a:xfrm>
          <a:prstGeom prst="rect">
            <a:avLst/>
          </a:prstGeom>
          <a:noFill/>
          <a:ln/>
        </p:spPr>
        <p:txBody>
          <a:bodyPr wrap="square" lIns="0" tIns="0" rIns="0" bIns="0" rtlCol="0" anchor="ctr"/>
          <a:lstStyle/>
          <a:p>
            <a:pPr indent="0" marL="0">
              <a:buNone/>
            </a:pPr>
            <a:r>
              <a:rPr lang="en-US" sz="1200" b="1" dirty="0">
                <a:solidFill>
                  <a:srgbClr val="5A6875"/>
                </a:solidFill>
                <a:latin typeface="Calibri" pitchFamily="34" charset="0"/>
                <a:ea typeface="Calibri" pitchFamily="34" charset="-122"/>
                <a:cs typeface="Calibri" pitchFamily="34" charset="-120"/>
              </a:rPr>
              <a:t>We are not manufacturing complexity</a:t>
            </a:r>
            <a:endParaRPr lang="en-US" sz="1200" dirty="0"/>
          </a:p>
        </p:txBody>
      </p:sp>
      <p:sp>
        <p:nvSpPr>
          <p:cNvPr id="17" name="Text 14"/>
          <p:cNvSpPr txBox="1"/>
          <p:nvPr/>
        </p:nvSpPr>
        <p:spPr>
          <a:xfrm>
            <a:off x="6372298" y="5824728"/>
            <a:ext cx="5151885" cy="669417"/>
          </a:xfrm>
          <a:prstGeom prst="rect">
            <a:avLst/>
          </a:prstGeom>
          <a:noFill/>
          <a:ln/>
        </p:spPr>
        <p:txBody>
          <a:bodyPr wrap="square" lIns="0" tIns="0" rIns="0" bIns="0" rtlCol="0" anchor="t"/>
          <a:lstStyle/>
          <a:p>
            <a:pPr indent="0" marL="0">
              <a:lnSpc>
                <a:spcPct val="112000"/>
              </a:lnSpc>
              <a:buNone/>
            </a:pPr>
            <a:r>
              <a:rPr lang="en-US" sz="1150" dirty="0">
                <a:solidFill>
                  <a:srgbClr val="12202E"/>
                </a:solidFill>
                <a:latin typeface="Calibri" pitchFamily="34" charset="0"/>
                <a:ea typeface="Calibri" pitchFamily="34" charset="-122"/>
                <a:cs typeface="Calibri" pitchFamily="34" charset="-120"/>
              </a:rPr>
              <a:t>Characteristic 6 is marked weak because it is weak. The complexity comes from the dataset and the problem, not from added technologies, and we claim one central CCP rather than several unrelated ones.</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1F4E79"/>
          </a:solidFill>
          <a:ln/>
        </p:spPr>
      </p:sp>
      <p:sp>
        <p:nvSpPr>
          <p:cNvPr id="3" name="Shape 1"/>
          <p:cNvSpPr/>
          <p:nvPr/>
        </p:nvSpPr>
        <p:spPr>
          <a:xfrm>
            <a:off x="502920" y="283464"/>
            <a:ext cx="475488" cy="475488"/>
          </a:xfrm>
          <a:prstGeom prst="roundRect">
            <a:avLst>
              <a:gd name="adj" fmla="val 38462"/>
            </a:avLst>
          </a:prstGeom>
          <a:solidFill>
            <a:srgbClr val="1F4E79"/>
          </a:solidFill>
          <a:ln w="12700">
            <a:solidFill>
              <a:srgbClr val="1F4E79"/>
            </a:solidFill>
            <a:prstDash val="solid"/>
          </a:ln>
        </p:spPr>
      </p:sp>
      <p:sp>
        <p:nvSpPr>
          <p:cNvPr id="4" name="Text 2"/>
          <p:cNvSpPr txBox="1"/>
          <p:nvPr/>
        </p:nvSpPr>
        <p:spPr>
          <a:xfrm>
            <a:off x="502920" y="283464"/>
            <a:ext cx="475488" cy="475488"/>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6</a:t>
            </a:r>
            <a:endParaRPr lang="en-US" sz="1900" dirty="0"/>
          </a:p>
        </p:txBody>
      </p:sp>
      <p:sp>
        <p:nvSpPr>
          <p:cNvPr id="5" name="Text 3"/>
          <p:cNvSpPr txBox="1"/>
          <p:nvPr/>
        </p:nvSpPr>
        <p:spPr>
          <a:xfrm>
            <a:off x="502920" y="786384"/>
            <a:ext cx="475488" cy="182880"/>
          </a:xfrm>
          <a:prstGeom prst="rect">
            <a:avLst/>
          </a:prstGeom>
          <a:noFill/>
          <a:ln/>
        </p:spPr>
        <p:txBody>
          <a:bodyPr wrap="square" lIns="0" tIns="0" rIns="0" bIns="0" rtlCol="0" anchor="ctr"/>
          <a:lstStyle/>
          <a:p>
            <a:pPr algn="ctr" indent="0" marL="0">
              <a:buNone/>
            </a:pPr>
            <a:r>
              <a:rPr lang="en-US" sz="750" dirty="0">
                <a:solidFill>
                  <a:srgbClr val="9AA8B5"/>
                </a:solidFill>
                <a:latin typeface="Calibri" pitchFamily="34" charset="0"/>
                <a:ea typeface="Calibri" pitchFamily="34" charset="-122"/>
                <a:cs typeface="Calibri" pitchFamily="34" charset="-120"/>
              </a:rPr>
              <a:t>OF 10</a:t>
            </a:r>
            <a:endParaRPr lang="en-US" sz="750" dirty="0"/>
          </a:p>
        </p:txBody>
      </p:sp>
      <p:sp>
        <p:nvSpPr>
          <p:cNvPr id="6" name="Text 4"/>
          <p:cNvSpPr txBox="1"/>
          <p:nvPr/>
        </p:nvSpPr>
        <p:spPr>
          <a:xfrm>
            <a:off x="1124712" y="274320"/>
            <a:ext cx="9283903" cy="475488"/>
          </a:xfrm>
          <a:prstGeom prst="rect">
            <a:avLst/>
          </a:prstGeom>
          <a:noFill/>
          <a:ln/>
        </p:spPr>
        <p:txBody>
          <a:bodyPr wrap="square" lIns="0" tIns="0" rIns="0" bIns="0" rtlCol="0" anchor="ctr"/>
          <a:lstStyle/>
          <a:p>
            <a:pPr indent="0" marL="0">
              <a:buNone/>
            </a:pPr>
            <a:r>
              <a:rPr lang="en-US" sz="2500" b="1" dirty="0">
                <a:solidFill>
                  <a:srgbClr val="12202E"/>
                </a:solidFill>
                <a:latin typeface="Calibri" pitchFamily="34" charset="0"/>
                <a:ea typeface="Calibri" pitchFamily="34" charset="-122"/>
                <a:cs typeface="Calibri" pitchFamily="34" charset="-120"/>
              </a:rPr>
              <a:t>Proposed solution and contribution</a:t>
            </a:r>
            <a:endParaRPr lang="en-US" sz="2500" dirty="0"/>
          </a:p>
        </p:txBody>
      </p:sp>
      <p:sp>
        <p:nvSpPr>
          <p:cNvPr id="7" name="Text 5"/>
          <p:cNvSpPr txBox="1"/>
          <p:nvPr/>
        </p:nvSpPr>
        <p:spPr>
          <a:xfrm>
            <a:off x="1124712" y="768096"/>
            <a:ext cx="9283903" cy="310896"/>
          </a:xfrm>
          <a:prstGeom prst="rect">
            <a:avLst/>
          </a:prstGeom>
          <a:noFill/>
          <a:ln/>
        </p:spPr>
        <p:txBody>
          <a:bodyPr wrap="square" lIns="0" tIns="0" rIns="0" bIns="0" rtlCol="0" anchor="ctr"/>
          <a:lstStyle/>
          <a:p>
            <a:pPr indent="0" marL="0">
              <a:buNone/>
            </a:pPr>
            <a:r>
              <a:rPr lang="en-US" sz="1300" i="1" dirty="0">
                <a:solidFill>
                  <a:srgbClr val="5A6875"/>
                </a:solidFill>
                <a:latin typeface="Calibri" pitchFamily="34" charset="0"/>
                <a:ea typeface="Calibri" pitchFamily="34" charset="-122"/>
                <a:cs typeface="Calibri" pitchFamily="34" charset="-120"/>
              </a:rPr>
              <a:t>Architecture idea, main modules, and a clear contribution statement</a:t>
            </a:r>
            <a:endParaRPr lang="en-US" sz="1300" dirty="0"/>
          </a:p>
        </p:txBody>
      </p:sp>
      <p:sp>
        <p:nvSpPr>
          <p:cNvPr id="8" name="Shape 6"/>
          <p:cNvSpPr/>
          <p:nvPr/>
        </p:nvSpPr>
        <p:spPr>
          <a:xfrm>
            <a:off x="502920" y="1115568"/>
            <a:ext cx="11185855" cy="20117"/>
          </a:xfrm>
          <a:prstGeom prst="rect">
            <a:avLst/>
          </a:prstGeom>
          <a:solidFill>
            <a:srgbClr val="1F4E79"/>
          </a:solidFill>
          <a:ln/>
        </p:spPr>
      </p:sp>
      <p:sp>
        <p:nvSpPr>
          <p:cNvPr id="9" name="Text 7"/>
          <p:cNvSpPr txBox="1"/>
          <p:nvPr/>
        </p:nvSpPr>
        <p:spPr>
          <a:xfrm>
            <a:off x="502920" y="6473952"/>
            <a:ext cx="7315200" cy="237744"/>
          </a:xfrm>
          <a:prstGeom prst="rect">
            <a:avLst/>
          </a:prstGeom>
          <a:noFill/>
          <a:ln/>
        </p:spPr>
        <p:txBody>
          <a:bodyPr wrap="square" lIns="0" tIns="0" rIns="0" bIns="0" rtlCol="0" anchor="ctr"/>
          <a:lstStyle/>
          <a:p>
            <a:pPr indent="0" marL="0">
              <a:buNone/>
            </a:pPr>
            <a:r>
              <a:rPr lang="en-US" sz="950" dirty="0">
                <a:solidFill>
                  <a:srgbClr val="9AA8B5"/>
                </a:solidFill>
                <a:latin typeface="Calibri" pitchFamily="34" charset="0"/>
                <a:ea typeface="Calibri" pitchFamily="34" charset="-122"/>
                <a:cs typeface="Calibri" pitchFamily="34" charset="-120"/>
              </a:rPr>
              <a:t>KneeWS  ·  noise-aware weak supervision  ·  proposal defence</a:t>
            </a:r>
            <a:endParaRPr lang="en-US" sz="950" dirty="0"/>
          </a:p>
        </p:txBody>
      </p:sp>
      <p:sp>
        <p:nvSpPr>
          <p:cNvPr id="10" name="Text 8"/>
          <p:cNvSpPr txBox="1"/>
          <p:nvPr/>
        </p:nvSpPr>
        <p:spPr>
          <a:xfrm>
            <a:off x="11185855" y="6473952"/>
            <a:ext cx="502920" cy="237744"/>
          </a:xfrm>
          <a:prstGeom prst="rect">
            <a:avLst/>
          </a:prstGeom>
          <a:noFill/>
          <a:ln/>
        </p:spPr>
        <p:txBody>
          <a:bodyPr wrap="square" lIns="0" tIns="0" rIns="0" bIns="0" rtlCol="0" anchor="ctr"/>
          <a:lstStyle/>
          <a:p>
            <a:pPr algn="r" indent="0" marL="0">
              <a:buNone/>
            </a:pPr>
            <a:r>
              <a:rPr lang="en-US" sz="950" dirty="0">
                <a:solidFill>
                  <a:srgbClr val="9AA8B5"/>
                </a:solidFill>
                <a:latin typeface="Calibri" pitchFamily="34" charset="0"/>
                <a:ea typeface="Calibri" pitchFamily="34" charset="-122"/>
                <a:cs typeface="Calibri" pitchFamily="34" charset="-120"/>
              </a:rPr>
              <a:t>6</a:t>
            </a:r>
            <a:endParaRPr lang="en-US" sz="950" dirty="0"/>
          </a:p>
        </p:txBody>
      </p:sp>
      <p:sp>
        <p:nvSpPr>
          <p:cNvPr id="11" name="Shape 9"/>
          <p:cNvSpPr/>
          <p:nvPr/>
        </p:nvSpPr>
        <p:spPr>
          <a:xfrm>
            <a:off x="502920" y="1325880"/>
            <a:ext cx="11185855" cy="1709674"/>
          </a:xfrm>
          <a:prstGeom prst="roundRect">
            <a:avLst>
              <a:gd name="adj" fmla="val 2139"/>
            </a:avLst>
          </a:prstGeom>
          <a:solidFill>
            <a:srgbClr val="E7EFF7"/>
          </a:solidFill>
          <a:ln w="12700">
            <a:solidFill>
              <a:srgbClr val="1F4E79"/>
            </a:solidFill>
            <a:prstDash val="solid"/>
          </a:ln>
        </p:spPr>
      </p:sp>
      <p:sp>
        <p:nvSpPr>
          <p:cNvPr id="12" name="Text 10"/>
          <p:cNvSpPr txBox="1"/>
          <p:nvPr/>
        </p:nvSpPr>
        <p:spPr>
          <a:xfrm>
            <a:off x="667512" y="1444752"/>
            <a:ext cx="10856671" cy="256032"/>
          </a:xfrm>
          <a:prstGeom prst="rect">
            <a:avLst/>
          </a:prstGeom>
          <a:noFill/>
          <a:ln/>
        </p:spPr>
        <p:txBody>
          <a:bodyPr wrap="square" lIns="0" tIns="0" rIns="0" bIns="0" rtlCol="0" anchor="ctr"/>
          <a:lstStyle/>
          <a:p>
            <a:pPr indent="0" marL="0">
              <a:buNone/>
            </a:pPr>
            <a:r>
              <a:rPr lang="en-US" sz="1200" b="1" dirty="0">
                <a:solidFill>
                  <a:srgbClr val="1F4E79"/>
                </a:solidFill>
                <a:latin typeface="Calibri" pitchFamily="34" charset="0"/>
                <a:ea typeface="Calibri" pitchFamily="34" charset="-122"/>
                <a:cs typeface="Calibri" pitchFamily="34" charset="-120"/>
              </a:rPr>
              <a:t>Contribution statement</a:t>
            </a:r>
            <a:endParaRPr lang="en-US" sz="1200" dirty="0"/>
          </a:p>
        </p:txBody>
      </p:sp>
      <p:sp>
        <p:nvSpPr>
          <p:cNvPr id="13" name="Text 11"/>
          <p:cNvSpPr txBox="1"/>
          <p:nvPr/>
        </p:nvSpPr>
        <p:spPr>
          <a:xfrm>
            <a:off x="667512" y="1737360"/>
            <a:ext cx="10856671" cy="1188466"/>
          </a:xfrm>
          <a:prstGeom prst="rect">
            <a:avLst/>
          </a:prstGeom>
          <a:noFill/>
          <a:ln/>
        </p:spPr>
        <p:txBody>
          <a:bodyPr wrap="square" lIns="0" tIns="0" rIns="0" bIns="0" rtlCol="0" anchor="t"/>
          <a:lstStyle/>
          <a:p>
            <a:pPr indent="0" marL="0">
              <a:lnSpc>
                <a:spcPct val="112000"/>
              </a:lnSpc>
              <a:buNone/>
            </a:pPr>
            <a:r>
              <a:rPr lang="en-US" sz="1300" dirty="0">
                <a:solidFill>
                  <a:srgbClr val="12202E"/>
                </a:solidFill>
                <a:latin typeface="Calibri" pitchFamily="34" charset="0"/>
                <a:ea typeface="Calibri" pitchFamily="34" charset="-122"/>
                <a:cs typeface="Calibri" pitchFamily="34" charset="-120"/>
              </a:rPr>
              <a:t>Existing approaches perform well when report-derived labels are treated as correct, but remain weak when a finding is present and simply unmentioned — a condition worth about 43 percentage points of prevalence for synovitis in this dataset. We will contribute a per-finding, per-state reliability model that turns four-state report evidence into calibrated probabilistic training targets, through hierarchical partial pooling estimated on the expert-labelled subset, and evaluate it against hard pseudo-labelling under site-grouped cross-validation on macro AUC, worst-finding AUC, calibration error and per-finding omission rate.</a:t>
            </a:r>
            <a:endParaRPr lang="en-US" sz="1300" dirty="0"/>
          </a:p>
        </p:txBody>
      </p:sp>
      <p:pic>
        <p:nvPicPr>
          <p:cNvPr id="14" name="Image 0" descr="/home/claude/fyp/img/fig2_training_pipeline.png">    </p:cNvPr>
          <p:cNvPicPr>
            <a:picLocks noChangeAspect="1"/>
          </p:cNvPicPr>
          <p:nvPr/>
        </p:nvPicPr>
        <p:blipFill>
          <a:blip r:embed="rId1"/>
          <a:stretch>
            <a:fillRect/>
          </a:stretch>
        </p:blipFill>
        <p:spPr>
          <a:xfrm>
            <a:off x="1681039" y="2971800"/>
            <a:ext cx="5324723" cy="3246120"/>
          </a:xfrm>
          <a:prstGeom prst="rect">
            <a:avLst/>
          </a:prstGeom>
        </p:spPr>
      </p:pic>
      <p:sp>
        <p:nvSpPr>
          <p:cNvPr id="15" name="Shape 12"/>
          <p:cNvSpPr/>
          <p:nvPr/>
        </p:nvSpPr>
        <p:spPr>
          <a:xfrm>
            <a:off x="8366760" y="2971800"/>
            <a:ext cx="3322015" cy="1582039"/>
          </a:xfrm>
          <a:prstGeom prst="roundRect">
            <a:avLst>
              <a:gd name="adj" fmla="val 2312"/>
            </a:avLst>
          </a:prstGeom>
          <a:solidFill>
            <a:srgbClr val="F3F6F9"/>
          </a:solidFill>
          <a:ln w="12700">
            <a:solidFill>
              <a:srgbClr val="1F4E79"/>
            </a:solidFill>
            <a:prstDash val="solid"/>
          </a:ln>
        </p:spPr>
      </p:sp>
      <p:sp>
        <p:nvSpPr>
          <p:cNvPr id="16" name="Text 13"/>
          <p:cNvSpPr txBox="1"/>
          <p:nvPr/>
        </p:nvSpPr>
        <p:spPr>
          <a:xfrm>
            <a:off x="8531352" y="3090672"/>
            <a:ext cx="2992831" cy="256032"/>
          </a:xfrm>
          <a:prstGeom prst="rect">
            <a:avLst/>
          </a:prstGeom>
          <a:noFill/>
          <a:ln/>
        </p:spPr>
        <p:txBody>
          <a:bodyPr wrap="square" lIns="0" tIns="0" rIns="0" bIns="0" rtlCol="0" anchor="ctr"/>
          <a:lstStyle/>
          <a:p>
            <a:pPr indent="0" marL="0">
              <a:buNone/>
            </a:pPr>
            <a:r>
              <a:rPr lang="en-US" sz="1200" b="1" dirty="0">
                <a:solidFill>
                  <a:srgbClr val="1F4E79"/>
                </a:solidFill>
                <a:latin typeface="Calibri" pitchFamily="34" charset="0"/>
                <a:ea typeface="Calibri" pitchFamily="34" charset="-122"/>
                <a:cs typeface="Calibri" pitchFamily="34" charset="-120"/>
              </a:rPr>
              <a:t>Contribution types claimed</a:t>
            </a:r>
            <a:endParaRPr lang="en-US" sz="1200" dirty="0"/>
          </a:p>
        </p:txBody>
      </p:sp>
      <p:sp>
        <p:nvSpPr>
          <p:cNvPr id="17" name="Text 14"/>
          <p:cNvSpPr txBox="1"/>
          <p:nvPr/>
        </p:nvSpPr>
        <p:spPr>
          <a:xfrm>
            <a:off x="8531352" y="3383280"/>
            <a:ext cx="2992831" cy="1060831"/>
          </a:xfrm>
          <a:prstGeom prst="rect">
            <a:avLst/>
          </a:prstGeom>
          <a:noFill/>
          <a:ln/>
        </p:spPr>
        <p:txBody>
          <a:bodyPr wrap="square" lIns="0" tIns="0" rIns="0" bIns="0" rtlCol="0" anchor="t"/>
          <a:lstStyle/>
          <a:p>
            <a:pPr indent="0" marL="0">
              <a:lnSpc>
                <a:spcPct val="112000"/>
              </a:lnSpc>
              <a:buNone/>
            </a:pPr>
            <a:r>
              <a:rPr lang="en-US" sz="1150" dirty="0">
                <a:solidFill>
                  <a:srgbClr val="12202E"/>
                </a:solidFill>
                <a:latin typeface="Calibri" pitchFamily="34" charset="0"/>
                <a:ea typeface="Calibri" pitchFamily="34" charset="-122"/>
                <a:cs typeface="Calibri" pitchFamily="34" charset="-120"/>
              </a:rPr>
              <a:t>Method — the reliability estimator.</a:t>
            </a:r>
            <a:endParaRPr lang="en-US" sz="1150" dirty="0"/>
          </a:p>
          <a:p>
            <a:pPr indent="0" marL="0">
              <a:lnSpc>
                <a:spcPct val="112000"/>
              </a:lnSpc>
              <a:buNone/>
            </a:pPr>
            <a:r>
              <a:rPr lang="en-US" sz="1150" dirty="0">
                <a:solidFill>
                  <a:srgbClr val="12202E"/>
                </a:solidFill>
                <a:latin typeface="Calibri" pitchFamily="34" charset="0"/>
                <a:ea typeface="Calibri" pitchFamily="34" charset="-122"/>
                <a:cs typeface="Calibri" pitchFamily="34" charset="-120"/>
              </a:rPr>
              <a:t>Evaluation — the leakage-safe comparison and the omission measurement.</a:t>
            </a:r>
            <a:endParaRPr lang="en-US" sz="1150" dirty="0"/>
          </a:p>
          <a:p>
            <a:pPr indent="0" marL="0">
              <a:lnSpc>
                <a:spcPct val="112000"/>
              </a:lnSpc>
              <a:buNone/>
            </a:pPr>
            <a:r>
              <a:rPr lang="en-US" sz="1150" dirty="0">
                <a:solidFill>
                  <a:srgbClr val="12202E"/>
                </a:solidFill>
                <a:latin typeface="Calibri" pitchFamily="34" charset="0"/>
                <a:ea typeface="Calibri" pitchFamily="34" charset="-122"/>
                <a:cs typeface="Calibri" pitchFamily="34" charset="-120"/>
              </a:rPr>
              <a:t>Data — a four-state multilingual label set for 12 findings.</a:t>
            </a:r>
            <a:endParaRPr lang="en-US" sz="1150" dirty="0"/>
          </a:p>
        </p:txBody>
      </p:sp>
      <p:sp>
        <p:nvSpPr>
          <p:cNvPr id="18" name="Shape 15"/>
          <p:cNvSpPr/>
          <p:nvPr/>
        </p:nvSpPr>
        <p:spPr>
          <a:xfrm>
            <a:off x="8366760" y="4636008"/>
            <a:ext cx="3322015" cy="1582039"/>
          </a:xfrm>
          <a:prstGeom prst="roundRect">
            <a:avLst>
              <a:gd name="adj" fmla="val 2312"/>
            </a:avLst>
          </a:prstGeom>
          <a:solidFill>
            <a:srgbClr val="F9E7E7"/>
          </a:solidFill>
          <a:ln w="12700">
            <a:solidFill>
              <a:srgbClr val="8C2F2F"/>
            </a:solidFill>
            <a:prstDash val="solid"/>
          </a:ln>
        </p:spPr>
      </p:sp>
      <p:sp>
        <p:nvSpPr>
          <p:cNvPr id="19" name="Text 16"/>
          <p:cNvSpPr txBox="1"/>
          <p:nvPr/>
        </p:nvSpPr>
        <p:spPr>
          <a:xfrm>
            <a:off x="8531352" y="4754880"/>
            <a:ext cx="2992831" cy="256032"/>
          </a:xfrm>
          <a:prstGeom prst="rect">
            <a:avLst/>
          </a:prstGeom>
          <a:noFill/>
          <a:ln/>
        </p:spPr>
        <p:txBody>
          <a:bodyPr wrap="square" lIns="0" tIns="0" rIns="0" bIns="0" rtlCol="0" anchor="ctr"/>
          <a:lstStyle/>
          <a:p>
            <a:pPr indent="0" marL="0">
              <a:buNone/>
            </a:pPr>
            <a:r>
              <a:rPr lang="en-US" sz="1200" b="1" dirty="0">
                <a:solidFill>
                  <a:srgbClr val="8C2F2F"/>
                </a:solidFill>
                <a:latin typeface="Calibri" pitchFamily="34" charset="0"/>
                <a:ea typeface="Calibri" pitchFamily="34" charset="-122"/>
                <a:cs typeface="Calibri" pitchFamily="34" charset="-120"/>
              </a:rPr>
              <a:t>What we are NOT claiming</a:t>
            </a:r>
            <a:endParaRPr lang="en-US" sz="1200" dirty="0"/>
          </a:p>
        </p:txBody>
      </p:sp>
      <p:sp>
        <p:nvSpPr>
          <p:cNvPr id="20" name="Text 17"/>
          <p:cNvSpPr txBox="1"/>
          <p:nvPr/>
        </p:nvSpPr>
        <p:spPr>
          <a:xfrm>
            <a:off x="8531352" y="5047488"/>
            <a:ext cx="2992831" cy="1060831"/>
          </a:xfrm>
          <a:prstGeom prst="rect">
            <a:avLst/>
          </a:prstGeom>
          <a:noFill/>
          <a:ln/>
        </p:spPr>
        <p:txBody>
          <a:bodyPr wrap="square" lIns="0" tIns="0" rIns="0" bIns="0" rtlCol="0" anchor="t"/>
          <a:lstStyle/>
          <a:p>
            <a:pPr indent="0" marL="0">
              <a:lnSpc>
                <a:spcPct val="112000"/>
              </a:lnSpc>
              <a:buNone/>
            </a:pPr>
            <a:r>
              <a:rPr lang="en-US" sz="1150" dirty="0">
                <a:solidFill>
                  <a:srgbClr val="12202E"/>
                </a:solidFill>
                <a:latin typeface="Calibri" pitchFamily="34" charset="0"/>
                <a:ea typeface="Calibri" pitchFamily="34" charset="-122"/>
                <a:cs typeface="Calibri" pitchFamily="34" charset="-120"/>
              </a:rPr>
              <a:t>Not a new network architecture. Not a leaderboard win. Not clinical validation. The image model is deliberately conventional so that any measured difference is attributable to the labels.</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1F4E79"/>
          </a:solidFill>
          <a:ln/>
        </p:spPr>
      </p:sp>
      <p:sp>
        <p:nvSpPr>
          <p:cNvPr id="3" name="Shape 1"/>
          <p:cNvSpPr/>
          <p:nvPr/>
        </p:nvSpPr>
        <p:spPr>
          <a:xfrm>
            <a:off x="502920" y="283464"/>
            <a:ext cx="475488" cy="475488"/>
          </a:xfrm>
          <a:prstGeom prst="roundRect">
            <a:avLst>
              <a:gd name="adj" fmla="val 38462"/>
            </a:avLst>
          </a:prstGeom>
          <a:solidFill>
            <a:srgbClr val="1F4E79"/>
          </a:solidFill>
          <a:ln w="12700">
            <a:solidFill>
              <a:srgbClr val="1F4E79"/>
            </a:solidFill>
            <a:prstDash val="solid"/>
          </a:ln>
        </p:spPr>
      </p:sp>
      <p:sp>
        <p:nvSpPr>
          <p:cNvPr id="4" name="Text 2"/>
          <p:cNvSpPr txBox="1"/>
          <p:nvPr/>
        </p:nvSpPr>
        <p:spPr>
          <a:xfrm>
            <a:off x="502920" y="283464"/>
            <a:ext cx="475488" cy="475488"/>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7</a:t>
            </a:r>
            <a:endParaRPr lang="en-US" sz="1900" dirty="0"/>
          </a:p>
        </p:txBody>
      </p:sp>
      <p:sp>
        <p:nvSpPr>
          <p:cNvPr id="5" name="Text 3"/>
          <p:cNvSpPr txBox="1"/>
          <p:nvPr/>
        </p:nvSpPr>
        <p:spPr>
          <a:xfrm>
            <a:off x="502920" y="786384"/>
            <a:ext cx="475488" cy="182880"/>
          </a:xfrm>
          <a:prstGeom prst="rect">
            <a:avLst/>
          </a:prstGeom>
          <a:noFill/>
          <a:ln/>
        </p:spPr>
        <p:txBody>
          <a:bodyPr wrap="square" lIns="0" tIns="0" rIns="0" bIns="0" rtlCol="0" anchor="ctr"/>
          <a:lstStyle/>
          <a:p>
            <a:pPr algn="ctr" indent="0" marL="0">
              <a:buNone/>
            </a:pPr>
            <a:r>
              <a:rPr lang="en-US" sz="750" dirty="0">
                <a:solidFill>
                  <a:srgbClr val="9AA8B5"/>
                </a:solidFill>
                <a:latin typeface="Calibri" pitchFamily="34" charset="0"/>
                <a:ea typeface="Calibri" pitchFamily="34" charset="-122"/>
                <a:cs typeface="Calibri" pitchFamily="34" charset="-120"/>
              </a:rPr>
              <a:t>OF 10</a:t>
            </a:r>
            <a:endParaRPr lang="en-US" sz="750" dirty="0"/>
          </a:p>
        </p:txBody>
      </p:sp>
      <p:sp>
        <p:nvSpPr>
          <p:cNvPr id="6" name="Text 4"/>
          <p:cNvSpPr txBox="1"/>
          <p:nvPr/>
        </p:nvSpPr>
        <p:spPr>
          <a:xfrm>
            <a:off x="1124712" y="274320"/>
            <a:ext cx="9283903" cy="475488"/>
          </a:xfrm>
          <a:prstGeom prst="rect">
            <a:avLst/>
          </a:prstGeom>
          <a:noFill/>
          <a:ln/>
        </p:spPr>
        <p:txBody>
          <a:bodyPr wrap="square" lIns="0" tIns="0" rIns="0" bIns="0" rtlCol="0" anchor="ctr"/>
          <a:lstStyle/>
          <a:p>
            <a:pPr indent="0" marL="0">
              <a:buNone/>
            </a:pPr>
            <a:r>
              <a:rPr lang="en-US" sz="2500" b="1" dirty="0">
                <a:solidFill>
                  <a:srgbClr val="12202E"/>
                </a:solidFill>
                <a:latin typeface="Calibri" pitchFamily="34" charset="0"/>
                <a:ea typeface="Calibri" pitchFamily="34" charset="-122"/>
                <a:cs typeface="Calibri" pitchFamily="34" charset="-120"/>
              </a:rPr>
              <a:t>POC-lite / feasibility evidence</a:t>
            </a:r>
            <a:endParaRPr lang="en-US" sz="2500" dirty="0"/>
          </a:p>
        </p:txBody>
      </p:sp>
      <p:sp>
        <p:nvSpPr>
          <p:cNvPr id="7" name="Text 5"/>
          <p:cNvSpPr txBox="1"/>
          <p:nvPr/>
        </p:nvSpPr>
        <p:spPr>
          <a:xfrm>
            <a:off x="1124712" y="768096"/>
            <a:ext cx="9283903" cy="310896"/>
          </a:xfrm>
          <a:prstGeom prst="rect">
            <a:avLst/>
          </a:prstGeom>
          <a:noFill/>
          <a:ln/>
        </p:spPr>
        <p:txBody>
          <a:bodyPr wrap="square" lIns="0" tIns="0" rIns="0" bIns="0" rtlCol="0" anchor="ctr"/>
          <a:lstStyle/>
          <a:p>
            <a:pPr indent="0" marL="0">
              <a:buNone/>
            </a:pPr>
            <a:r>
              <a:rPr lang="en-US" sz="1300" i="1" dirty="0">
                <a:solidFill>
                  <a:srgbClr val="5A6875"/>
                </a:solidFill>
                <a:latin typeface="Calibri" pitchFamily="34" charset="0"/>
                <a:ea typeface="Calibri" pitchFamily="34" charset="-122"/>
                <a:cs typeface="Calibri" pitchFamily="34" charset="-120"/>
              </a:rPr>
              <a:t>The riskiest assumption, what we ran, what came back, and what it changed</a:t>
            </a:r>
            <a:endParaRPr lang="en-US" sz="1300" dirty="0"/>
          </a:p>
        </p:txBody>
      </p:sp>
      <p:sp>
        <p:nvSpPr>
          <p:cNvPr id="8" name="Shape 6"/>
          <p:cNvSpPr/>
          <p:nvPr/>
        </p:nvSpPr>
        <p:spPr>
          <a:xfrm>
            <a:off x="502920" y="1115568"/>
            <a:ext cx="11185855" cy="20117"/>
          </a:xfrm>
          <a:prstGeom prst="rect">
            <a:avLst/>
          </a:prstGeom>
          <a:solidFill>
            <a:srgbClr val="1F4E79"/>
          </a:solidFill>
          <a:ln/>
        </p:spPr>
      </p:sp>
      <p:sp>
        <p:nvSpPr>
          <p:cNvPr id="9" name="Text 7"/>
          <p:cNvSpPr txBox="1"/>
          <p:nvPr/>
        </p:nvSpPr>
        <p:spPr>
          <a:xfrm>
            <a:off x="502920" y="6473952"/>
            <a:ext cx="7315200" cy="237744"/>
          </a:xfrm>
          <a:prstGeom prst="rect">
            <a:avLst/>
          </a:prstGeom>
          <a:noFill/>
          <a:ln/>
        </p:spPr>
        <p:txBody>
          <a:bodyPr wrap="square" lIns="0" tIns="0" rIns="0" bIns="0" rtlCol="0" anchor="ctr"/>
          <a:lstStyle/>
          <a:p>
            <a:pPr indent="0" marL="0">
              <a:buNone/>
            </a:pPr>
            <a:r>
              <a:rPr lang="en-US" sz="950" dirty="0">
                <a:solidFill>
                  <a:srgbClr val="9AA8B5"/>
                </a:solidFill>
                <a:latin typeface="Calibri" pitchFamily="34" charset="0"/>
                <a:ea typeface="Calibri" pitchFamily="34" charset="-122"/>
                <a:cs typeface="Calibri" pitchFamily="34" charset="-120"/>
              </a:rPr>
              <a:t>KneeWS  ·  noise-aware weak supervision  ·  proposal defence</a:t>
            </a:r>
            <a:endParaRPr lang="en-US" sz="950" dirty="0"/>
          </a:p>
        </p:txBody>
      </p:sp>
      <p:sp>
        <p:nvSpPr>
          <p:cNvPr id="10" name="Text 8"/>
          <p:cNvSpPr txBox="1"/>
          <p:nvPr/>
        </p:nvSpPr>
        <p:spPr>
          <a:xfrm>
            <a:off x="11185855" y="6473952"/>
            <a:ext cx="502920" cy="237744"/>
          </a:xfrm>
          <a:prstGeom prst="rect">
            <a:avLst/>
          </a:prstGeom>
          <a:noFill/>
          <a:ln/>
        </p:spPr>
        <p:txBody>
          <a:bodyPr wrap="square" lIns="0" tIns="0" rIns="0" bIns="0" rtlCol="0" anchor="ctr"/>
          <a:lstStyle/>
          <a:p>
            <a:pPr algn="r" indent="0" marL="0">
              <a:buNone/>
            </a:pPr>
            <a:r>
              <a:rPr lang="en-US" sz="950" dirty="0">
                <a:solidFill>
                  <a:srgbClr val="9AA8B5"/>
                </a:solidFill>
                <a:latin typeface="Calibri" pitchFamily="34" charset="0"/>
                <a:ea typeface="Calibri" pitchFamily="34" charset="-122"/>
                <a:cs typeface="Calibri" pitchFamily="34" charset="-120"/>
              </a:rPr>
              <a:t>7</a:t>
            </a:r>
            <a:endParaRPr lang="en-US" sz="9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02920" y="1325880"/>
          <a:ext cx="11185855" cy="914400"/>
        </p:xfrm>
        <a:graphic>
          <a:graphicData uri="http://schemas.openxmlformats.org/drawingml/2006/table">
            <a:tbl>
              <a:tblPr/>
              <a:tblGrid>
                <a:gridCol w="1234440"/>
                <a:gridCol w="3337560"/>
                <a:gridCol w="3291840"/>
                <a:gridCol w="3319272"/>
              </a:tblGrid>
              <a:tr h="0">
                <a:tc>
                  <a:txBody>
                    <a:bodyPr/>
                    <a:lstStyle/>
                    <a:p>
                      <a:pPr indent="0" marL="0">
                        <a:buNone/>
                      </a:pPr>
                      <a:endParaRPr lang="en-US" sz="93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1F4E79"/>
                    </a:solidFill>
                  </a:tcPr>
                </a:tc>
                <a:tc>
                  <a:txBody>
                    <a:bodyPr/>
                    <a:lstStyle/>
                    <a:p>
                      <a:pPr indent="0" marL="0">
                        <a:buNone/>
                      </a:pPr>
                      <a:r>
                        <a:rPr lang="en-US" sz="930" b="1" dirty="0">
                          <a:solidFill>
                            <a:srgbClr val="FFFFFF"/>
                          </a:solidFill>
                          <a:latin typeface="Calibri" pitchFamily="34" charset="0"/>
                          <a:ea typeface="Calibri" pitchFamily="34" charset="-122"/>
                          <a:cs typeface="Calibri" pitchFamily="34" charset="-120"/>
                        </a:rPr>
                        <a:t>POC 1 — can the estimator work at all?</a:t>
                      </a:r>
                      <a:endParaRPr lang="en-US" sz="93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1F4E79"/>
                    </a:solidFill>
                  </a:tcPr>
                </a:tc>
                <a:tc>
                  <a:txBody>
                    <a:bodyPr/>
                    <a:lstStyle/>
                    <a:p>
                      <a:pPr indent="0" marL="0">
                        <a:buNone/>
                      </a:pPr>
                      <a:r>
                        <a:rPr lang="en-US" sz="930" b="1" dirty="0">
                          <a:solidFill>
                            <a:srgbClr val="FFFFFF"/>
                          </a:solidFill>
                          <a:latin typeface="Calibri" pitchFamily="34" charset="0"/>
                          <a:ea typeface="Calibri" pitchFamily="34" charset="-122"/>
                          <a:cs typeface="Calibri" pitchFamily="34" charset="-120"/>
                        </a:rPr>
                        <a:t>POC 2 — does the workflow hold together?</a:t>
                      </a:r>
                      <a:endParaRPr lang="en-US" sz="93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1F4E79"/>
                    </a:solidFill>
                  </a:tcPr>
                </a:tc>
                <a:tc>
                  <a:txBody>
                    <a:bodyPr/>
                    <a:lstStyle/>
                    <a:p>
                      <a:pPr indent="0" marL="0">
                        <a:buNone/>
                      </a:pPr>
                      <a:r>
                        <a:rPr lang="en-US" sz="930" b="1" dirty="0">
                          <a:solidFill>
                            <a:srgbClr val="FFFFFF"/>
                          </a:solidFill>
                          <a:latin typeface="Calibri" pitchFamily="34" charset="0"/>
                          <a:ea typeface="Calibri" pitchFamily="34" charset="-122"/>
                          <a:cs typeface="Calibri" pitchFamily="34" charset="-120"/>
                        </a:rPr>
                        <a:t>POC 3 — do the constraints permit it?</a:t>
                      </a:r>
                      <a:endParaRPr lang="en-US" sz="93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1F4E79"/>
                    </a:solidFill>
                  </a:tcPr>
                </a:tc>
              </a:tr>
              <a:tr h="0">
                <a:tc>
                  <a:txBody>
                    <a:bodyPr/>
                    <a:lstStyle/>
                    <a:p>
                      <a:pPr indent="0" marL="0">
                        <a:buNone/>
                      </a:pPr>
                      <a:r>
                        <a:rPr lang="en-US" sz="980" b="1" dirty="0">
                          <a:solidFill>
                            <a:srgbClr val="12202E"/>
                          </a:solidFill>
                          <a:latin typeface="Calibri" pitchFamily="34" charset="0"/>
                          <a:ea typeface="Calibri" pitchFamily="34" charset="-122"/>
                          <a:cs typeface="Calibri" pitchFamily="34" charset="-120"/>
                        </a:rPr>
                        <a:t>Risky assumption</a:t>
                      </a:r>
                      <a:endParaRPr lang="en-US" sz="98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FFFFF"/>
                    </a:solidFill>
                  </a:tcPr>
                </a:tc>
                <a:tc>
                  <a:txBody>
                    <a:bodyPr/>
                    <a:lstStyle/>
                    <a:p>
                      <a:pPr indent="0" marL="0">
                        <a:buNone/>
                      </a:pPr>
                      <a:r>
                        <a:rPr lang="en-US" sz="980" dirty="0">
                          <a:solidFill>
                            <a:srgbClr val="12202E"/>
                          </a:solidFill>
                          <a:latin typeface="Calibri" pitchFamily="34" charset="0"/>
                          <a:ea typeface="Calibri" pitchFamily="34" charset="-122"/>
                          <a:cs typeface="Calibri" pitchFamily="34" charset="-120"/>
                        </a:rPr>
                        <a:t>That 48 reliability quantities (12 findings × 4 states) can be estimated from 58 expert studies.</a:t>
                      </a:r>
                      <a:endParaRPr lang="en-US" sz="98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FFFFF"/>
                    </a:solidFill>
                  </a:tcPr>
                </a:tc>
                <a:tc>
                  <a:txBody>
                    <a:bodyPr/>
                    <a:lstStyle/>
                    <a:p>
                      <a:pPr indent="0" marL="0">
                        <a:buNone/>
                      </a:pPr>
                      <a:r>
                        <a:rPr lang="en-US" sz="980" dirty="0">
                          <a:solidFill>
                            <a:srgbClr val="12202E"/>
                          </a:solidFill>
                          <a:latin typeface="Calibri" pitchFamily="34" charset="0"/>
                          <a:ea typeface="Calibri" pitchFamily="34" charset="-122"/>
                          <a:cs typeface="Calibri" pitchFamily="34" charset="-120"/>
                        </a:rPr>
                        <a:t>That report labelling, reliability and image analysis can be one coherent product rather than three scripts.</a:t>
                      </a:r>
                      <a:endParaRPr lang="en-US" sz="98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FFFFF"/>
                    </a:solidFill>
                  </a:tcPr>
                </a:tc>
                <a:tc>
                  <a:txBody>
                    <a:bodyPr/>
                    <a:lstStyle/>
                    <a:p>
                      <a:pPr indent="0" marL="0">
                        <a:buNone/>
                      </a:pPr>
                      <a:r>
                        <a:rPr lang="en-US" sz="980" dirty="0">
                          <a:solidFill>
                            <a:srgbClr val="12202E"/>
                          </a:solidFill>
                          <a:latin typeface="Calibri" pitchFamily="34" charset="0"/>
                          <a:ea typeface="Calibri" pitchFamily="34" charset="-122"/>
                          <a:cs typeface="Calibri" pitchFamily="34" charset="-120"/>
                        </a:rPr>
                        <a:t>That 569 GB of DICOM can be processed on an 8 GB laptop GPU, within competition rules.</a:t>
                      </a:r>
                      <a:endParaRPr lang="en-US" sz="98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FFFFF"/>
                    </a:solidFill>
                  </a:tcPr>
                </a:tc>
              </a:tr>
              <a:tr h="0">
                <a:tc>
                  <a:txBody>
                    <a:bodyPr/>
                    <a:lstStyle/>
                    <a:p>
                      <a:pPr indent="0" marL="0">
                        <a:buNone/>
                      </a:pPr>
                      <a:r>
                        <a:rPr lang="en-US" sz="980" b="1" dirty="0">
                          <a:solidFill>
                            <a:srgbClr val="12202E"/>
                          </a:solidFill>
                          <a:latin typeface="Calibri" pitchFamily="34" charset="0"/>
                          <a:ea typeface="Calibri" pitchFamily="34" charset="-122"/>
                          <a:cs typeface="Calibri" pitchFamily="34" charset="-120"/>
                        </a:rPr>
                        <a:t>Input and setup</a:t>
                      </a:r>
                      <a:endParaRPr lang="en-US" sz="98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3F6F9"/>
                    </a:solidFill>
                  </a:tcPr>
                </a:tc>
                <a:tc>
                  <a:txBody>
                    <a:bodyPr/>
                    <a:lstStyle/>
                    <a:p>
                      <a:pPr indent="0" marL="0">
                        <a:buNone/>
                      </a:pPr>
                      <a:r>
                        <a:rPr lang="en-US" sz="980" dirty="0">
                          <a:solidFill>
                            <a:srgbClr val="12202E"/>
                          </a:solidFill>
                          <a:latin typeface="Calibri" pitchFamily="34" charset="0"/>
                          <a:ea typeface="Calibri" pitchFamily="34" charset="-122"/>
                          <a:cs typeface="Calibri" pitchFamily="34" charset="-120"/>
                        </a:rPr>
                        <a:t>58 × 12 = 696 finding-pairs, pooled to state level; partial-pooling arithmetic with intervals.</a:t>
                      </a:r>
                      <a:endParaRPr lang="en-US" sz="98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3F6F9"/>
                    </a:solidFill>
                  </a:tcPr>
                </a:tc>
                <a:tc>
                  <a:txBody>
                    <a:bodyPr/>
                    <a:lstStyle/>
                    <a:p>
                      <a:pPr indent="0" marL="0">
                        <a:buNone/>
                      </a:pPr>
                      <a:r>
                        <a:rPr lang="en-US" sz="980" dirty="0">
                          <a:solidFill>
                            <a:srgbClr val="12202E"/>
                          </a:solidFill>
                          <a:latin typeface="Calibri" pitchFamily="34" charset="0"/>
                          <a:ea typeface="Calibri" pitchFamily="34" charset="-122"/>
                          <a:cs typeface="Calibri" pitchFamily="34" charset="-120"/>
                        </a:rPr>
                        <a:t>Clickable high-fidelity prototype, 10 screens, synthetic demo data, hard vs noise-aware toggle.</a:t>
                      </a:r>
                      <a:endParaRPr lang="en-US" sz="98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3F6F9"/>
                    </a:solidFill>
                  </a:tcPr>
                </a:tc>
                <a:tc>
                  <a:txBody>
                    <a:bodyPr/>
                    <a:lstStyle/>
                    <a:p>
                      <a:pPr indent="0" marL="0">
                        <a:buNone/>
                      </a:pPr>
                      <a:r>
                        <a:rPr lang="en-US" sz="980" dirty="0">
                          <a:solidFill>
                            <a:srgbClr val="12202E"/>
                          </a:solidFill>
                          <a:latin typeface="Calibri" pitchFamily="34" charset="0"/>
                          <a:ea typeface="Calibri" pitchFamily="34" charset="-122"/>
                          <a:cs typeface="Calibri" pitchFamily="34" charset="-120"/>
                        </a:rPr>
                        <a:t>Rules review; two-stage 2.5D design with a frozen encoder and cached features.</a:t>
                      </a:r>
                      <a:endParaRPr lang="en-US" sz="98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3F6F9"/>
                    </a:solidFill>
                  </a:tcPr>
                </a:tc>
              </a:tr>
              <a:tr h="0">
                <a:tc>
                  <a:txBody>
                    <a:bodyPr/>
                    <a:lstStyle/>
                    <a:p>
                      <a:pPr indent="0" marL="0">
                        <a:buNone/>
                      </a:pPr>
                      <a:r>
                        <a:rPr lang="en-US" sz="980" b="1" dirty="0">
                          <a:solidFill>
                            <a:srgbClr val="12202E"/>
                          </a:solidFill>
                          <a:latin typeface="Calibri" pitchFamily="34" charset="0"/>
                          <a:ea typeface="Calibri" pitchFamily="34" charset="-122"/>
                          <a:cs typeface="Calibri" pitchFamily="34" charset="-120"/>
                        </a:rPr>
                        <a:t>Result</a:t>
                      </a:r>
                      <a:endParaRPr lang="en-US" sz="98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FFFFF"/>
                    </a:solidFill>
                  </a:tcPr>
                </a:tc>
                <a:tc>
                  <a:txBody>
                    <a:bodyPr/>
                    <a:lstStyle/>
                    <a:p>
                      <a:pPr indent="0" marL="0">
                        <a:buNone/>
                      </a:pPr>
                      <a:r>
                        <a:rPr lang="en-US" sz="980" b="1" dirty="0">
                          <a:solidFill>
                            <a:srgbClr val="12202E"/>
                          </a:solidFill>
                          <a:latin typeface="Calibri" pitchFamily="34" charset="0"/>
                          <a:ea typeface="Calibri" pitchFamily="34" charset="-122"/>
                          <a:cs typeface="Calibri" pitchFamily="34" charset="-120"/>
                        </a:rPr>
                        <a:t>Pooled state rules are estimable with usable intervals. Per-finding cells are not — the median cell holds ~14 pairs.</a:t>
                      </a:r>
                      <a:endParaRPr lang="en-US" sz="98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FFFFF"/>
                    </a:solidFill>
                  </a:tcPr>
                </a:tc>
                <a:tc>
                  <a:txBody>
                    <a:bodyPr/>
                    <a:lstStyle/>
                    <a:p>
                      <a:pPr indent="0" marL="0">
                        <a:buNone/>
                      </a:pPr>
                      <a:r>
                        <a:rPr lang="en-US" sz="980" dirty="0">
                          <a:solidFill>
                            <a:srgbClr val="12202E"/>
                          </a:solidFill>
                          <a:latin typeface="Calibri" pitchFamily="34" charset="0"/>
                          <a:ea typeface="Calibri" pitchFamily="34" charset="-122"/>
                          <a:cs typeface="Calibri" pitchFamily="34" charset="-120"/>
                        </a:rPr>
                        <a:t>End-to-end path runs: upload, analyse, draft report, refer; and the research path: label, estimate, compare, inspect.</a:t>
                      </a:r>
                      <a:endParaRPr lang="en-US" sz="98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FFFFF"/>
                    </a:solidFill>
                  </a:tcPr>
                </a:tc>
                <a:tc>
                  <a:txBody>
                    <a:bodyPr/>
                    <a:lstStyle/>
                    <a:p>
                      <a:pPr indent="0" marL="0">
                        <a:buNone/>
                      </a:pPr>
                      <a:r>
                        <a:rPr lang="en-US" sz="980" b="1" dirty="0">
                          <a:solidFill>
                            <a:srgbClr val="12202E"/>
                          </a:solidFill>
                          <a:latin typeface="Calibri" pitchFamily="34" charset="0"/>
                          <a:ea typeface="Calibri" pitchFamily="34" charset="-122"/>
                          <a:cs typeface="Calibri" pitchFamily="34" charset="-120"/>
                        </a:rPr>
                        <a:t>Hosted LLM APIs not permitted for report text. Feature caching moves head training to minutes on CPU.</a:t>
                      </a:r>
                      <a:endParaRPr lang="en-US" sz="98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FFFFF"/>
                    </a:solidFill>
                  </a:tcPr>
                </a:tc>
              </a:tr>
              <a:tr h="0">
                <a:tc>
                  <a:txBody>
                    <a:bodyPr/>
                    <a:lstStyle/>
                    <a:p>
                      <a:pPr indent="0" marL="0">
                        <a:buNone/>
                      </a:pPr>
                      <a:r>
                        <a:rPr lang="en-US" sz="980" b="1" dirty="0">
                          <a:solidFill>
                            <a:srgbClr val="1F4E79"/>
                          </a:solidFill>
                          <a:latin typeface="Calibri" pitchFamily="34" charset="0"/>
                          <a:ea typeface="Calibri" pitchFamily="34" charset="-122"/>
                          <a:cs typeface="Calibri" pitchFamily="34" charset="-120"/>
                        </a:rPr>
                        <a:t>What it changed</a:t>
                      </a:r>
                      <a:endParaRPr lang="en-US" sz="98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3F6F9"/>
                    </a:solidFill>
                  </a:tcPr>
                </a:tc>
                <a:tc>
                  <a:txBody>
                    <a:bodyPr/>
                    <a:lstStyle/>
                    <a:p>
                      <a:pPr indent="0" marL="0">
                        <a:buNone/>
                      </a:pPr>
                      <a:r>
                        <a:rPr lang="en-US" sz="980" b="1" dirty="0">
                          <a:solidFill>
                            <a:srgbClr val="1F4E79"/>
                          </a:solidFill>
                          <a:latin typeface="Calibri" pitchFamily="34" charset="0"/>
                          <a:ea typeface="Calibri" pitchFamily="34" charset="-122"/>
                          <a:cs typeface="Calibri" pitchFamily="34" charset="-120"/>
                        </a:rPr>
                        <a:t>Partial pooling became the committed design. Per-finding estimation was dropped from committed scope.</a:t>
                      </a:r>
                      <a:endParaRPr lang="en-US" sz="98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3F6F9"/>
                    </a:solidFill>
                  </a:tcPr>
                </a:tc>
                <a:tc>
                  <a:txBody>
                    <a:bodyPr/>
                    <a:lstStyle/>
                    <a:p>
                      <a:pPr indent="0" marL="0">
                        <a:buNone/>
                      </a:pPr>
                      <a:r>
                        <a:rPr lang="en-US" sz="980" b="1" dirty="0">
                          <a:solidFill>
                            <a:srgbClr val="1F4E79"/>
                          </a:solidFill>
                          <a:latin typeface="Calibri" pitchFamily="34" charset="0"/>
                          <a:ea typeface="Calibri" pitchFamily="34" charset="-122"/>
                          <a:cs typeface="Calibri" pitchFamily="34" charset="-120"/>
                        </a:rPr>
                        <a:t>Confirmed the ten registered features are one system; institution onboarding moved to optional extension.</a:t>
                      </a:r>
                      <a:endParaRPr lang="en-US" sz="98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3F6F9"/>
                    </a:solidFill>
                  </a:tcPr>
                </a:tc>
                <a:tc>
                  <a:txBody>
                    <a:bodyPr/>
                    <a:lstStyle/>
                    <a:p>
                      <a:pPr indent="0" marL="0">
                        <a:buNone/>
                      </a:pPr>
                      <a:r>
                        <a:rPr lang="en-US" sz="980" b="1" dirty="0">
                          <a:solidFill>
                            <a:srgbClr val="1F4E79"/>
                          </a:solidFill>
                          <a:latin typeface="Calibri" pitchFamily="34" charset="0"/>
                          <a:ea typeface="Calibri" pitchFamily="34" charset="-122"/>
                          <a:cs typeface="Calibri" pitchFamily="34" charset="-120"/>
                        </a:rPr>
                        <a:t>Open-weight in-notebook labeller became mandatory; 3D end-to-end training was ruled out.</a:t>
                      </a:r>
                      <a:endParaRPr lang="en-US" sz="98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3F6F9"/>
                    </a:solidFill>
                  </a:tcPr>
                </a:tc>
              </a:tr>
            </a:tbl>
          </a:graphicData>
        </a:graphic>
      </p:graphicFrame>
      <p:sp>
        <p:nvSpPr>
          <p:cNvPr id="12" name="Shape 9"/>
          <p:cNvSpPr/>
          <p:nvPr/>
        </p:nvSpPr>
        <p:spPr>
          <a:xfrm>
            <a:off x="2951108" y="3429000"/>
            <a:ext cx="2901135" cy="2020824"/>
          </a:xfrm>
          <a:prstGeom prst="rect">
            <a:avLst/>
          </a:prstGeom>
          <a:solidFill>
            <a:srgbClr val="C9D5E0"/>
          </a:solidFill>
          <a:ln w="12700">
            <a:solidFill>
              <a:srgbClr val="C9D5E0"/>
            </a:solidFill>
            <a:prstDash val="solid"/>
          </a:ln>
        </p:spPr>
      </p:sp>
      <p:pic>
        <p:nvPicPr>
          <p:cNvPr id="13" name="Image 0" descr="/home/claude/fyp/img/poc_rules.png">    </p:cNvPr>
          <p:cNvPicPr>
            <a:picLocks noChangeAspect="1"/>
          </p:cNvPicPr>
          <p:nvPr/>
        </p:nvPicPr>
        <p:blipFill>
          <a:blip r:embed="rId1"/>
          <a:stretch>
            <a:fillRect/>
          </a:stretch>
        </p:blipFill>
        <p:spPr>
          <a:xfrm>
            <a:off x="2978540" y="3456432"/>
            <a:ext cx="2846271" cy="1965960"/>
          </a:xfrm>
          <a:prstGeom prst="rect">
            <a:avLst/>
          </a:prstGeom>
        </p:spPr>
      </p:pic>
      <p:sp>
        <p:nvSpPr>
          <p:cNvPr id="14" name="Text 10"/>
          <p:cNvSpPr txBox="1"/>
          <p:nvPr/>
        </p:nvSpPr>
        <p:spPr>
          <a:xfrm>
            <a:off x="2749940" y="5495544"/>
            <a:ext cx="3303471" cy="274320"/>
          </a:xfrm>
          <a:prstGeom prst="rect">
            <a:avLst/>
          </a:prstGeom>
          <a:noFill/>
          <a:ln/>
        </p:spPr>
        <p:txBody>
          <a:bodyPr wrap="square" lIns="0" tIns="0" rIns="0" bIns="0" rtlCol="0" anchor="ctr"/>
          <a:lstStyle/>
          <a:p>
            <a:pPr algn="ctr" indent="0" marL="0">
              <a:buNone/>
            </a:pPr>
            <a:r>
              <a:rPr lang="en-US" sz="950" i="1" dirty="0">
                <a:solidFill>
                  <a:srgbClr val="5A6875"/>
                </a:solidFill>
                <a:latin typeface="Calibri" pitchFamily="34" charset="0"/>
                <a:ea typeface="Calibri" pitchFamily="34" charset="-122"/>
                <a:cs typeface="Calibri" pitchFamily="34" charset="-120"/>
              </a:rPr>
              <a:t>Reliability rules → probability labels: pooled rules with intervals</a:t>
            </a:r>
            <a:endParaRPr lang="en-US" sz="950" dirty="0"/>
          </a:p>
        </p:txBody>
      </p:sp>
      <p:sp>
        <p:nvSpPr>
          <p:cNvPr id="15" name="Shape 11"/>
          <p:cNvSpPr/>
          <p:nvPr/>
        </p:nvSpPr>
        <p:spPr>
          <a:xfrm>
            <a:off x="6254579" y="3429000"/>
            <a:ext cx="2986008" cy="2020824"/>
          </a:xfrm>
          <a:prstGeom prst="rect">
            <a:avLst/>
          </a:prstGeom>
          <a:solidFill>
            <a:srgbClr val="C9D5E0"/>
          </a:solidFill>
          <a:ln w="12700">
            <a:solidFill>
              <a:srgbClr val="C9D5E0"/>
            </a:solidFill>
            <a:prstDash val="solid"/>
          </a:ln>
        </p:spPr>
      </p:sp>
      <p:pic>
        <p:nvPicPr>
          <p:cNvPr id="16" name="Image 1" descr="/home/claude/fyp/img/poc_analysis.png">    </p:cNvPr>
          <p:cNvPicPr>
            <a:picLocks noChangeAspect="1"/>
          </p:cNvPicPr>
          <p:nvPr/>
        </p:nvPicPr>
        <p:blipFill>
          <a:blip r:embed="rId2"/>
          <a:stretch>
            <a:fillRect/>
          </a:stretch>
        </p:blipFill>
        <p:spPr>
          <a:xfrm>
            <a:off x="6282011" y="3456432"/>
            <a:ext cx="2931144" cy="1965960"/>
          </a:xfrm>
          <a:prstGeom prst="rect">
            <a:avLst/>
          </a:prstGeom>
        </p:spPr>
      </p:pic>
      <p:sp>
        <p:nvSpPr>
          <p:cNvPr id="17" name="Text 12"/>
          <p:cNvSpPr txBox="1"/>
          <p:nvPr/>
        </p:nvSpPr>
        <p:spPr>
          <a:xfrm>
            <a:off x="6053411" y="5495544"/>
            <a:ext cx="3388344" cy="274320"/>
          </a:xfrm>
          <a:prstGeom prst="rect">
            <a:avLst/>
          </a:prstGeom>
          <a:noFill/>
          <a:ln/>
        </p:spPr>
        <p:txBody>
          <a:bodyPr wrap="square" lIns="0" tIns="0" rIns="0" bIns="0" rtlCol="0" anchor="ctr"/>
          <a:lstStyle/>
          <a:p>
            <a:pPr algn="ctr" indent="0" marL="0">
              <a:buNone/>
            </a:pPr>
            <a:r>
              <a:rPr lang="en-US" sz="950" i="1" dirty="0">
                <a:solidFill>
                  <a:srgbClr val="5A6875"/>
                </a:solidFill>
                <a:latin typeface="Calibri" pitchFamily="34" charset="0"/>
                <a:ea typeface="Calibri" pitchFamily="34" charset="-122"/>
                <a:cs typeface="Calibri" pitchFamily="34" charset="-120"/>
              </a:rPr>
              <a:t>Abnormality analysis: twelve probabilities, with abstention</a:t>
            </a:r>
            <a:endParaRPr lang="en-US" sz="950" dirty="0"/>
          </a:p>
        </p:txBody>
      </p:sp>
      <p:sp>
        <p:nvSpPr>
          <p:cNvPr id="18" name="Shape 13"/>
          <p:cNvSpPr/>
          <p:nvPr/>
        </p:nvSpPr>
        <p:spPr>
          <a:xfrm>
            <a:off x="502920" y="5779008"/>
            <a:ext cx="11185855" cy="667004"/>
          </a:xfrm>
          <a:prstGeom prst="roundRect">
            <a:avLst>
              <a:gd name="adj" fmla="val 5484"/>
            </a:avLst>
          </a:prstGeom>
          <a:solidFill>
            <a:srgbClr val="F9E7E7"/>
          </a:solidFill>
          <a:ln w="12700">
            <a:solidFill>
              <a:srgbClr val="8C2F2F"/>
            </a:solidFill>
            <a:prstDash val="solid"/>
          </a:ln>
        </p:spPr>
      </p:sp>
      <p:sp>
        <p:nvSpPr>
          <p:cNvPr id="19" name="Text 14"/>
          <p:cNvSpPr txBox="1"/>
          <p:nvPr/>
        </p:nvSpPr>
        <p:spPr>
          <a:xfrm>
            <a:off x="667512" y="5897880"/>
            <a:ext cx="10856671" cy="438404"/>
          </a:xfrm>
          <a:prstGeom prst="rect">
            <a:avLst/>
          </a:prstGeom>
          <a:noFill/>
          <a:ln/>
        </p:spPr>
        <p:txBody>
          <a:bodyPr wrap="square" lIns="0" tIns="0" rIns="0" bIns="0" rtlCol="0" anchor="t"/>
          <a:lstStyle/>
          <a:p>
            <a:pPr indent="0" marL="0">
              <a:lnSpc>
                <a:spcPct val="112000"/>
              </a:lnSpc>
              <a:buNone/>
            </a:pPr>
            <a:r>
              <a:rPr lang="en-US" sz="1100" dirty="0">
                <a:solidFill>
                  <a:srgbClr val="12202E"/>
                </a:solidFill>
                <a:latin typeface="Calibri" pitchFamily="34" charset="0"/>
                <a:ea typeface="Calibri" pitchFamily="34" charset="-122"/>
                <a:cs typeface="Calibri" pitchFamily="34" charset="-120"/>
              </a:rPr>
              <a:t>Stated plainly: every number and scan in the prototype is synthetic, no image model has been trained yet, and the dataset figures are second-hand pending first-hand verification. What this POC establishes is feasibility and two design decisions — not results, and we say so before the panel has to ask.</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1F4E79"/>
          </a:solidFill>
          <a:ln/>
        </p:spPr>
      </p:sp>
      <p:sp>
        <p:nvSpPr>
          <p:cNvPr id="3" name="Shape 1"/>
          <p:cNvSpPr/>
          <p:nvPr/>
        </p:nvSpPr>
        <p:spPr>
          <a:xfrm>
            <a:off x="502920" y="283464"/>
            <a:ext cx="475488" cy="475488"/>
          </a:xfrm>
          <a:prstGeom prst="roundRect">
            <a:avLst>
              <a:gd name="adj" fmla="val 38462"/>
            </a:avLst>
          </a:prstGeom>
          <a:solidFill>
            <a:srgbClr val="1F4E79"/>
          </a:solidFill>
          <a:ln w="12700">
            <a:solidFill>
              <a:srgbClr val="1F4E79"/>
            </a:solidFill>
            <a:prstDash val="solid"/>
          </a:ln>
        </p:spPr>
      </p:sp>
      <p:sp>
        <p:nvSpPr>
          <p:cNvPr id="4" name="Text 2"/>
          <p:cNvSpPr txBox="1"/>
          <p:nvPr/>
        </p:nvSpPr>
        <p:spPr>
          <a:xfrm>
            <a:off x="502920" y="283464"/>
            <a:ext cx="475488" cy="475488"/>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8</a:t>
            </a:r>
            <a:endParaRPr lang="en-US" sz="1900" dirty="0"/>
          </a:p>
        </p:txBody>
      </p:sp>
      <p:sp>
        <p:nvSpPr>
          <p:cNvPr id="5" name="Text 3"/>
          <p:cNvSpPr txBox="1"/>
          <p:nvPr/>
        </p:nvSpPr>
        <p:spPr>
          <a:xfrm>
            <a:off x="502920" y="786384"/>
            <a:ext cx="475488" cy="182880"/>
          </a:xfrm>
          <a:prstGeom prst="rect">
            <a:avLst/>
          </a:prstGeom>
          <a:noFill/>
          <a:ln/>
        </p:spPr>
        <p:txBody>
          <a:bodyPr wrap="square" lIns="0" tIns="0" rIns="0" bIns="0" rtlCol="0" anchor="ctr"/>
          <a:lstStyle/>
          <a:p>
            <a:pPr algn="ctr" indent="0" marL="0">
              <a:buNone/>
            </a:pPr>
            <a:r>
              <a:rPr lang="en-US" sz="750" dirty="0">
                <a:solidFill>
                  <a:srgbClr val="9AA8B5"/>
                </a:solidFill>
                <a:latin typeface="Calibri" pitchFamily="34" charset="0"/>
                <a:ea typeface="Calibri" pitchFamily="34" charset="-122"/>
                <a:cs typeface="Calibri" pitchFamily="34" charset="-120"/>
              </a:rPr>
              <a:t>OF 10</a:t>
            </a:r>
            <a:endParaRPr lang="en-US" sz="750" dirty="0"/>
          </a:p>
        </p:txBody>
      </p:sp>
      <p:sp>
        <p:nvSpPr>
          <p:cNvPr id="6" name="Text 4"/>
          <p:cNvSpPr txBox="1"/>
          <p:nvPr/>
        </p:nvSpPr>
        <p:spPr>
          <a:xfrm>
            <a:off x="1124712" y="274320"/>
            <a:ext cx="9283903" cy="475488"/>
          </a:xfrm>
          <a:prstGeom prst="rect">
            <a:avLst/>
          </a:prstGeom>
          <a:noFill/>
          <a:ln/>
        </p:spPr>
        <p:txBody>
          <a:bodyPr wrap="square" lIns="0" tIns="0" rIns="0" bIns="0" rtlCol="0" anchor="ctr"/>
          <a:lstStyle/>
          <a:p>
            <a:pPr indent="0" marL="0">
              <a:buNone/>
            </a:pPr>
            <a:r>
              <a:rPr lang="en-US" sz="2500" b="1" dirty="0">
                <a:solidFill>
                  <a:srgbClr val="12202E"/>
                </a:solidFill>
                <a:latin typeface="Calibri" pitchFamily="34" charset="0"/>
                <a:ea typeface="Calibri" pitchFamily="34" charset="-122"/>
                <a:cs typeface="Calibri" pitchFamily="34" charset="-120"/>
              </a:rPr>
              <a:t>Evaluation plan and risks</a:t>
            </a:r>
            <a:endParaRPr lang="en-US" sz="2500" dirty="0"/>
          </a:p>
        </p:txBody>
      </p:sp>
      <p:sp>
        <p:nvSpPr>
          <p:cNvPr id="7" name="Text 5"/>
          <p:cNvSpPr txBox="1"/>
          <p:nvPr/>
        </p:nvSpPr>
        <p:spPr>
          <a:xfrm>
            <a:off x="1124712" y="768096"/>
            <a:ext cx="9283903" cy="310896"/>
          </a:xfrm>
          <a:prstGeom prst="rect">
            <a:avLst/>
          </a:prstGeom>
          <a:noFill/>
          <a:ln/>
        </p:spPr>
        <p:txBody>
          <a:bodyPr wrap="square" lIns="0" tIns="0" rIns="0" bIns="0" rtlCol="0" anchor="ctr"/>
          <a:lstStyle/>
          <a:p>
            <a:pPr indent="0" marL="0">
              <a:buNone/>
            </a:pPr>
            <a:r>
              <a:rPr lang="en-US" sz="1300" i="1" dirty="0">
                <a:solidFill>
                  <a:srgbClr val="5A6875"/>
                </a:solidFill>
                <a:latin typeface="Calibri" pitchFamily="34" charset="0"/>
                <a:ea typeface="Calibri" pitchFamily="34" charset="-122"/>
                <a:cs typeface="Calibri" pitchFamily="34" charset="-120"/>
              </a:rPr>
              <a:t>How success will be measured; risks, dependencies, and the tool / API / GenAI boundary</a:t>
            </a:r>
            <a:endParaRPr lang="en-US" sz="1300" dirty="0"/>
          </a:p>
        </p:txBody>
      </p:sp>
      <p:sp>
        <p:nvSpPr>
          <p:cNvPr id="8" name="Shape 6"/>
          <p:cNvSpPr/>
          <p:nvPr/>
        </p:nvSpPr>
        <p:spPr>
          <a:xfrm>
            <a:off x="502920" y="1115568"/>
            <a:ext cx="11185855" cy="20117"/>
          </a:xfrm>
          <a:prstGeom prst="rect">
            <a:avLst/>
          </a:prstGeom>
          <a:solidFill>
            <a:srgbClr val="1F4E79"/>
          </a:solidFill>
          <a:ln/>
        </p:spPr>
      </p:sp>
      <p:sp>
        <p:nvSpPr>
          <p:cNvPr id="9" name="Text 7"/>
          <p:cNvSpPr txBox="1"/>
          <p:nvPr/>
        </p:nvSpPr>
        <p:spPr>
          <a:xfrm>
            <a:off x="502920" y="6473952"/>
            <a:ext cx="7315200" cy="237744"/>
          </a:xfrm>
          <a:prstGeom prst="rect">
            <a:avLst/>
          </a:prstGeom>
          <a:noFill/>
          <a:ln/>
        </p:spPr>
        <p:txBody>
          <a:bodyPr wrap="square" lIns="0" tIns="0" rIns="0" bIns="0" rtlCol="0" anchor="ctr"/>
          <a:lstStyle/>
          <a:p>
            <a:pPr indent="0" marL="0">
              <a:buNone/>
            </a:pPr>
            <a:r>
              <a:rPr lang="en-US" sz="950" dirty="0">
                <a:solidFill>
                  <a:srgbClr val="9AA8B5"/>
                </a:solidFill>
                <a:latin typeface="Calibri" pitchFamily="34" charset="0"/>
                <a:ea typeface="Calibri" pitchFamily="34" charset="-122"/>
                <a:cs typeface="Calibri" pitchFamily="34" charset="-120"/>
              </a:rPr>
              <a:t>KneeWS  ·  noise-aware weak supervision  ·  proposal defence</a:t>
            </a:r>
            <a:endParaRPr lang="en-US" sz="950" dirty="0"/>
          </a:p>
        </p:txBody>
      </p:sp>
      <p:sp>
        <p:nvSpPr>
          <p:cNvPr id="10" name="Text 8"/>
          <p:cNvSpPr txBox="1"/>
          <p:nvPr/>
        </p:nvSpPr>
        <p:spPr>
          <a:xfrm>
            <a:off x="11185855" y="6473952"/>
            <a:ext cx="502920" cy="237744"/>
          </a:xfrm>
          <a:prstGeom prst="rect">
            <a:avLst/>
          </a:prstGeom>
          <a:noFill/>
          <a:ln/>
        </p:spPr>
        <p:txBody>
          <a:bodyPr wrap="square" lIns="0" tIns="0" rIns="0" bIns="0" rtlCol="0" anchor="ctr"/>
          <a:lstStyle/>
          <a:p>
            <a:pPr algn="r" indent="0" marL="0">
              <a:buNone/>
            </a:pPr>
            <a:r>
              <a:rPr lang="en-US" sz="950" dirty="0">
                <a:solidFill>
                  <a:srgbClr val="9AA8B5"/>
                </a:solidFill>
                <a:latin typeface="Calibri" pitchFamily="34" charset="0"/>
                <a:ea typeface="Calibri" pitchFamily="34" charset="-122"/>
                <a:cs typeface="Calibri" pitchFamily="34" charset="-120"/>
              </a:rPr>
              <a:t>8</a:t>
            </a:r>
            <a:endParaRPr lang="en-US" sz="9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02920" y="1325880"/>
          <a:ext cx="11185855" cy="914400"/>
        </p:xfrm>
        <a:graphic>
          <a:graphicData uri="http://schemas.openxmlformats.org/drawingml/2006/table">
            <a:tbl>
              <a:tblPr/>
              <a:tblGrid>
                <a:gridCol w="2606040"/>
                <a:gridCol w="8577072"/>
              </a:tblGrid>
              <a:tr h="0">
                <a:tc>
                  <a:txBody>
                    <a:bodyPr/>
                    <a:lstStyle/>
                    <a:p>
                      <a:pPr indent="0" marL="0">
                        <a:buNone/>
                      </a:pPr>
                      <a:r>
                        <a:rPr lang="en-US" sz="910" b="1" dirty="0">
                          <a:solidFill>
                            <a:srgbClr val="FFFFFF"/>
                          </a:solidFill>
                          <a:latin typeface="Calibri" pitchFamily="34" charset="0"/>
                          <a:ea typeface="Calibri" pitchFamily="34" charset="-122"/>
                          <a:cs typeface="Calibri" pitchFamily="34" charset="-120"/>
                        </a:rPr>
                        <a:t>Evaluation question</a:t>
                      </a:r>
                      <a:endParaRPr lang="en-US" sz="91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1F4E79"/>
                    </a:solidFill>
                  </a:tcPr>
                </a:tc>
                <a:tc>
                  <a:txBody>
                    <a:bodyPr/>
                    <a:lstStyle/>
                    <a:p>
                      <a:pPr indent="0" marL="0">
                        <a:buNone/>
                      </a:pPr>
                      <a:r>
                        <a:rPr lang="en-US" sz="910" b="1" dirty="0">
                          <a:solidFill>
                            <a:srgbClr val="FFFFFF"/>
                          </a:solidFill>
                          <a:latin typeface="Calibri" pitchFamily="34" charset="0"/>
                          <a:ea typeface="Calibri" pitchFamily="34" charset="-122"/>
                          <a:cs typeface="Calibri" pitchFamily="34" charset="-120"/>
                        </a:rPr>
                        <a:t>Our answer</a:t>
                      </a:r>
                      <a:endParaRPr lang="en-US" sz="91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1F4E79"/>
                    </a:solidFill>
                  </a:tcPr>
                </a:tc>
              </a:tr>
              <a:tr h="0">
                <a:tc>
                  <a:txBody>
                    <a:bodyPr/>
                    <a:lstStyle/>
                    <a:p>
                      <a:pPr indent="0" marL="0">
                        <a:buNone/>
                      </a:pPr>
                      <a:r>
                        <a:rPr lang="en-US" sz="960" b="1" dirty="0">
                          <a:solidFill>
                            <a:srgbClr val="12202E"/>
                          </a:solidFill>
                          <a:latin typeface="Calibri" pitchFamily="34" charset="0"/>
                          <a:ea typeface="Calibri" pitchFamily="34" charset="-122"/>
                          <a:cs typeface="Calibri" pitchFamily="34" charset="-120"/>
                        </a:rPr>
                        <a:t>What is the baseline?</a:t>
                      </a:r>
                      <a:endParaRPr lang="en-US" sz="96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FFFFF"/>
                    </a:solidFill>
                  </a:tcPr>
                </a:tc>
                <a:tc>
                  <a:txBody>
                    <a:bodyPr/>
                    <a:lstStyle/>
                    <a:p>
                      <a:pPr indent="0" marL="0">
                        <a:buNone/>
                      </a:pPr>
                      <a:r>
                        <a:rPr lang="en-US" sz="960" dirty="0">
                          <a:solidFill>
                            <a:srgbClr val="12202E"/>
                          </a:solidFill>
                          <a:latin typeface="Calibri" pitchFamily="34" charset="0"/>
                          <a:ea typeface="Calibri" pitchFamily="34" charset="-122"/>
                          <a:cs typeface="Calibri" pitchFamily="34" charset="-120"/>
                        </a:rPr>
                        <a:t>Hard pseudo-labelling with unmentioned treated as absent — the approach behind the public 0.891 baseline. Further arms: uncertainty heuristics, MAPLEZ-style verbalised probability, and gold-free confident learning.</a:t>
                      </a:r>
                      <a:endParaRPr lang="en-US" sz="96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FFFFF"/>
                    </a:solidFill>
                  </a:tcPr>
                </a:tc>
              </a:tr>
              <a:tr h="0">
                <a:tc>
                  <a:txBody>
                    <a:bodyPr/>
                    <a:lstStyle/>
                    <a:p>
                      <a:pPr indent="0" marL="0">
                        <a:buNone/>
                      </a:pPr>
                      <a:r>
                        <a:rPr lang="en-US" sz="960" b="1" dirty="0">
                          <a:solidFill>
                            <a:srgbClr val="12202E"/>
                          </a:solidFill>
                          <a:latin typeface="Calibri" pitchFamily="34" charset="0"/>
                          <a:ea typeface="Calibri" pitchFamily="34" charset="-122"/>
                          <a:cs typeface="Calibri" pitchFamily="34" charset="-120"/>
                        </a:rPr>
                        <a:t>What data and cases?</a:t>
                      </a:r>
                      <a:endParaRPr lang="en-US" sz="96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3F6F9"/>
                    </a:solidFill>
                  </a:tcPr>
                </a:tc>
                <a:tc>
                  <a:txBody>
                    <a:bodyPr/>
                    <a:lstStyle/>
                    <a:p>
                      <a:pPr indent="0" marL="0">
                        <a:buNone/>
                      </a:pPr>
                      <a:r>
                        <a:rPr lang="en-US" sz="960" dirty="0">
                          <a:solidFill>
                            <a:srgbClr val="12202E"/>
                          </a:solidFill>
                          <a:latin typeface="Calibri" pitchFamily="34" charset="0"/>
                          <a:ea typeface="Calibri" pitchFamily="34" charset="-122"/>
                          <a:cs typeface="Calibri" pitchFamily="34" charset="-120"/>
                        </a:rPr>
                        <a:t>4,349 report-only studies for training; 58 expert-labelled studies held for validation; site-grouped 5-fold cross-validation, because random folds inflate AUC by about +0.053 here.</a:t>
                      </a:r>
                      <a:endParaRPr lang="en-US" sz="96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3F6F9"/>
                    </a:solidFill>
                  </a:tcPr>
                </a:tc>
              </a:tr>
              <a:tr h="0">
                <a:tc>
                  <a:txBody>
                    <a:bodyPr/>
                    <a:lstStyle/>
                    <a:p>
                      <a:pPr indent="0" marL="0">
                        <a:buNone/>
                      </a:pPr>
                      <a:r>
                        <a:rPr lang="en-US" sz="960" b="1" dirty="0">
                          <a:solidFill>
                            <a:srgbClr val="12202E"/>
                          </a:solidFill>
                          <a:latin typeface="Calibri" pitchFamily="34" charset="0"/>
                          <a:ea typeface="Calibri" pitchFamily="34" charset="-122"/>
                          <a:cs typeface="Calibri" pitchFamily="34" charset="-120"/>
                        </a:rPr>
                        <a:t>What metrics?</a:t>
                      </a:r>
                      <a:endParaRPr lang="en-US" sz="96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FFFFF"/>
                    </a:solidFill>
                  </a:tcPr>
                </a:tc>
                <a:tc>
                  <a:txBody>
                    <a:bodyPr/>
                    <a:lstStyle/>
                    <a:p>
                      <a:pPr indent="0" marL="0">
                        <a:buNone/>
                      </a:pPr>
                      <a:r>
                        <a:rPr lang="en-US" sz="960" dirty="0">
                          <a:solidFill>
                            <a:srgbClr val="12202E"/>
                          </a:solidFill>
                          <a:latin typeface="Calibri" pitchFamily="34" charset="0"/>
                          <a:ea typeface="Calibri" pitchFamily="34" charset="-122"/>
                          <a:cs typeface="Calibri" pitchFamily="34" charset="-120"/>
                        </a:rPr>
                        <a:t>Macro AUC across the twelve findings (the competition metric); worst-finding AUC; calibration error on the expert set; per-finding omission estimate; per-language noise profile.</a:t>
                      </a:r>
                      <a:endParaRPr lang="en-US" sz="96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FFFFF"/>
                    </a:solidFill>
                  </a:tcPr>
                </a:tc>
              </a:tr>
              <a:tr h="0">
                <a:tc>
                  <a:txBody>
                    <a:bodyPr/>
                    <a:lstStyle/>
                    <a:p>
                      <a:pPr indent="0" marL="0">
                        <a:buNone/>
                      </a:pPr>
                      <a:r>
                        <a:rPr lang="en-US" sz="960" b="1" dirty="0">
                          <a:solidFill>
                            <a:srgbClr val="12202E"/>
                          </a:solidFill>
                          <a:latin typeface="Calibri" pitchFamily="34" charset="0"/>
                          <a:ea typeface="Calibri" pitchFamily="34" charset="-122"/>
                          <a:cs typeface="Calibri" pitchFamily="34" charset="-120"/>
                        </a:rPr>
                        <a:t>Measurable non-functional criterion</a:t>
                      </a:r>
                      <a:endParaRPr lang="en-US" sz="96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3F6F9"/>
                    </a:solidFill>
                  </a:tcPr>
                </a:tc>
                <a:tc>
                  <a:txBody>
                    <a:bodyPr/>
                    <a:lstStyle/>
                    <a:p>
                      <a:pPr indent="0" marL="0">
                        <a:buNone/>
                      </a:pPr>
                      <a:r>
                        <a:rPr lang="en-US" sz="960" dirty="0">
                          <a:solidFill>
                            <a:srgbClr val="12202E"/>
                          </a:solidFill>
                          <a:latin typeface="Calibri" pitchFamily="34" charset="0"/>
                          <a:ea typeface="Calibri" pitchFamily="34" charset="-122"/>
                          <a:cs typeface="Calibri" pitchFamily="34" charset="-120"/>
                        </a:rPr>
                        <a:t>Inference on a new study within 60 seconds on an 8 GB GPU; the full offline pipeline inside the 9-hour notebook budget.</a:t>
                      </a:r>
                      <a:endParaRPr lang="en-US" sz="96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3F6F9"/>
                    </a:solidFill>
                  </a:tcPr>
                </a:tc>
              </a:tr>
              <a:tr h="0">
                <a:tc>
                  <a:txBody>
                    <a:bodyPr/>
                    <a:lstStyle/>
                    <a:p>
                      <a:pPr indent="0" marL="0">
                        <a:buNone/>
                      </a:pPr>
                      <a:r>
                        <a:rPr lang="en-US" sz="960" b="1" dirty="0">
                          <a:solidFill>
                            <a:srgbClr val="12202E"/>
                          </a:solidFill>
                          <a:latin typeface="Calibri" pitchFamily="34" charset="0"/>
                          <a:ea typeface="Calibri" pitchFamily="34" charset="-122"/>
                          <a:cs typeface="Calibri" pitchFamily="34" charset="-120"/>
                        </a:rPr>
                        <a:t>Which failure cases matter?</a:t>
                      </a:r>
                      <a:endParaRPr lang="en-US" sz="96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FFFFF"/>
                    </a:solidFill>
                  </a:tcPr>
                </a:tc>
                <a:tc>
                  <a:txBody>
                    <a:bodyPr/>
                    <a:lstStyle/>
                    <a:p>
                      <a:pPr indent="0" marL="0">
                        <a:buNone/>
                      </a:pPr>
                      <a:r>
                        <a:rPr lang="en-US" sz="960" dirty="0">
                          <a:solidFill>
                            <a:srgbClr val="12202E"/>
                          </a:solidFill>
                          <a:latin typeface="Calibri" pitchFamily="34" charset="0"/>
                          <a:ea typeface="Calibri" pitchFamily="34" charset="-122"/>
                          <a:cs typeface="Calibri" pitchFamily="34" charset="-120"/>
                        </a:rPr>
                        <a:t>Rare findings with thin counts; synovitis, where the model may be blind to what it must detect; severity-dependent omission; any site leakage surviving fold construction.</a:t>
                      </a:r>
                      <a:endParaRPr lang="en-US" sz="96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FFFFF"/>
                    </a:solidFill>
                  </a:tcPr>
                </a:tc>
              </a:tr>
              <a:tr h="0">
                <a:tc>
                  <a:txBody>
                    <a:bodyPr/>
                    <a:lstStyle/>
                    <a:p>
                      <a:pPr indent="0" marL="0">
                        <a:buNone/>
                      </a:pPr>
                      <a:r>
                        <a:rPr lang="en-US" sz="960" b="1" dirty="0">
                          <a:solidFill>
                            <a:srgbClr val="12202E"/>
                          </a:solidFill>
                          <a:latin typeface="Calibri" pitchFamily="34" charset="0"/>
                          <a:ea typeface="Calibri" pitchFamily="34" charset="-122"/>
                          <a:cs typeface="Calibri" pitchFamily="34" charset="-120"/>
                        </a:rPr>
                        <a:t>What can the evidence support?</a:t>
                      </a:r>
                      <a:endParaRPr lang="en-US" sz="96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3F6F9"/>
                    </a:solidFill>
                  </a:tcPr>
                </a:tc>
                <a:tc>
                  <a:txBody>
                    <a:bodyPr/>
                    <a:lstStyle/>
                    <a:p>
                      <a:pPr indent="0" marL="0">
                        <a:buNone/>
                      </a:pPr>
                      <a:r>
                        <a:rPr lang="en-US" sz="960" b="1" dirty="0">
                          <a:solidFill>
                            <a:srgbClr val="12202E"/>
                          </a:solidFill>
                          <a:latin typeface="Calibri" pitchFamily="34" charset="0"/>
                          <a:ea typeface="Calibri" pitchFamily="34" charset="-122"/>
                          <a:cs typeface="Calibri" pitchFamily="34" charset="-120"/>
                        </a:rPr>
                        <a:t>A narrow claim — that modelling report reliability improves calibration and yields the first per-finding omission estimates for knee MRI. We will not claim a large AUC gain; the closest comparator gained +0.4.</a:t>
                      </a:r>
                      <a:endParaRPr lang="en-US" sz="96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3F6F9"/>
                    </a:solidFill>
                  </a:tcPr>
                </a:tc>
              </a:tr>
            </a:tbl>
          </a:graphicData>
        </a:graphic>
      </p:graphicFrame>
      <p:sp>
        <p:nvSpPr>
          <p:cNvPr id="12" name="Shape 9"/>
          <p:cNvSpPr/>
          <p:nvPr/>
        </p:nvSpPr>
        <p:spPr>
          <a:xfrm>
            <a:off x="502920" y="4187952"/>
            <a:ext cx="6431867" cy="2011680"/>
          </a:xfrm>
          <a:prstGeom prst="roundRect">
            <a:avLst>
              <a:gd name="adj" fmla="val 1818"/>
            </a:avLst>
          </a:prstGeom>
          <a:solidFill>
            <a:srgbClr val="F3F6F9"/>
          </a:solidFill>
          <a:ln w="12700">
            <a:solidFill>
              <a:srgbClr val="8C2F2F"/>
            </a:solidFill>
            <a:prstDash val="solid"/>
          </a:ln>
        </p:spPr>
      </p:sp>
      <p:sp>
        <p:nvSpPr>
          <p:cNvPr id="13" name="Text 10"/>
          <p:cNvSpPr txBox="1"/>
          <p:nvPr/>
        </p:nvSpPr>
        <p:spPr>
          <a:xfrm>
            <a:off x="667512" y="4306824"/>
            <a:ext cx="6102683" cy="256032"/>
          </a:xfrm>
          <a:prstGeom prst="rect">
            <a:avLst/>
          </a:prstGeom>
          <a:noFill/>
          <a:ln/>
        </p:spPr>
        <p:txBody>
          <a:bodyPr wrap="square" lIns="0" tIns="0" rIns="0" bIns="0" rtlCol="0" anchor="ctr"/>
          <a:lstStyle/>
          <a:p>
            <a:pPr indent="0" marL="0">
              <a:buNone/>
            </a:pPr>
            <a:r>
              <a:rPr lang="en-US" sz="1200" b="1" dirty="0">
                <a:solidFill>
                  <a:srgbClr val="8C2F2F"/>
                </a:solidFill>
                <a:latin typeface="Calibri" pitchFamily="34" charset="0"/>
                <a:ea typeface="Calibri" pitchFamily="34" charset="-122"/>
                <a:cs typeface="Calibri" pitchFamily="34" charset="-120"/>
              </a:rPr>
              <a:t>Risks, dependencies and committed scope</a:t>
            </a:r>
            <a:endParaRPr lang="en-US" sz="1200" dirty="0"/>
          </a:p>
        </p:txBody>
      </p:sp>
      <p:sp>
        <p:nvSpPr>
          <p:cNvPr id="14" name="Text 11"/>
          <p:cNvSpPr txBox="1"/>
          <p:nvPr/>
        </p:nvSpPr>
        <p:spPr>
          <a:xfrm>
            <a:off x="667512" y="4599432"/>
            <a:ext cx="6102683" cy="1490472"/>
          </a:xfrm>
          <a:prstGeom prst="rect">
            <a:avLst/>
          </a:prstGeom>
          <a:noFill/>
          <a:ln/>
        </p:spPr>
        <p:txBody>
          <a:bodyPr wrap="square" lIns="0" tIns="0" rIns="0" bIns="0" rtlCol="0" anchor="t"/>
          <a:lstStyle/>
          <a:p>
            <a:pPr indent="0" marL="0">
              <a:lnSpc>
                <a:spcPct val="112000"/>
              </a:lnSpc>
              <a:buNone/>
            </a:pPr>
            <a:r>
              <a:rPr lang="en-US" sz="1000" dirty="0">
                <a:solidFill>
                  <a:srgbClr val="12202E"/>
                </a:solidFill>
                <a:latin typeface="Calibri" pitchFamily="34" charset="0"/>
                <a:ea typeface="Calibri" pitchFamily="34" charset="-122"/>
                <a:cs typeface="Calibri" pitchFamily="34" charset="-120"/>
              </a:rPr>
              <a:t>AUC gain too small to claim — lead with calibration and omission, not accuracy.</a:t>
            </a:r>
            <a:endParaRPr lang="en-US" sz="1000" dirty="0"/>
          </a:p>
          <a:p>
            <a:pPr indent="0" marL="0">
              <a:lnSpc>
                <a:spcPct val="112000"/>
              </a:lnSpc>
              <a:buNone/>
            </a:pPr>
            <a:r>
              <a:rPr lang="en-US" sz="1000" dirty="0">
                <a:solidFill>
                  <a:srgbClr val="12202E"/>
                </a:solidFill>
                <a:latin typeface="Calibri" pitchFamily="34" charset="0"/>
                <a:ea typeface="Calibri" pitchFamily="34" charset="-122"/>
                <a:cs typeface="Calibri" pitchFamily="34" charset="-120"/>
              </a:rPr>
              <a:t>Site leakage — site-grouped folds enforced in code from week six.</a:t>
            </a:r>
            <a:endParaRPr lang="en-US" sz="1000" dirty="0"/>
          </a:p>
          <a:p>
            <a:pPr indent="0" marL="0">
              <a:lnSpc>
                <a:spcPct val="112000"/>
              </a:lnSpc>
              <a:buNone/>
            </a:pPr>
            <a:r>
              <a:rPr lang="en-US" sz="1000" dirty="0">
                <a:solidFill>
                  <a:srgbClr val="12202E"/>
                </a:solidFill>
                <a:latin typeface="Calibri" pitchFamily="34" charset="0"/>
                <a:ea typeface="Calibri" pitchFamily="34" charset="-122"/>
                <a:cs typeface="Calibri" pitchFamily="34" charset="-120"/>
              </a:rPr>
              <a:t>Prior publication — Ye 2026 and Xiao 2024 read before the claim is written.</a:t>
            </a:r>
            <a:endParaRPr lang="en-US" sz="1000" dirty="0"/>
          </a:p>
          <a:p>
            <a:pPr indent="0" marL="0">
              <a:lnSpc>
                <a:spcPct val="112000"/>
              </a:lnSpc>
              <a:buNone/>
            </a:pPr>
            <a:r>
              <a:rPr lang="en-US" sz="1000" dirty="0">
                <a:solidFill>
                  <a:srgbClr val="12202E"/>
                </a:solidFill>
                <a:latin typeface="Calibri" pitchFamily="34" charset="0"/>
                <a:ea typeface="Calibri" pitchFamily="34" charset="-122"/>
                <a:cs typeface="Calibri" pitchFamily="34" charset="-120"/>
              </a:rPr>
              <a:t>58 too few for stable estimates — partial pooling; else promote the gold-free estimator.</a:t>
            </a:r>
            <a:endParaRPr lang="en-US" sz="1000" dirty="0"/>
          </a:p>
          <a:p>
            <a:pPr indent="0" marL="0">
              <a:lnSpc>
                <a:spcPct val="112000"/>
              </a:lnSpc>
              <a:buNone/>
            </a:pPr>
            <a:r>
              <a:rPr lang="en-US" sz="1000" dirty="0">
                <a:solidFill>
                  <a:srgbClr val="12202E"/>
                </a:solidFill>
                <a:latin typeface="Calibri" pitchFamily="34" charset="0"/>
                <a:ea typeface="Calibri" pitchFamily="34" charset="-122"/>
                <a:cs typeface="Calibri" pitchFamily="34" charset="-120"/>
              </a:rPr>
              <a:t>Compute limits — two-stage 2.5D, one GPU pass; subset declared if reduced.</a:t>
            </a:r>
            <a:endParaRPr lang="en-US" sz="1000" dirty="0"/>
          </a:p>
          <a:p>
            <a:pPr indent="0" marL="0">
              <a:lnSpc>
                <a:spcPct val="112000"/>
              </a:lnSpc>
              <a:buNone/>
            </a:pPr>
            <a:r>
              <a:rPr lang="en-US" sz="1000" dirty="0">
                <a:solidFill>
                  <a:srgbClr val="12202E"/>
                </a:solidFill>
                <a:latin typeface="Calibri" pitchFamily="34" charset="0"/>
                <a:ea typeface="Calibri" pitchFamily="34" charset="-122"/>
                <a:cs typeface="Calibri" pitchFamily="34" charset="-120"/>
              </a:rPr>
              <a:t>The 58 figure is wrong — verified first-hand in week one, before anything is built on it.</a:t>
            </a:r>
            <a:endParaRPr lang="en-US" sz="1000" dirty="0"/>
          </a:p>
          <a:p>
            <a:pPr indent="0" marL="0">
              <a:lnSpc>
                <a:spcPct val="112000"/>
              </a:lnSpc>
              <a:buNone/>
            </a:pPr>
            <a:r>
              <a:rPr lang="en-US" sz="1000" dirty="0">
                <a:solidFill>
                  <a:srgbClr val="12202E"/>
                </a:solidFill>
                <a:latin typeface="Calibri" pitchFamily="34" charset="0"/>
                <a:ea typeface="Calibri" pitchFamily="34" charset="-122"/>
                <a:cs typeface="Calibri" pitchFamily="34" charset="-120"/>
              </a:rPr>
              <a:t>Committed scope excludes institution onboarding and formats beyond DICOM and NIfTI — named as optional extensions, not promised.</a:t>
            </a:r>
            <a:endParaRPr lang="en-US" sz="1000" dirty="0"/>
          </a:p>
        </p:txBody>
      </p:sp>
      <p:sp>
        <p:nvSpPr>
          <p:cNvPr id="15" name="Shape 12"/>
          <p:cNvSpPr/>
          <p:nvPr/>
        </p:nvSpPr>
        <p:spPr>
          <a:xfrm>
            <a:off x="7158504" y="4187952"/>
            <a:ext cx="4530271" cy="2135124"/>
          </a:xfrm>
          <a:prstGeom prst="roundRect">
            <a:avLst>
              <a:gd name="adj" fmla="val 1713"/>
            </a:avLst>
          </a:prstGeom>
          <a:solidFill>
            <a:srgbClr val="E7EFF7"/>
          </a:solidFill>
          <a:ln w="12700">
            <a:solidFill>
              <a:srgbClr val="1F4E79"/>
            </a:solidFill>
            <a:prstDash val="solid"/>
          </a:ln>
        </p:spPr>
      </p:sp>
      <p:sp>
        <p:nvSpPr>
          <p:cNvPr id="16" name="Text 13"/>
          <p:cNvSpPr txBox="1"/>
          <p:nvPr/>
        </p:nvSpPr>
        <p:spPr>
          <a:xfrm>
            <a:off x="7323096" y="4306824"/>
            <a:ext cx="4201087" cy="256032"/>
          </a:xfrm>
          <a:prstGeom prst="rect">
            <a:avLst/>
          </a:prstGeom>
          <a:noFill/>
          <a:ln/>
        </p:spPr>
        <p:txBody>
          <a:bodyPr wrap="square" lIns="0" tIns="0" rIns="0" bIns="0" rtlCol="0" anchor="ctr"/>
          <a:lstStyle/>
          <a:p>
            <a:pPr indent="0" marL="0">
              <a:buNone/>
            </a:pPr>
            <a:r>
              <a:rPr lang="en-US" sz="1200" b="1" dirty="0">
                <a:solidFill>
                  <a:srgbClr val="1F4E79"/>
                </a:solidFill>
                <a:latin typeface="Calibri" pitchFamily="34" charset="0"/>
                <a:ea typeface="Calibri" pitchFamily="34" charset="-122"/>
                <a:cs typeface="Calibri" pitchFamily="34" charset="-120"/>
              </a:rPr>
              <a:t>Tool / API / GenAI boundary</a:t>
            </a:r>
            <a:endParaRPr lang="en-US" sz="1200" dirty="0"/>
          </a:p>
        </p:txBody>
      </p:sp>
      <p:sp>
        <p:nvSpPr>
          <p:cNvPr id="17" name="Text 14"/>
          <p:cNvSpPr txBox="1"/>
          <p:nvPr/>
        </p:nvSpPr>
        <p:spPr>
          <a:xfrm>
            <a:off x="7323096" y="4599432"/>
            <a:ext cx="4201087" cy="1613916"/>
          </a:xfrm>
          <a:prstGeom prst="rect">
            <a:avLst/>
          </a:prstGeom>
          <a:noFill/>
          <a:ln/>
        </p:spPr>
        <p:txBody>
          <a:bodyPr wrap="square" lIns="0" tIns="0" rIns="0" bIns="0" rtlCol="0" anchor="t"/>
          <a:lstStyle/>
          <a:p>
            <a:pPr indent="0" marL="0">
              <a:lnSpc>
                <a:spcPct val="112000"/>
              </a:lnSpc>
              <a:buNone/>
            </a:pPr>
            <a:r>
              <a:rPr lang="en-US" sz="1000" dirty="0">
                <a:solidFill>
                  <a:srgbClr val="12202E"/>
                </a:solidFill>
                <a:latin typeface="Calibri" pitchFamily="34" charset="0"/>
                <a:ea typeface="Calibri" pitchFamily="34" charset="-122"/>
                <a:cs typeface="Calibri" pitchFamily="34" charset="-120"/>
              </a:rPr>
              <a:t>Support: PyTorch, pydicom, scikit-learn, Git.</a:t>
            </a:r>
            <a:endParaRPr lang="en-US" sz="1000" dirty="0"/>
          </a:p>
          <a:p>
            <a:pPr indent="0" marL="0">
              <a:lnSpc>
                <a:spcPct val="112000"/>
              </a:lnSpc>
              <a:buNone/>
            </a:pPr>
            <a:r>
              <a:rPr lang="en-US" sz="1000" dirty="0">
                <a:solidFill>
                  <a:srgbClr val="12202E"/>
                </a:solidFill>
                <a:latin typeface="Calibri" pitchFamily="34" charset="0"/>
                <a:ea typeface="Calibri" pitchFamily="34" charset="-122"/>
                <a:cs typeface="Calibri" pitchFamily="34" charset="-120"/>
              </a:rPr>
              <a:t>Core-assist: frozen pretrained encoder; open-weight in-notebook LLM for report labelling — justified, hand-audited, with multilingual rules as fallback.</a:t>
            </a:r>
            <a:endParaRPr lang="en-US" sz="1000" dirty="0"/>
          </a:p>
          <a:p>
            <a:pPr indent="0" marL="0">
              <a:lnSpc>
                <a:spcPct val="112000"/>
              </a:lnSpc>
              <a:buNone/>
            </a:pPr>
            <a:r>
              <a:rPr lang="en-US" sz="1000" dirty="0">
                <a:solidFill>
                  <a:srgbClr val="12202E"/>
                </a:solidFill>
                <a:latin typeface="Calibri" pitchFamily="34" charset="0"/>
                <a:ea typeface="Calibri" pitchFamily="34" charset="-122"/>
                <a:cs typeface="Calibri" pitchFamily="34" charset="-120"/>
              </a:rPr>
              <a:t>Core-replacement: none.</a:t>
            </a:r>
            <a:endParaRPr lang="en-US" sz="1000" dirty="0"/>
          </a:p>
          <a:p>
            <a:pPr indent="0" marL="0">
              <a:lnSpc>
                <a:spcPct val="112000"/>
              </a:lnSpc>
              <a:buNone/>
            </a:pPr>
            <a:r>
              <a:rPr lang="en-US" sz="1000" dirty="0">
                <a:solidFill>
                  <a:srgbClr val="12202E"/>
                </a:solidFill>
                <a:latin typeface="Calibri" pitchFamily="34" charset="0"/>
                <a:ea typeface="Calibri" pitchFamily="34" charset="-122"/>
                <a:cs typeface="Calibri" pitchFamily="34" charset="-120"/>
              </a:rPr>
              <a:t>The swap test: replace either core-assist component with a comparable alternative and the contribution survives, because we claim the label model and the evaluation, not the backbone. An AI-usage log runs from week one, countersigned.</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1F4E79"/>
          </a:solidFill>
          <a:ln/>
        </p:spPr>
      </p:sp>
      <p:sp>
        <p:nvSpPr>
          <p:cNvPr id="3" name="Shape 1"/>
          <p:cNvSpPr/>
          <p:nvPr/>
        </p:nvSpPr>
        <p:spPr>
          <a:xfrm>
            <a:off x="502920" y="283464"/>
            <a:ext cx="475488" cy="475488"/>
          </a:xfrm>
          <a:prstGeom prst="roundRect">
            <a:avLst>
              <a:gd name="adj" fmla="val 38462"/>
            </a:avLst>
          </a:prstGeom>
          <a:solidFill>
            <a:srgbClr val="1F4E79"/>
          </a:solidFill>
          <a:ln w="12700">
            <a:solidFill>
              <a:srgbClr val="1F4E79"/>
            </a:solidFill>
            <a:prstDash val="solid"/>
          </a:ln>
        </p:spPr>
      </p:sp>
      <p:sp>
        <p:nvSpPr>
          <p:cNvPr id="4" name="Text 2"/>
          <p:cNvSpPr txBox="1"/>
          <p:nvPr/>
        </p:nvSpPr>
        <p:spPr>
          <a:xfrm>
            <a:off x="502920" y="283464"/>
            <a:ext cx="475488" cy="475488"/>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9</a:t>
            </a:r>
            <a:endParaRPr lang="en-US" sz="1900" dirty="0"/>
          </a:p>
        </p:txBody>
      </p:sp>
      <p:sp>
        <p:nvSpPr>
          <p:cNvPr id="5" name="Text 3"/>
          <p:cNvSpPr txBox="1"/>
          <p:nvPr/>
        </p:nvSpPr>
        <p:spPr>
          <a:xfrm>
            <a:off x="502920" y="786384"/>
            <a:ext cx="475488" cy="182880"/>
          </a:xfrm>
          <a:prstGeom prst="rect">
            <a:avLst/>
          </a:prstGeom>
          <a:noFill/>
          <a:ln/>
        </p:spPr>
        <p:txBody>
          <a:bodyPr wrap="square" lIns="0" tIns="0" rIns="0" bIns="0" rtlCol="0" anchor="ctr"/>
          <a:lstStyle/>
          <a:p>
            <a:pPr algn="ctr" indent="0" marL="0">
              <a:buNone/>
            </a:pPr>
            <a:r>
              <a:rPr lang="en-US" sz="750" dirty="0">
                <a:solidFill>
                  <a:srgbClr val="9AA8B5"/>
                </a:solidFill>
                <a:latin typeface="Calibri" pitchFamily="34" charset="0"/>
                <a:ea typeface="Calibri" pitchFamily="34" charset="-122"/>
                <a:cs typeface="Calibri" pitchFamily="34" charset="-120"/>
              </a:rPr>
              <a:t>OF 10</a:t>
            </a:r>
            <a:endParaRPr lang="en-US" sz="750" dirty="0"/>
          </a:p>
        </p:txBody>
      </p:sp>
      <p:sp>
        <p:nvSpPr>
          <p:cNvPr id="6" name="Text 4"/>
          <p:cNvSpPr txBox="1"/>
          <p:nvPr/>
        </p:nvSpPr>
        <p:spPr>
          <a:xfrm>
            <a:off x="1124712" y="274320"/>
            <a:ext cx="9283903" cy="475488"/>
          </a:xfrm>
          <a:prstGeom prst="rect">
            <a:avLst/>
          </a:prstGeom>
          <a:noFill/>
          <a:ln/>
        </p:spPr>
        <p:txBody>
          <a:bodyPr wrap="square" lIns="0" tIns="0" rIns="0" bIns="0" rtlCol="0" anchor="ctr"/>
          <a:lstStyle/>
          <a:p>
            <a:pPr indent="0" marL="0">
              <a:buNone/>
            </a:pPr>
            <a:r>
              <a:rPr lang="en-US" sz="2500" b="1" dirty="0">
                <a:solidFill>
                  <a:srgbClr val="12202E"/>
                </a:solidFill>
                <a:latin typeface="Calibri" pitchFamily="34" charset="0"/>
                <a:ea typeface="Calibri" pitchFamily="34" charset="-122"/>
                <a:cs typeface="Calibri" pitchFamily="34" charset="-120"/>
              </a:rPr>
              <a:t>Work division and iteration plan</a:t>
            </a:r>
            <a:endParaRPr lang="en-US" sz="2500" dirty="0"/>
          </a:p>
        </p:txBody>
      </p:sp>
      <p:sp>
        <p:nvSpPr>
          <p:cNvPr id="7" name="Text 5"/>
          <p:cNvSpPr txBox="1"/>
          <p:nvPr/>
        </p:nvSpPr>
        <p:spPr>
          <a:xfrm>
            <a:off x="1124712" y="768096"/>
            <a:ext cx="9283903" cy="310896"/>
          </a:xfrm>
          <a:prstGeom prst="rect">
            <a:avLst/>
          </a:prstGeom>
          <a:noFill/>
          <a:ln/>
        </p:spPr>
        <p:txBody>
          <a:bodyPr wrap="square" lIns="0" tIns="0" rIns="0" bIns="0" rtlCol="0" anchor="ctr"/>
          <a:lstStyle/>
          <a:p>
            <a:pPr indent="0" marL="0">
              <a:buNone/>
            </a:pPr>
            <a:r>
              <a:rPr lang="en-US" sz="1300" i="1" dirty="0">
                <a:solidFill>
                  <a:srgbClr val="5A6875"/>
                </a:solidFill>
                <a:latin typeface="Calibri" pitchFamily="34" charset="0"/>
                <a:ea typeface="Calibri" pitchFamily="34" charset="-122"/>
                <a:cs typeface="Calibri" pitchFamily="34" charset="-120"/>
              </a:rPr>
              <a:t>Member-wise responsibilities and milestones</a:t>
            </a:r>
            <a:endParaRPr lang="en-US" sz="1300" dirty="0"/>
          </a:p>
        </p:txBody>
      </p:sp>
      <p:sp>
        <p:nvSpPr>
          <p:cNvPr id="8" name="Shape 6"/>
          <p:cNvSpPr/>
          <p:nvPr/>
        </p:nvSpPr>
        <p:spPr>
          <a:xfrm>
            <a:off x="502920" y="1115568"/>
            <a:ext cx="11185855" cy="20117"/>
          </a:xfrm>
          <a:prstGeom prst="rect">
            <a:avLst/>
          </a:prstGeom>
          <a:solidFill>
            <a:srgbClr val="1F4E79"/>
          </a:solidFill>
          <a:ln/>
        </p:spPr>
      </p:sp>
      <p:sp>
        <p:nvSpPr>
          <p:cNvPr id="9" name="Text 7"/>
          <p:cNvSpPr txBox="1"/>
          <p:nvPr/>
        </p:nvSpPr>
        <p:spPr>
          <a:xfrm>
            <a:off x="502920" y="6473952"/>
            <a:ext cx="7315200" cy="237744"/>
          </a:xfrm>
          <a:prstGeom prst="rect">
            <a:avLst/>
          </a:prstGeom>
          <a:noFill/>
          <a:ln/>
        </p:spPr>
        <p:txBody>
          <a:bodyPr wrap="square" lIns="0" tIns="0" rIns="0" bIns="0" rtlCol="0" anchor="ctr"/>
          <a:lstStyle/>
          <a:p>
            <a:pPr indent="0" marL="0">
              <a:buNone/>
            </a:pPr>
            <a:r>
              <a:rPr lang="en-US" sz="950" dirty="0">
                <a:solidFill>
                  <a:srgbClr val="9AA8B5"/>
                </a:solidFill>
                <a:latin typeface="Calibri" pitchFamily="34" charset="0"/>
                <a:ea typeface="Calibri" pitchFamily="34" charset="-122"/>
                <a:cs typeface="Calibri" pitchFamily="34" charset="-120"/>
              </a:rPr>
              <a:t>KneeWS  ·  noise-aware weak supervision  ·  proposal defence</a:t>
            </a:r>
            <a:endParaRPr lang="en-US" sz="950" dirty="0"/>
          </a:p>
        </p:txBody>
      </p:sp>
      <p:sp>
        <p:nvSpPr>
          <p:cNvPr id="10" name="Text 8"/>
          <p:cNvSpPr txBox="1"/>
          <p:nvPr/>
        </p:nvSpPr>
        <p:spPr>
          <a:xfrm>
            <a:off x="11185855" y="6473952"/>
            <a:ext cx="502920" cy="237744"/>
          </a:xfrm>
          <a:prstGeom prst="rect">
            <a:avLst/>
          </a:prstGeom>
          <a:noFill/>
          <a:ln/>
        </p:spPr>
        <p:txBody>
          <a:bodyPr wrap="square" lIns="0" tIns="0" rIns="0" bIns="0" rtlCol="0" anchor="ctr"/>
          <a:lstStyle/>
          <a:p>
            <a:pPr algn="r" indent="0" marL="0">
              <a:buNone/>
            </a:pPr>
            <a:r>
              <a:rPr lang="en-US" sz="950" dirty="0">
                <a:solidFill>
                  <a:srgbClr val="9AA8B5"/>
                </a:solidFill>
                <a:latin typeface="Calibri" pitchFamily="34" charset="0"/>
                <a:ea typeface="Calibri" pitchFamily="34" charset="-122"/>
                <a:cs typeface="Calibri" pitchFamily="34" charset="-120"/>
              </a:rPr>
              <a:t>9</a:t>
            </a:r>
            <a:endParaRPr lang="en-US" sz="9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02920" y="1325880"/>
          <a:ext cx="11185855" cy="914400"/>
        </p:xfrm>
        <a:graphic>
          <a:graphicData uri="http://schemas.openxmlformats.org/drawingml/2006/table">
            <a:tbl>
              <a:tblPr/>
              <a:tblGrid>
                <a:gridCol w="1965960"/>
                <a:gridCol w="3291840"/>
                <a:gridCol w="3108960"/>
                <a:gridCol w="2816352"/>
              </a:tblGrid>
              <a:tr h="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Member</a:t>
                      </a:r>
                      <a:endParaRPr lang="en-US" sz="95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1F4E79"/>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Primary technical ownership</a:t>
                      </a:r>
                      <a:endParaRPr lang="en-US" sz="95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1F4E79"/>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Decisions they own</a:t>
                      </a:r>
                      <a:endParaRPr lang="en-US" sz="95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1F4E79"/>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FYP-1 evidence</a:t>
                      </a:r>
                      <a:endParaRPr lang="en-US" sz="95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1F4E79"/>
                    </a:solidFill>
                  </a:tcPr>
                </a:tc>
              </a:tr>
              <a:tr h="0">
                <a:tc>
                  <a:txBody>
                    <a:bodyPr/>
                    <a:lstStyle/>
                    <a:p>
                      <a:pPr indent="0" marL="0">
                        <a:buNone/>
                      </a:pPr>
                      <a:r>
                        <a:rPr lang="en-US" sz="1000" b="1" dirty="0">
                          <a:solidFill>
                            <a:srgbClr val="12202E"/>
                          </a:solidFill>
                          <a:latin typeface="Calibri" pitchFamily="34" charset="0"/>
                          <a:ea typeface="Calibri" pitchFamily="34" charset="-122"/>
                          <a:cs typeface="Calibri" pitchFamily="34" charset="-120"/>
                        </a:rPr>
                        <a:t>Member 1</a:t>
                      </a:r>
                      <a:endParaRPr lang="en-US" sz="1000" dirty="0">
                        <a:latin typeface="Calibri" charset="0"/>
                        <a:ea typeface="Calibri" charset="0"/>
                        <a:cs typeface="Calibri" charset="0"/>
                      </a:endParaRPr>
                    </a:p>
                    <a:p>
                      <a:pPr indent="0" marL="0">
                        <a:buNone/>
                      </a:pPr>
                      <a:r>
                        <a:rPr lang="en-US" sz="1000" b="1" dirty="0">
                          <a:solidFill>
                            <a:srgbClr val="12202E"/>
                          </a:solidFill>
                          <a:latin typeface="Calibri" pitchFamily="34" charset="0"/>
                          <a:ea typeface="Calibri" pitchFamily="34" charset="-122"/>
                          <a:cs typeface="Calibri" pitchFamily="34" charset="-120"/>
                        </a:rPr>
                        <a:t>Data and imaging pipeline</a:t>
                      </a:r>
                      <a:endParaRPr lang="en-US" sz="100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FFFFF"/>
                    </a:solidFill>
                  </a:tcPr>
                </a:tc>
                <a:tc>
                  <a:txBody>
                    <a:bodyPr/>
                    <a:lstStyle/>
                    <a:p>
                      <a:pPr indent="0" marL="0">
                        <a:buNone/>
                      </a:pPr>
                      <a:r>
                        <a:rPr lang="en-US" sz="1000" dirty="0">
                          <a:solidFill>
                            <a:srgbClr val="12202E"/>
                          </a:solidFill>
                          <a:latin typeface="Calibri" pitchFamily="34" charset="0"/>
                          <a:ea typeface="Calibri" pitchFamily="34" charset="-122"/>
                          <a:cs typeface="Calibri" pitchFamily="34" charset="-120"/>
                        </a:rPr>
                        <a:t>DICOM and NIfTI ingestion, series reconstruction and protocol profiling, preprocessing, frozen-encoder feature caching, site-grouped fold construction.</a:t>
                      </a:r>
                      <a:endParaRPr lang="en-US" sz="100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FFFFF"/>
                    </a:solidFill>
                  </a:tcPr>
                </a:tc>
                <a:tc>
                  <a:txBody>
                    <a:bodyPr/>
                    <a:lstStyle/>
                    <a:p>
                      <a:pPr indent="0" marL="0">
                        <a:buNone/>
                      </a:pPr>
                      <a:r>
                        <a:rPr lang="en-US" sz="1000" dirty="0">
                          <a:solidFill>
                            <a:srgbClr val="12202E"/>
                          </a:solidFill>
                          <a:latin typeface="Calibri" pitchFamily="34" charset="0"/>
                          <a:ea typeface="Calibri" pitchFamily="34" charset="-122"/>
                          <a:cs typeface="Calibri" pitchFamily="34" charset="-120"/>
                        </a:rPr>
                        <a:t>Slice selection strategy; resampling and normalisation; how sites are identified and grouped; the caching format everything downstream reads.</a:t>
                      </a:r>
                      <a:endParaRPr lang="en-US" sz="100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FFFFF"/>
                    </a:solidFill>
                  </a:tcPr>
                </a:tc>
                <a:tc>
                  <a:txBody>
                    <a:bodyPr/>
                    <a:lstStyle/>
                    <a:p>
                      <a:pPr indent="0" marL="0">
                        <a:buNone/>
                      </a:pPr>
                      <a:r>
                        <a:rPr lang="en-US" sz="1000" dirty="0">
                          <a:solidFill>
                            <a:srgbClr val="12202E"/>
                          </a:solidFill>
                          <a:latin typeface="Calibri" pitchFamily="34" charset="0"/>
                          <a:ea typeface="Calibri" pitchFamily="34" charset="-122"/>
                          <a:cs typeface="Calibri" pitchFamily="34" charset="-120"/>
                        </a:rPr>
                        <a:t>Working ingestion on real studies; cached features; an automated leakage check on the folds.</a:t>
                      </a:r>
                      <a:endParaRPr lang="en-US" sz="100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12202E"/>
                          </a:solidFill>
                          <a:latin typeface="Calibri" pitchFamily="34" charset="0"/>
                          <a:ea typeface="Calibri" pitchFamily="34" charset="-122"/>
                          <a:cs typeface="Calibri" pitchFamily="34" charset="-120"/>
                        </a:rPr>
                        <a:t>Member 2</a:t>
                      </a:r>
                      <a:endParaRPr lang="en-US" sz="1000" dirty="0">
                        <a:latin typeface="Calibri" charset="0"/>
                        <a:ea typeface="Calibri" charset="0"/>
                        <a:cs typeface="Calibri" charset="0"/>
                      </a:endParaRPr>
                    </a:p>
                    <a:p>
                      <a:pPr indent="0" marL="0">
                        <a:buNone/>
                      </a:pPr>
                      <a:r>
                        <a:rPr lang="en-US" sz="1000" b="1" dirty="0">
                          <a:solidFill>
                            <a:srgbClr val="12202E"/>
                          </a:solidFill>
                          <a:latin typeface="Calibri" pitchFamily="34" charset="0"/>
                          <a:ea typeface="Calibri" pitchFamily="34" charset="-122"/>
                          <a:cs typeface="Calibri" pitchFamily="34" charset="-120"/>
                        </a:rPr>
                        <a:t>Labelling and reliability</a:t>
                      </a:r>
                      <a:endParaRPr lang="en-US" sz="100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3F6F9"/>
                    </a:solidFill>
                  </a:tcPr>
                </a:tc>
                <a:tc>
                  <a:txBody>
                    <a:bodyPr/>
                    <a:lstStyle/>
                    <a:p>
                      <a:pPr indent="0" marL="0">
                        <a:buNone/>
                      </a:pPr>
                      <a:r>
                        <a:rPr lang="en-US" sz="1000" dirty="0">
                          <a:solidFill>
                            <a:srgbClr val="12202E"/>
                          </a:solidFill>
                          <a:latin typeface="Calibri" pitchFamily="34" charset="0"/>
                          <a:ea typeface="Calibri" pitchFamily="34" charset="-122"/>
                          <a:cs typeface="Calibri" pitchFamily="34" charset="-120"/>
                        </a:rPr>
                        <a:t>Multilingual four-state labeller (rules, open-weight LLM, translate-then-label), the four-state matrix, and the reliability estimator with pooling.</a:t>
                      </a:r>
                      <a:endParaRPr lang="en-US" sz="100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3F6F9"/>
                    </a:solidFill>
                  </a:tcPr>
                </a:tc>
                <a:tc>
                  <a:txBody>
                    <a:bodyPr/>
                    <a:lstStyle/>
                    <a:p>
                      <a:pPr indent="0" marL="0">
                        <a:buNone/>
                      </a:pPr>
                      <a:r>
                        <a:rPr lang="en-US" sz="1000" dirty="0">
                          <a:solidFill>
                            <a:srgbClr val="12202E"/>
                          </a:solidFill>
                          <a:latin typeface="Calibri" pitchFamily="34" charset="0"/>
                          <a:ea typeface="Calibri" pitchFamily="34" charset="-122"/>
                          <a:cs typeface="Calibri" pitchFamily="34" charset="-120"/>
                        </a:rPr>
                        <a:t>How each language is handled; how the three labelling routes are combined; the pooling prior; which findings earn a deviation from the shared estimate.</a:t>
                      </a:r>
                      <a:endParaRPr lang="en-US" sz="100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3F6F9"/>
                    </a:solidFill>
                  </a:tcPr>
                </a:tc>
                <a:tc>
                  <a:txBody>
                    <a:bodyPr/>
                    <a:lstStyle/>
                    <a:p>
                      <a:pPr indent="0" marL="0">
                        <a:buNone/>
                      </a:pPr>
                      <a:r>
                        <a:rPr lang="en-US" sz="1000" dirty="0">
                          <a:solidFill>
                            <a:srgbClr val="12202E"/>
                          </a:solidFill>
                          <a:latin typeface="Calibri" pitchFamily="34" charset="0"/>
                          <a:ea typeface="Calibri" pitchFamily="34" charset="-122"/>
                          <a:cs typeface="Calibri" pitchFamily="34" charset="-120"/>
                        </a:rPr>
                        <a:t>Four-state matrix over 4,349 studies; hand-audited labeller error rate; reliability table with intervals.</a:t>
                      </a:r>
                      <a:endParaRPr lang="en-US" sz="100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3F6F9"/>
                    </a:solidFill>
                  </a:tcPr>
                </a:tc>
              </a:tr>
              <a:tr h="0">
                <a:tc>
                  <a:txBody>
                    <a:bodyPr/>
                    <a:lstStyle/>
                    <a:p>
                      <a:pPr indent="0" marL="0">
                        <a:buNone/>
                      </a:pPr>
                      <a:r>
                        <a:rPr lang="en-US" sz="1000" b="1" dirty="0">
                          <a:solidFill>
                            <a:srgbClr val="12202E"/>
                          </a:solidFill>
                          <a:latin typeface="Calibri" pitchFamily="34" charset="0"/>
                          <a:ea typeface="Calibri" pitchFamily="34" charset="-122"/>
                          <a:cs typeface="Calibri" pitchFamily="34" charset="-120"/>
                        </a:rPr>
                        <a:t>Member 3</a:t>
                      </a:r>
                      <a:endParaRPr lang="en-US" sz="1000" dirty="0">
                        <a:latin typeface="Calibri" charset="0"/>
                        <a:ea typeface="Calibri" charset="0"/>
                        <a:cs typeface="Calibri" charset="0"/>
                      </a:endParaRPr>
                    </a:p>
                    <a:p>
                      <a:pPr indent="0" marL="0">
                        <a:buNone/>
                      </a:pPr>
                      <a:r>
                        <a:rPr lang="en-US" sz="1000" b="1" dirty="0">
                          <a:solidFill>
                            <a:srgbClr val="12202E"/>
                          </a:solidFill>
                          <a:latin typeface="Calibri" pitchFamily="34" charset="0"/>
                          <a:ea typeface="Calibri" pitchFamily="34" charset="-122"/>
                          <a:cs typeface="Calibri" pitchFamily="34" charset="-120"/>
                        </a:rPr>
                        <a:t>Model, evaluation and application</a:t>
                      </a:r>
                      <a:endParaRPr lang="en-US" sz="100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FFFFF"/>
                    </a:solidFill>
                  </a:tcPr>
                </a:tc>
                <a:tc>
                  <a:txBody>
                    <a:bodyPr/>
                    <a:lstStyle/>
                    <a:p>
                      <a:pPr indent="0" marL="0">
                        <a:buNone/>
                      </a:pPr>
                      <a:r>
                        <a:rPr lang="en-US" sz="1000" dirty="0">
                          <a:solidFill>
                            <a:srgbClr val="12202E"/>
                          </a:solidFill>
                          <a:latin typeface="Calibri" pitchFamily="34" charset="0"/>
                          <a:ea typeface="Calibri" pitchFamily="34" charset="-122"/>
                          <a:cs typeface="Calibri" pitchFamily="34" charset="-120"/>
                        </a:rPr>
                        <a:t>Training arms and the soft-target loss, the metrics and calibration harness, disagreement analysis, and the clinical-facing screens.</a:t>
                      </a:r>
                      <a:endParaRPr lang="en-US" sz="100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FFFFF"/>
                    </a:solidFill>
                  </a:tcPr>
                </a:tc>
                <a:tc>
                  <a:txBody>
                    <a:bodyPr/>
                    <a:lstStyle/>
                    <a:p>
                      <a:pPr indent="0" marL="0">
                        <a:buNone/>
                      </a:pPr>
                      <a:r>
                        <a:rPr lang="en-US" sz="1000" dirty="0">
                          <a:solidFill>
                            <a:srgbClr val="12202E"/>
                          </a:solidFill>
                          <a:latin typeface="Calibri" pitchFamily="34" charset="0"/>
                          <a:ea typeface="Calibri" pitchFamily="34" charset="-122"/>
                          <a:cs typeface="Calibri" pitchFamily="34" charset="-120"/>
                        </a:rPr>
                        <a:t>Loss formulation for probabilistic targets; which metrics are primary; abstention thresholds; what evidence the interface exposes.</a:t>
                      </a:r>
                      <a:endParaRPr lang="en-US" sz="100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FFFFF"/>
                    </a:solidFill>
                  </a:tcPr>
                </a:tc>
                <a:tc>
                  <a:txBody>
                    <a:bodyPr/>
                    <a:lstStyle/>
                    <a:p>
                      <a:pPr indent="0" marL="0">
                        <a:buNone/>
                      </a:pPr>
                      <a:r>
                        <a:rPr lang="en-US" sz="1000" dirty="0">
                          <a:solidFill>
                            <a:srgbClr val="12202E"/>
                          </a:solidFill>
                          <a:latin typeface="Calibri" pitchFamily="34" charset="0"/>
                          <a:ea typeface="Calibri" pitchFamily="34" charset="-122"/>
                          <a:cs typeface="Calibri" pitchFamily="34" charset="-120"/>
                        </a:rPr>
                        <a:t>Baseline run with out-of-fold predictions; the comparison harness; the working viewer and analysis screens.</a:t>
                      </a:r>
                      <a:endParaRPr lang="en-US" sz="100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FFFFF"/>
                    </a:solidFill>
                  </a:tcPr>
                </a:tc>
              </a:tr>
            </a:tbl>
          </a:graphicData>
        </a:graphic>
      </p:graphicFrame>
      <p:sp>
        <p:nvSpPr>
          <p:cNvPr id="12" name="Shape 9"/>
          <p:cNvSpPr/>
          <p:nvPr/>
        </p:nvSpPr>
        <p:spPr>
          <a:xfrm>
            <a:off x="502920" y="3611880"/>
            <a:ext cx="5425140" cy="1165098"/>
          </a:xfrm>
          <a:prstGeom prst="roundRect">
            <a:avLst>
              <a:gd name="adj" fmla="val 3139"/>
            </a:avLst>
          </a:prstGeom>
          <a:solidFill>
            <a:srgbClr val="F3F6F9"/>
          </a:solidFill>
          <a:ln w="12700">
            <a:solidFill>
              <a:srgbClr val="5A6875"/>
            </a:solidFill>
            <a:prstDash val="solid"/>
          </a:ln>
        </p:spPr>
      </p:sp>
      <p:sp>
        <p:nvSpPr>
          <p:cNvPr id="13" name="Text 10"/>
          <p:cNvSpPr txBox="1"/>
          <p:nvPr/>
        </p:nvSpPr>
        <p:spPr>
          <a:xfrm>
            <a:off x="667512" y="3730752"/>
            <a:ext cx="5095956" cy="256032"/>
          </a:xfrm>
          <a:prstGeom prst="rect">
            <a:avLst/>
          </a:prstGeom>
          <a:noFill/>
          <a:ln/>
        </p:spPr>
        <p:txBody>
          <a:bodyPr wrap="square" lIns="0" tIns="0" rIns="0" bIns="0" rtlCol="0" anchor="ctr"/>
          <a:lstStyle/>
          <a:p>
            <a:pPr indent="0" marL="0">
              <a:buNone/>
            </a:pPr>
            <a:r>
              <a:rPr lang="en-US" sz="1200" b="1" dirty="0">
                <a:solidFill>
                  <a:srgbClr val="5A6875"/>
                </a:solidFill>
                <a:latin typeface="Calibri" pitchFamily="34" charset="0"/>
                <a:ea typeface="Calibri" pitchFamily="34" charset="-122"/>
                <a:cs typeface="Calibri" pitchFamily="34" charset="-120"/>
              </a:rPr>
              <a:t>Shared responsibilities</a:t>
            </a:r>
            <a:endParaRPr lang="en-US" sz="1200" dirty="0"/>
          </a:p>
        </p:txBody>
      </p:sp>
      <p:sp>
        <p:nvSpPr>
          <p:cNvPr id="14" name="Text 11"/>
          <p:cNvSpPr txBox="1"/>
          <p:nvPr/>
        </p:nvSpPr>
        <p:spPr>
          <a:xfrm>
            <a:off x="667512" y="4023360"/>
            <a:ext cx="5095956" cy="643890"/>
          </a:xfrm>
          <a:prstGeom prst="rect">
            <a:avLst/>
          </a:prstGeom>
          <a:noFill/>
          <a:ln/>
        </p:spPr>
        <p:txBody>
          <a:bodyPr wrap="square" lIns="0" tIns="0" rIns="0" bIns="0" rtlCol="0" anchor="t"/>
          <a:lstStyle/>
          <a:p>
            <a:pPr indent="0" marL="0">
              <a:lnSpc>
                <a:spcPct val="112000"/>
              </a:lnSpc>
              <a:buNone/>
            </a:pPr>
            <a:r>
              <a:rPr lang="en-US" sz="1100" dirty="0">
                <a:solidFill>
                  <a:srgbClr val="12202E"/>
                </a:solidFill>
                <a:latin typeface="Calibri" pitchFamily="34" charset="0"/>
                <a:ea typeface="Calibri" pitchFamily="34" charset="-122"/>
                <a:cs typeface="Calibri" pitchFamily="34" charset="-120"/>
              </a:rPr>
              <a:t>Architecture and integration, quality assurance, the evaluation design itself, ethics and legal compliance, repository discipline, and the defence. Ownership is primary, not exclusive — every member can explain the whole idea.</a:t>
            </a:r>
            <a:endParaRPr lang="en-US" sz="1100" dirty="0"/>
          </a:p>
        </p:txBody>
      </p:sp>
      <p:sp>
        <p:nvSpPr>
          <p:cNvPr id="15" name="Shape 12"/>
          <p:cNvSpPr/>
          <p:nvPr/>
        </p:nvSpPr>
        <p:spPr>
          <a:xfrm>
            <a:off x="6263635" y="3611880"/>
            <a:ext cx="5425140" cy="1165098"/>
          </a:xfrm>
          <a:prstGeom prst="roundRect">
            <a:avLst>
              <a:gd name="adj" fmla="val 3139"/>
            </a:avLst>
          </a:prstGeom>
          <a:solidFill>
            <a:srgbClr val="E7EFF7"/>
          </a:solidFill>
          <a:ln w="12700">
            <a:solidFill>
              <a:srgbClr val="1F4E79"/>
            </a:solidFill>
            <a:prstDash val="solid"/>
          </a:ln>
        </p:spPr>
      </p:sp>
      <p:sp>
        <p:nvSpPr>
          <p:cNvPr id="16" name="Text 13"/>
          <p:cNvSpPr txBox="1"/>
          <p:nvPr/>
        </p:nvSpPr>
        <p:spPr>
          <a:xfrm>
            <a:off x="6428227" y="3730752"/>
            <a:ext cx="5095956" cy="256032"/>
          </a:xfrm>
          <a:prstGeom prst="rect">
            <a:avLst/>
          </a:prstGeom>
          <a:noFill/>
          <a:ln/>
        </p:spPr>
        <p:txBody>
          <a:bodyPr wrap="square" lIns="0" tIns="0" rIns="0" bIns="0" rtlCol="0" anchor="ctr"/>
          <a:lstStyle/>
          <a:p>
            <a:pPr indent="0" marL="0">
              <a:buNone/>
            </a:pPr>
            <a:r>
              <a:rPr lang="en-US" sz="1200" b="1" dirty="0">
                <a:solidFill>
                  <a:srgbClr val="1F4E79"/>
                </a:solidFill>
                <a:latin typeface="Calibri" pitchFamily="34" charset="0"/>
                <a:ea typeface="Calibri" pitchFamily="34" charset="-122"/>
                <a:cs typeface="Calibri" pitchFamily="34" charset="-120"/>
              </a:rPr>
              <a:t>The scope test applied</a:t>
            </a:r>
            <a:endParaRPr lang="en-US" sz="1200" dirty="0"/>
          </a:p>
        </p:txBody>
      </p:sp>
      <p:sp>
        <p:nvSpPr>
          <p:cNvPr id="17" name="Text 14"/>
          <p:cNvSpPr txBox="1"/>
          <p:nvPr/>
        </p:nvSpPr>
        <p:spPr>
          <a:xfrm>
            <a:off x="6428227" y="4023360"/>
            <a:ext cx="5095956" cy="643890"/>
          </a:xfrm>
          <a:prstGeom prst="rect">
            <a:avLst/>
          </a:prstGeom>
          <a:noFill/>
          <a:ln/>
        </p:spPr>
        <p:txBody>
          <a:bodyPr wrap="square" lIns="0" tIns="0" rIns="0" bIns="0" rtlCol="0" anchor="t"/>
          <a:lstStyle/>
          <a:p>
            <a:pPr indent="0" marL="0">
              <a:lnSpc>
                <a:spcPct val="112000"/>
              </a:lnSpc>
              <a:buNone/>
            </a:pPr>
            <a:r>
              <a:rPr lang="en-US" sz="1100" dirty="0">
                <a:solidFill>
                  <a:srgbClr val="12202E"/>
                </a:solidFill>
                <a:latin typeface="Calibri" pitchFamily="34" charset="0"/>
                <a:ea typeface="Calibri" pitchFamily="34" charset="-122"/>
                <a:cs typeface="Calibri" pitchFamily="34" charset="-120"/>
              </a:rPr>
              <a:t>Remove any one member and a genuinely difficult subsystem and its evidence disappear — the label pipeline, the estimator, or the evaluation. None of the three is interface work or documentation.</a:t>
            </a:r>
            <a:endParaRPr lang="en-US" sz="1100" dirty="0"/>
          </a:p>
        </p:txBody>
      </p:sp>
      <p:graphicFrame>
        <p:nvGraphicFramePr>
          <p:cNvPr id="19" name="Table 1"/>
          <p:cNvGraphicFramePr>
            <a:graphicFrameLocks noGrp="1"/>
          </p:cNvGraphicFramePr>
          <p:nvPr>
            <p:extLst>
              <p:ext uri="{D42A27DB-BD31-4B8C-83A1-F6EECF244321}">
                <p14:modId xmlns:p14="http://schemas.microsoft.com/office/powerpoint/2010/main" val="1579011935"/>
              </p:ext>
            </p:extLst>
          </p:nvPr>
        </p:nvGraphicFramePr>
        <p:xfrm>
          <a:off x="502920" y="4892040"/>
          <a:ext cx="11185855" cy="914400"/>
        </p:xfrm>
        <a:graphic>
          <a:graphicData uri="http://schemas.openxmlformats.org/drawingml/2006/table">
            <a:tbl>
              <a:tblPr/>
              <a:tblGrid>
                <a:gridCol w="1051560"/>
                <a:gridCol w="10131552"/>
              </a:tblGrid>
              <a:tr h="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Phase</a:t>
                      </a:r>
                      <a:endParaRPr lang="en-US" sz="95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1F4E79"/>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Milestones</a:t>
                      </a:r>
                      <a:endParaRPr lang="en-US" sz="95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1F4E79"/>
                    </a:solidFill>
                  </a:tcPr>
                </a:tc>
              </a:tr>
              <a:tr h="0">
                <a:tc>
                  <a:txBody>
                    <a:bodyPr/>
                    <a:lstStyle/>
                    <a:p>
                      <a:pPr indent="0" marL="0">
                        <a:buNone/>
                      </a:pPr>
                      <a:r>
                        <a:rPr lang="en-US" sz="1000" b="1" dirty="0">
                          <a:solidFill>
                            <a:srgbClr val="12202E"/>
                          </a:solidFill>
                          <a:latin typeface="Calibri" pitchFamily="34" charset="0"/>
                          <a:ea typeface="Calibri" pitchFamily="34" charset="-122"/>
                          <a:cs typeface="Calibri" pitchFamily="34" charset="-120"/>
                        </a:rPr>
                        <a:t>FYP-1</a:t>
                      </a:r>
                      <a:endParaRPr lang="en-US" sz="100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FFFFF"/>
                    </a:solidFill>
                  </a:tcPr>
                </a:tc>
                <a:tc>
                  <a:txBody>
                    <a:bodyPr/>
                    <a:lstStyle/>
                    <a:p>
                      <a:pPr indent="0" marL="0">
                        <a:buNone/>
                      </a:pPr>
                      <a:r>
                        <a:rPr lang="en-US" sz="1000" dirty="0">
                          <a:solidFill>
                            <a:srgbClr val="12202E"/>
                          </a:solidFill>
                          <a:latin typeface="Calibri" pitchFamily="34" charset="0"/>
                          <a:ea typeface="Calibri" pitchFamily="34" charset="-122"/>
                          <a:cs typeface="Calibri" pitchFamily="34" charset="-120"/>
                        </a:rPr>
                        <a:t>W1–2 verify dataset facts first-hand and secure storage  ·  W2–4 ingestion and protocol profiling  ·  W4–7 multilingual four-state labeller  ·  W6–8 feature cache and site-grouped folds  ·  W8–10 baseline arm and out-of-fold predictions  ·  W10–13 reliability estimation with intervals  ·  W13–15 checkpoint and the primary-versus-secondary decision</a:t>
                      </a:r>
                      <a:endParaRPr lang="en-US" sz="100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12202E"/>
                          </a:solidFill>
                          <a:latin typeface="Calibri" pitchFamily="34" charset="0"/>
                          <a:ea typeface="Calibri" pitchFamily="34" charset="-122"/>
                          <a:cs typeface="Calibri" pitchFamily="34" charset="-120"/>
                        </a:rPr>
                        <a:t>FYP-2</a:t>
                      </a:r>
                      <a:endParaRPr lang="en-US" sz="100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3F6F9"/>
                    </a:solidFill>
                  </a:tcPr>
                </a:tc>
                <a:tc>
                  <a:txBody>
                    <a:bodyPr/>
                    <a:lstStyle/>
                    <a:p>
                      <a:pPr indent="0" marL="0">
                        <a:buNone/>
                      </a:pPr>
                      <a:r>
                        <a:rPr lang="en-US" sz="1000" dirty="0">
                          <a:solidFill>
                            <a:srgbClr val="12202E"/>
                          </a:solidFill>
                          <a:latin typeface="Calibri" pitchFamily="34" charset="0"/>
                          <a:ea typeface="Calibri" pitchFamily="34" charset="-122"/>
                          <a:cs typeface="Calibri" pitchFamily="34" charset="-120"/>
                        </a:rPr>
                        <a:t>W16–19 noise-aware training and the remaining arms  ·  W19–22 disagreement and per-language analysis  ·  W22–26 viewer, structured report and referral guidance  ·  W26–28 calibration, evaluation harness and reproducibility packaging  ·  W28–30 acceptance testing with a domain-expert proxy, write-up and defence</a:t>
                      </a:r>
                      <a:endParaRPr lang="en-US" sz="1000" dirty="0">
                        <a:latin typeface="Calibri" charset="0"/>
                        <a:ea typeface="Calibri" charset="0"/>
                        <a:cs typeface="Calibri" charset="0"/>
                      </a:endParaRPr>
                    </a:p>
                  </a:txBody>
                  <a:tcPr marL="76200" marR="76200" marT="63500" marB="63500" anchor="t">
                    <a:lnL w="7620" cap="flat" cmpd="sng" algn="ctr">
                      <a:solidFill>
                        <a:srgbClr val="C9D5E0"/>
                      </a:solidFill>
                      <a:prstDash val="solid"/>
                      <a:round/>
                      <a:headEnd type="none" w="med" len="med"/>
                      <a:tailEnd type="none" w="med" len="med"/>
                    </a:lnL>
                    <a:lnR w="7620" cap="flat" cmpd="sng" algn="ctr">
                      <a:solidFill>
                        <a:srgbClr val="C9D5E0"/>
                      </a:solidFill>
                      <a:prstDash val="solid"/>
                      <a:round/>
                      <a:headEnd type="none" w="med" len="med"/>
                      <a:tailEnd type="none" w="med" len="med"/>
                    </a:lnR>
                    <a:lnT w="7620" cap="flat" cmpd="sng" algn="ctr">
                      <a:solidFill>
                        <a:srgbClr val="C9D5E0"/>
                      </a:solidFill>
                      <a:prstDash val="solid"/>
                      <a:round/>
                      <a:headEnd type="none" w="med" len="med"/>
                      <a:tailEnd type="none" w="med" len="med"/>
                    </a:lnT>
                    <a:lnB w="7620" cap="flat" cmpd="sng" algn="ctr">
                      <a:solidFill>
                        <a:srgbClr val="C9D5E0"/>
                      </a:solidFill>
                      <a:prstDash val="solid"/>
                      <a:round/>
                      <a:headEnd type="none" w="med" len="med"/>
                      <a:tailEnd type="none" w="med" len="med"/>
                    </a:lnB>
                    <a:solidFill>
                      <a:srgbClr val="F3F6F9"/>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1F4E79"/>
          </a:solidFill>
          <a:ln/>
        </p:spPr>
      </p:sp>
      <p:sp>
        <p:nvSpPr>
          <p:cNvPr id="3" name="Shape 1"/>
          <p:cNvSpPr/>
          <p:nvPr/>
        </p:nvSpPr>
        <p:spPr>
          <a:xfrm>
            <a:off x="502920" y="283464"/>
            <a:ext cx="475488" cy="475488"/>
          </a:xfrm>
          <a:prstGeom prst="roundRect">
            <a:avLst>
              <a:gd name="adj" fmla="val 38462"/>
            </a:avLst>
          </a:prstGeom>
          <a:solidFill>
            <a:srgbClr val="1F4E79"/>
          </a:solidFill>
          <a:ln w="12700">
            <a:solidFill>
              <a:srgbClr val="1F4E79"/>
            </a:solidFill>
            <a:prstDash val="solid"/>
          </a:ln>
        </p:spPr>
      </p:sp>
      <p:sp>
        <p:nvSpPr>
          <p:cNvPr id="4" name="Text 2"/>
          <p:cNvSpPr txBox="1"/>
          <p:nvPr/>
        </p:nvSpPr>
        <p:spPr>
          <a:xfrm>
            <a:off x="502920" y="283464"/>
            <a:ext cx="475488" cy="475488"/>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10</a:t>
            </a:r>
            <a:endParaRPr lang="en-US" sz="1900" dirty="0"/>
          </a:p>
        </p:txBody>
      </p:sp>
      <p:sp>
        <p:nvSpPr>
          <p:cNvPr id="5" name="Text 3"/>
          <p:cNvSpPr txBox="1"/>
          <p:nvPr/>
        </p:nvSpPr>
        <p:spPr>
          <a:xfrm>
            <a:off x="502920" y="786384"/>
            <a:ext cx="475488" cy="182880"/>
          </a:xfrm>
          <a:prstGeom prst="rect">
            <a:avLst/>
          </a:prstGeom>
          <a:noFill/>
          <a:ln/>
        </p:spPr>
        <p:txBody>
          <a:bodyPr wrap="square" lIns="0" tIns="0" rIns="0" bIns="0" rtlCol="0" anchor="ctr"/>
          <a:lstStyle/>
          <a:p>
            <a:pPr algn="ctr" indent="0" marL="0">
              <a:buNone/>
            </a:pPr>
            <a:r>
              <a:rPr lang="en-US" sz="750" dirty="0">
                <a:solidFill>
                  <a:srgbClr val="9AA8B5"/>
                </a:solidFill>
                <a:latin typeface="Calibri" pitchFamily="34" charset="0"/>
                <a:ea typeface="Calibri" pitchFamily="34" charset="-122"/>
                <a:cs typeface="Calibri" pitchFamily="34" charset="-120"/>
              </a:rPr>
              <a:t>OF 10</a:t>
            </a:r>
            <a:endParaRPr lang="en-US" sz="750" dirty="0"/>
          </a:p>
        </p:txBody>
      </p:sp>
      <p:sp>
        <p:nvSpPr>
          <p:cNvPr id="6" name="Text 4"/>
          <p:cNvSpPr txBox="1"/>
          <p:nvPr/>
        </p:nvSpPr>
        <p:spPr>
          <a:xfrm>
            <a:off x="1124712" y="274320"/>
            <a:ext cx="9283903" cy="475488"/>
          </a:xfrm>
          <a:prstGeom prst="rect">
            <a:avLst/>
          </a:prstGeom>
          <a:noFill/>
          <a:ln/>
        </p:spPr>
        <p:txBody>
          <a:bodyPr wrap="square" lIns="0" tIns="0" rIns="0" bIns="0" rtlCol="0" anchor="ctr"/>
          <a:lstStyle/>
          <a:p>
            <a:pPr indent="0" marL="0">
              <a:buNone/>
            </a:pPr>
            <a:r>
              <a:rPr lang="en-US" sz="2500" b="1" dirty="0">
                <a:solidFill>
                  <a:srgbClr val="12202E"/>
                </a:solidFill>
                <a:latin typeface="Calibri" pitchFamily="34" charset="0"/>
                <a:ea typeface="Calibri" pitchFamily="34" charset="-122"/>
                <a:cs typeface="Calibri" pitchFamily="34" charset="-120"/>
              </a:rPr>
              <a:t>DEI, Ethics and legal issues</a:t>
            </a:r>
            <a:endParaRPr lang="en-US" sz="2500" dirty="0"/>
          </a:p>
        </p:txBody>
      </p:sp>
      <p:sp>
        <p:nvSpPr>
          <p:cNvPr id="7" name="Text 5"/>
          <p:cNvSpPr txBox="1"/>
          <p:nvPr/>
        </p:nvSpPr>
        <p:spPr>
          <a:xfrm>
            <a:off x="1124712" y="768096"/>
            <a:ext cx="9283903" cy="310896"/>
          </a:xfrm>
          <a:prstGeom prst="rect">
            <a:avLst/>
          </a:prstGeom>
          <a:noFill/>
          <a:ln/>
        </p:spPr>
        <p:txBody>
          <a:bodyPr wrap="square" lIns="0" tIns="0" rIns="0" bIns="0" rtlCol="0" anchor="ctr"/>
          <a:lstStyle/>
          <a:p>
            <a:pPr indent="0" marL="0">
              <a:buNone/>
            </a:pPr>
            <a:r>
              <a:rPr lang="en-US" sz="1300" i="1" dirty="0">
                <a:solidFill>
                  <a:srgbClr val="5A6875"/>
                </a:solidFill>
                <a:latin typeface="Calibri" pitchFamily="34" charset="0"/>
                <a:ea typeface="Calibri" pitchFamily="34" charset="-122"/>
                <a:cs typeface="Calibri" pitchFamily="34" charset="-120"/>
              </a:rPr>
              <a:t>Statements we can be held to, not boilerplate</a:t>
            </a:r>
            <a:endParaRPr lang="en-US" sz="1300" dirty="0"/>
          </a:p>
        </p:txBody>
      </p:sp>
      <p:sp>
        <p:nvSpPr>
          <p:cNvPr id="8" name="Shape 6"/>
          <p:cNvSpPr/>
          <p:nvPr/>
        </p:nvSpPr>
        <p:spPr>
          <a:xfrm>
            <a:off x="502920" y="1115568"/>
            <a:ext cx="11185855" cy="20117"/>
          </a:xfrm>
          <a:prstGeom prst="rect">
            <a:avLst/>
          </a:prstGeom>
          <a:solidFill>
            <a:srgbClr val="1F4E79"/>
          </a:solidFill>
          <a:ln/>
        </p:spPr>
      </p:sp>
      <p:sp>
        <p:nvSpPr>
          <p:cNvPr id="9" name="Text 7"/>
          <p:cNvSpPr txBox="1"/>
          <p:nvPr/>
        </p:nvSpPr>
        <p:spPr>
          <a:xfrm>
            <a:off x="502920" y="6473952"/>
            <a:ext cx="7315200" cy="237744"/>
          </a:xfrm>
          <a:prstGeom prst="rect">
            <a:avLst/>
          </a:prstGeom>
          <a:noFill/>
          <a:ln/>
        </p:spPr>
        <p:txBody>
          <a:bodyPr wrap="square" lIns="0" tIns="0" rIns="0" bIns="0" rtlCol="0" anchor="ctr"/>
          <a:lstStyle/>
          <a:p>
            <a:pPr indent="0" marL="0">
              <a:buNone/>
            </a:pPr>
            <a:r>
              <a:rPr lang="en-US" sz="950" dirty="0">
                <a:solidFill>
                  <a:srgbClr val="9AA8B5"/>
                </a:solidFill>
                <a:latin typeface="Calibri" pitchFamily="34" charset="0"/>
                <a:ea typeface="Calibri" pitchFamily="34" charset="-122"/>
                <a:cs typeface="Calibri" pitchFamily="34" charset="-120"/>
              </a:rPr>
              <a:t>KneeWS  ·  noise-aware weak supervision  ·  proposal defence</a:t>
            </a:r>
            <a:endParaRPr lang="en-US" sz="950" dirty="0"/>
          </a:p>
        </p:txBody>
      </p:sp>
      <p:sp>
        <p:nvSpPr>
          <p:cNvPr id="10" name="Text 8"/>
          <p:cNvSpPr txBox="1"/>
          <p:nvPr/>
        </p:nvSpPr>
        <p:spPr>
          <a:xfrm>
            <a:off x="11185855" y="6473952"/>
            <a:ext cx="502920" cy="237744"/>
          </a:xfrm>
          <a:prstGeom prst="rect">
            <a:avLst/>
          </a:prstGeom>
          <a:noFill/>
          <a:ln/>
        </p:spPr>
        <p:txBody>
          <a:bodyPr wrap="square" lIns="0" tIns="0" rIns="0" bIns="0" rtlCol="0" anchor="ctr"/>
          <a:lstStyle/>
          <a:p>
            <a:pPr algn="r" indent="0" marL="0">
              <a:buNone/>
            </a:pPr>
            <a:r>
              <a:rPr lang="en-US" sz="950" dirty="0">
                <a:solidFill>
                  <a:srgbClr val="9AA8B5"/>
                </a:solidFill>
                <a:latin typeface="Calibri" pitchFamily="34" charset="0"/>
                <a:ea typeface="Calibri" pitchFamily="34" charset="-122"/>
                <a:cs typeface="Calibri" pitchFamily="34" charset="-120"/>
              </a:rPr>
              <a:t>10</a:t>
            </a:r>
            <a:endParaRPr lang="en-US" sz="950" dirty="0"/>
          </a:p>
        </p:txBody>
      </p:sp>
      <p:sp>
        <p:nvSpPr>
          <p:cNvPr id="11" name="Text 9"/>
          <p:cNvSpPr txBox="1"/>
          <p:nvPr/>
        </p:nvSpPr>
        <p:spPr>
          <a:xfrm>
            <a:off x="502920" y="1325880"/>
            <a:ext cx="3579474" cy="274320"/>
          </a:xfrm>
          <a:prstGeom prst="rect">
            <a:avLst/>
          </a:prstGeom>
          <a:noFill/>
          <a:ln/>
        </p:spPr>
        <p:txBody>
          <a:bodyPr wrap="square" lIns="0" tIns="0" rIns="0" bIns="0" rtlCol="0" anchor="ctr"/>
          <a:lstStyle/>
          <a:p>
            <a:pPr indent="0" marL="0">
              <a:buNone/>
            </a:pPr>
            <a:r>
              <a:rPr lang="en-US" sz="1400" b="1" dirty="0">
                <a:solidFill>
                  <a:srgbClr val="1F4E79"/>
                </a:solidFill>
                <a:latin typeface="Calibri" pitchFamily="34" charset="0"/>
                <a:ea typeface="Calibri" pitchFamily="34" charset="-122"/>
                <a:cs typeface="Calibri" pitchFamily="34" charset="-120"/>
              </a:rPr>
              <a:t>Diversity, equity and inclusion</a:t>
            </a:r>
            <a:endParaRPr lang="en-US" sz="1400" dirty="0"/>
          </a:p>
        </p:txBody>
      </p:sp>
      <p:sp>
        <p:nvSpPr>
          <p:cNvPr id="12" name="Text 10"/>
          <p:cNvSpPr txBox="1"/>
          <p:nvPr/>
        </p:nvSpPr>
        <p:spPr>
          <a:xfrm>
            <a:off x="502920" y="1636776"/>
            <a:ext cx="3579474" cy="4023360"/>
          </a:xfrm>
          <a:prstGeom prst="rect">
            <a:avLst/>
          </a:prstGeom>
          <a:noFill/>
          <a:ln/>
        </p:spPr>
        <p:txBody>
          <a:bodyPr wrap="square" lIns="0" tIns="0" rIns="0" bIns="0" rtlCol="0" anchor="t"/>
          <a:lstStyle/>
          <a:p>
            <a:pPr marL="342900" indent="-342900">
              <a:spcAft>
                <a:spcPts val="800"/>
              </a:spcAft>
              <a:buSzPct val="100000"/>
              <a:buChar char="•"/>
            </a:pPr>
            <a:r>
              <a:rPr lang="en-US" sz="1150" b="1" dirty="0">
                <a:solidFill>
                  <a:srgbClr val="12202E"/>
                </a:solidFill>
                <a:latin typeface="Calibri" pitchFamily="34" charset="0"/>
                <a:ea typeface="Calibri" pitchFamily="34" charset="-122"/>
                <a:cs typeface="Calibri" pitchFamily="34" charset="-120"/>
              </a:rPr>
              <a:t>The core measurement of this project is an equity measurement.</a:t>
            </a:r>
            <a:endParaRPr lang="en-US" sz="1150" dirty="0"/>
          </a:p>
          <a:p>
            <a:pPr lvl="1" marL="457200" indent="-228600">
              <a:spcAft>
                <a:spcPts val="400"/>
              </a:spcAft>
              <a:buSzPct val="100000"/>
              <a:buChar char="•"/>
            </a:pPr>
            <a:r>
              <a:rPr lang="en-US" sz="1000" dirty="0">
                <a:solidFill>
                  <a:srgbClr val="5A6875"/>
                </a:solidFill>
                <a:latin typeface="Calibri" pitchFamily="34" charset="0"/>
                <a:ea typeface="Calibri" pitchFamily="34" charset="-122"/>
                <a:cs typeface="Calibri" pitchFamily="34" charset="-120"/>
              </a:rPr>
              <a:t>We report omission rates per language. If the system degrades for Turkish, Croatian or Greek reporting sites relative to English, our own headline metric exposes it rather than hiding it.</a:t>
            </a:r>
            <a:endParaRPr lang="en-US" sz="1150" dirty="0"/>
          </a:p>
          <a:p>
            <a:pPr marL="342900" indent="-342900">
              <a:spcAft>
                <a:spcPts val="800"/>
              </a:spcAft>
              <a:buSzPct val="100000"/>
              <a:buChar char="•"/>
            </a:pPr>
            <a:r>
              <a:rPr lang="en-US" sz="1150" dirty="0">
                <a:solidFill>
                  <a:srgbClr val="12202E"/>
                </a:solidFill>
                <a:latin typeface="Calibri" pitchFamily="34" charset="0"/>
                <a:ea typeface="Calibri" pitchFamily="34" charset="-122"/>
                <a:cs typeface="Calibri" pitchFamily="34" charset="-120"/>
              </a:rPr>
              <a:t>Accessibility is built in, not retrofitted: colour-blind-safe palette, no meaning carried by colour alone, keyboard-navigable review screens, and readable type in the clinical views.</a:t>
            </a:r>
            <a:endParaRPr lang="en-US" sz="1150" dirty="0"/>
          </a:p>
          <a:p>
            <a:pPr marL="342900" indent="-342900">
              <a:spcAft>
                <a:spcPts val="800"/>
              </a:spcAft>
              <a:buSzPct val="100000"/>
              <a:buChar char="•"/>
            </a:pPr>
            <a:r>
              <a:rPr lang="en-US" sz="1150" dirty="0">
                <a:solidFill>
                  <a:srgbClr val="12202E"/>
                </a:solidFill>
                <a:latin typeface="Calibri" pitchFamily="34" charset="0"/>
                <a:ea typeface="Calibri" pitchFamily="34" charset="-122"/>
                <a:cs typeface="Calibri" pitchFamily="34" charset="-120"/>
              </a:rPr>
              <a:t>Within the team, primary technical ownership is distributed across the three genuinely difficult subsystems, with a rotating reviewer so no member is confined to interface or documentation work.</a:t>
            </a:r>
            <a:endParaRPr lang="en-US" sz="1150" dirty="0"/>
          </a:p>
        </p:txBody>
      </p:sp>
      <p:sp>
        <p:nvSpPr>
          <p:cNvPr id="13" name="Text 11"/>
          <p:cNvSpPr txBox="1"/>
          <p:nvPr/>
        </p:nvSpPr>
        <p:spPr>
          <a:xfrm>
            <a:off x="4417969" y="1325880"/>
            <a:ext cx="3579474" cy="274320"/>
          </a:xfrm>
          <a:prstGeom prst="rect">
            <a:avLst/>
          </a:prstGeom>
          <a:noFill/>
          <a:ln/>
        </p:spPr>
        <p:txBody>
          <a:bodyPr wrap="square" lIns="0" tIns="0" rIns="0" bIns="0" rtlCol="0" anchor="ctr"/>
          <a:lstStyle/>
          <a:p>
            <a:pPr indent="0" marL="0">
              <a:buNone/>
            </a:pPr>
            <a:r>
              <a:rPr lang="en-US" sz="1400" b="1" dirty="0">
                <a:solidFill>
                  <a:srgbClr val="1F4E79"/>
                </a:solidFill>
                <a:latin typeface="Calibri" pitchFamily="34" charset="0"/>
                <a:ea typeface="Calibri" pitchFamily="34" charset="-122"/>
                <a:cs typeface="Calibri" pitchFamily="34" charset="-120"/>
              </a:rPr>
              <a:t>Ethics</a:t>
            </a:r>
            <a:endParaRPr lang="en-US" sz="1400" dirty="0"/>
          </a:p>
        </p:txBody>
      </p:sp>
      <p:sp>
        <p:nvSpPr>
          <p:cNvPr id="14" name="Text 12"/>
          <p:cNvSpPr txBox="1"/>
          <p:nvPr/>
        </p:nvSpPr>
        <p:spPr>
          <a:xfrm>
            <a:off x="4417969" y="1636776"/>
            <a:ext cx="3467615" cy="4023360"/>
          </a:xfrm>
          <a:prstGeom prst="rect">
            <a:avLst/>
          </a:prstGeom>
          <a:noFill/>
          <a:ln/>
        </p:spPr>
        <p:txBody>
          <a:bodyPr wrap="square" lIns="0" tIns="0" rIns="0" bIns="0" rtlCol="0" anchor="t"/>
          <a:lstStyle/>
          <a:p>
            <a:pPr marL="342900" indent="-342900">
              <a:spcAft>
                <a:spcPts val="800"/>
              </a:spcAft>
              <a:buSzPct val="100000"/>
              <a:buChar char="•"/>
            </a:pPr>
            <a:r>
              <a:rPr lang="en-US" sz="1150" dirty="0">
                <a:solidFill>
                  <a:srgbClr val="12202E"/>
                </a:solidFill>
                <a:latin typeface="Calibri" pitchFamily="34" charset="0"/>
                <a:ea typeface="Calibri" pitchFamily="34" charset="-122"/>
                <a:cs typeface="Calibri" pitchFamily="34" charset="-120"/>
              </a:rPr>
              <a:t>De-identified public research data. No patient recruitment, no new data collection, no identifiable records handled by the team.</a:t>
            </a:r>
            <a:endParaRPr lang="en-US" sz="1150" dirty="0"/>
          </a:p>
          <a:p>
            <a:pPr marL="342900" indent="-342900">
              <a:spcAft>
                <a:spcPts val="800"/>
              </a:spcAft>
              <a:buSzPct val="100000"/>
              <a:buChar char="•"/>
            </a:pPr>
            <a:r>
              <a:rPr lang="en-US" sz="1150" b="1" dirty="0">
                <a:solidFill>
                  <a:srgbClr val="12202E"/>
                </a:solidFill>
                <a:latin typeface="Calibri" pitchFamily="34" charset="0"/>
                <a:ea typeface="Calibri" pitchFamily="34" charset="-122"/>
                <a:cs typeface="Calibri" pitchFamily="34" charset="-120"/>
              </a:rPr>
              <a:t>The system abstains rather than guesses.</a:t>
            </a:r>
            <a:endParaRPr lang="en-US" sz="1150" dirty="0"/>
          </a:p>
          <a:p>
            <a:pPr lvl="1" marL="457200" indent="-228600">
              <a:spcAft>
                <a:spcPts val="400"/>
              </a:spcAft>
              <a:buSzPct val="100000"/>
              <a:buChar char="•"/>
            </a:pPr>
            <a:r>
              <a:rPr lang="en-US" sz="1000" dirty="0">
                <a:solidFill>
                  <a:srgbClr val="5A6875"/>
                </a:solidFill>
                <a:latin typeface="Calibri" pitchFamily="34" charset="0"/>
                <a:ea typeface="Calibri" pitchFamily="34" charset="-122"/>
                <a:cs typeface="Calibri" pitchFamily="34" charset="-120"/>
              </a:rPr>
              <a:t>Where the confidence range is too wide to act on, it reports abstention instead of a number — the behaviour a decision-support tool should have.</a:t>
            </a:r>
            <a:endParaRPr lang="en-US" sz="1150" dirty="0"/>
          </a:p>
          <a:p>
            <a:pPr marL="342900" indent="-342900">
              <a:spcAft>
                <a:spcPts val="800"/>
              </a:spcAft>
              <a:buSzPct val="100000"/>
              <a:buChar char="•"/>
            </a:pPr>
            <a:r>
              <a:rPr lang="en-US" sz="1150" dirty="0">
                <a:solidFill>
                  <a:srgbClr val="12202E"/>
                </a:solidFill>
                <a:latin typeface="Calibri" pitchFamily="34" charset="0"/>
                <a:ea typeface="Calibri" pitchFamily="34" charset="-122"/>
                <a:cs typeface="Calibri" pitchFamily="34" charset="-120"/>
              </a:rPr>
              <a:t>Every screen carries a standing non-diagnostic disclaimer. Referral guidance names a specialist category, never a named doctor, a diagnosis or a treatment.</a:t>
            </a:r>
            <a:endParaRPr lang="en-US" sz="1150" dirty="0"/>
          </a:p>
          <a:p>
            <a:pPr marL="342900" indent="-342900">
              <a:spcAft>
                <a:spcPts val="800"/>
              </a:spcAft>
              <a:buSzPct val="100000"/>
              <a:buChar char="•"/>
            </a:pPr>
            <a:r>
              <a:rPr lang="en-US" sz="1150" dirty="0">
                <a:solidFill>
                  <a:srgbClr val="12202E"/>
                </a:solidFill>
                <a:latin typeface="Calibri" pitchFamily="34" charset="0"/>
                <a:ea typeface="Calibri" pitchFamily="34" charset="-122"/>
                <a:cs typeface="Calibri" pitchFamily="34" charset="-120"/>
              </a:rPr>
              <a:t>Failures, disagreements and the limits of the evidence are reported as results, not omitted from them.</a:t>
            </a:r>
            <a:endParaRPr lang="en-US" sz="1150" dirty="0"/>
          </a:p>
          <a:p>
            <a:pPr marL="342900" indent="-342900">
              <a:spcAft>
                <a:spcPts val="800"/>
              </a:spcAft>
              <a:buSzPct val="100000"/>
              <a:buChar char="•"/>
            </a:pPr>
            <a:r>
              <a:rPr lang="en-US" sz="1150" dirty="0">
                <a:solidFill>
                  <a:srgbClr val="12202E"/>
                </a:solidFill>
                <a:latin typeface="Calibri" pitchFamily="34" charset="0"/>
                <a:ea typeface="Calibri" pitchFamily="34" charset="-122"/>
                <a:cs typeface="Calibri" pitchFamily="34" charset="-120"/>
              </a:rPr>
              <a:t>No real users can be reached inside two semesters for a clinical tool. Acceptance testing will use a domain-expert proxy, declared now at proposal stage rather than at the final defence.</a:t>
            </a:r>
            <a:endParaRPr lang="en-US" sz="1150" dirty="0"/>
          </a:p>
        </p:txBody>
      </p:sp>
      <p:sp>
        <p:nvSpPr>
          <p:cNvPr id="15" name="Text 13"/>
          <p:cNvSpPr txBox="1"/>
          <p:nvPr/>
        </p:nvSpPr>
        <p:spPr>
          <a:xfrm>
            <a:off x="8221160" y="1325880"/>
            <a:ext cx="3579474" cy="274320"/>
          </a:xfrm>
          <a:prstGeom prst="rect">
            <a:avLst/>
          </a:prstGeom>
          <a:noFill/>
          <a:ln/>
        </p:spPr>
        <p:txBody>
          <a:bodyPr wrap="square" lIns="0" tIns="0" rIns="0" bIns="0" rtlCol="0" anchor="ctr"/>
          <a:lstStyle/>
          <a:p>
            <a:pPr indent="0" marL="0">
              <a:buNone/>
            </a:pPr>
            <a:r>
              <a:rPr lang="en-US" sz="1400" b="1" dirty="0">
                <a:solidFill>
                  <a:srgbClr val="1F4E79"/>
                </a:solidFill>
                <a:latin typeface="Calibri" pitchFamily="34" charset="0"/>
                <a:ea typeface="Calibri" pitchFamily="34" charset="-122"/>
                <a:cs typeface="Calibri" pitchFamily="34" charset="-120"/>
              </a:rPr>
              <a:t>Legal and professional</a:t>
            </a:r>
            <a:endParaRPr lang="en-US" sz="1400" dirty="0"/>
          </a:p>
        </p:txBody>
      </p:sp>
      <p:sp>
        <p:nvSpPr>
          <p:cNvPr id="16" name="Text 14"/>
          <p:cNvSpPr txBox="1"/>
          <p:nvPr/>
        </p:nvSpPr>
        <p:spPr>
          <a:xfrm>
            <a:off x="8221160" y="1636776"/>
            <a:ext cx="3467615" cy="4023360"/>
          </a:xfrm>
          <a:prstGeom prst="rect">
            <a:avLst/>
          </a:prstGeom>
          <a:noFill/>
          <a:ln/>
        </p:spPr>
        <p:txBody>
          <a:bodyPr wrap="square" lIns="0" tIns="0" rIns="0" bIns="0" rtlCol="0" anchor="t"/>
          <a:lstStyle/>
          <a:p>
            <a:pPr marL="342900" indent="-342900">
              <a:spcAft>
                <a:spcPts val="800"/>
              </a:spcAft>
              <a:buSzPct val="100000"/>
              <a:buChar char="•"/>
            </a:pPr>
            <a:r>
              <a:rPr lang="en-US" sz="1150" dirty="0">
                <a:solidFill>
                  <a:srgbClr val="12202E"/>
                </a:solidFill>
                <a:latin typeface="Calibri" pitchFamily="34" charset="0"/>
                <a:ea typeface="Calibri" pitchFamily="34" charset="-122"/>
                <a:cs typeface="Calibri" pitchFamily="34" charset="-120"/>
              </a:rPr>
              <a:t>RSNA / Kaggle competition data licence and rules observed, including the prohibition on hosted LLM APIs for report text and the offline notebook constraint.</a:t>
            </a:r>
            <a:endParaRPr lang="en-US" sz="1150" dirty="0"/>
          </a:p>
          <a:p>
            <a:pPr marL="342900" indent="-342900">
              <a:spcAft>
                <a:spcPts val="800"/>
              </a:spcAft>
              <a:buSzPct val="100000"/>
              <a:buChar char="•"/>
            </a:pPr>
            <a:r>
              <a:rPr lang="en-US" sz="1150" dirty="0">
                <a:solidFill>
                  <a:srgbClr val="12202E"/>
                </a:solidFill>
                <a:latin typeface="Calibri" pitchFamily="34" charset="0"/>
                <a:ea typeface="Calibri" pitchFamily="34" charset="-122"/>
                <a:cs typeface="Calibri" pitchFamily="34" charset="-120"/>
              </a:rPr>
              <a:t>Only open-weight models with permissive licences. All external code, models, datasets and prompts attributed in the dependency disclosure sheet.</a:t>
            </a:r>
            <a:endParaRPr lang="en-US" sz="1150" dirty="0"/>
          </a:p>
          <a:p>
            <a:pPr marL="342900" indent="-342900">
              <a:spcAft>
                <a:spcPts val="800"/>
              </a:spcAft>
              <a:buSzPct val="100000"/>
              <a:buChar char="•"/>
            </a:pPr>
            <a:r>
              <a:rPr lang="en-US" sz="1150" dirty="0">
                <a:solidFill>
                  <a:srgbClr val="12202E"/>
                </a:solidFill>
                <a:latin typeface="Calibri" pitchFamily="34" charset="0"/>
                <a:ea typeface="Calibri" pitchFamily="34" charset="-122"/>
                <a:cs typeface="Calibri" pitchFamily="34" charset="-120"/>
              </a:rPr>
              <a:t>No redistribution of DICOM data. Derived features and trained weights only.</a:t>
            </a:r>
            <a:endParaRPr lang="en-US" sz="1150" dirty="0"/>
          </a:p>
          <a:p>
            <a:pPr marL="342900" indent="-342900">
              <a:spcAft>
                <a:spcPts val="800"/>
              </a:spcAft>
              <a:buSzPct val="100000"/>
              <a:buChar char="•"/>
            </a:pPr>
            <a:r>
              <a:rPr lang="en-US" sz="1150" dirty="0">
                <a:solidFill>
                  <a:srgbClr val="12202E"/>
                </a:solidFill>
                <a:latin typeface="Calibri" pitchFamily="34" charset="0"/>
                <a:ea typeface="Calibri" pitchFamily="34" charset="-122"/>
                <a:cs typeface="Calibri" pitchFamily="34" charset="-120"/>
              </a:rPr>
              <a:t>An AI-usage log is maintained from week one and countersigned by the supervisor, covering ideation, code generation, debugging, test generation and documentation.</a:t>
            </a:r>
            <a:endParaRPr lang="en-US" sz="1150" dirty="0"/>
          </a:p>
        </p:txBody>
      </p:sp>
      <p:sp>
        <p:nvSpPr>
          <p:cNvPr id="17" name="Shape 15"/>
          <p:cNvSpPr/>
          <p:nvPr/>
        </p:nvSpPr>
        <p:spPr>
          <a:xfrm>
            <a:off x="502920" y="5532120"/>
            <a:ext cx="11185855" cy="994918"/>
          </a:xfrm>
          <a:prstGeom prst="roundRect">
            <a:avLst>
              <a:gd name="adj" fmla="val 3676"/>
            </a:avLst>
          </a:prstGeom>
          <a:solidFill>
            <a:srgbClr val="F9E7E7"/>
          </a:solidFill>
          <a:ln w="12700">
            <a:solidFill>
              <a:srgbClr val="8C2F2F"/>
            </a:solidFill>
            <a:prstDash val="solid"/>
          </a:ln>
        </p:spPr>
      </p:sp>
      <p:sp>
        <p:nvSpPr>
          <p:cNvPr id="18" name="Text 16"/>
          <p:cNvSpPr txBox="1"/>
          <p:nvPr/>
        </p:nvSpPr>
        <p:spPr>
          <a:xfrm>
            <a:off x="667512" y="5650992"/>
            <a:ext cx="10856671" cy="256032"/>
          </a:xfrm>
          <a:prstGeom prst="rect">
            <a:avLst/>
          </a:prstGeom>
          <a:noFill/>
          <a:ln/>
        </p:spPr>
        <p:txBody>
          <a:bodyPr wrap="square" lIns="0" tIns="0" rIns="0" bIns="0" rtlCol="0" anchor="ctr"/>
          <a:lstStyle/>
          <a:p>
            <a:pPr indent="0" marL="0">
              <a:buNone/>
            </a:pPr>
            <a:r>
              <a:rPr lang="en-US" sz="1200" b="1" dirty="0">
                <a:solidFill>
                  <a:srgbClr val="8C2F2F"/>
                </a:solidFill>
                <a:latin typeface="Calibri" pitchFamily="34" charset="0"/>
                <a:ea typeface="Calibri" pitchFamily="34" charset="-122"/>
                <a:cs typeface="Calibri" pitchFamily="34" charset="-120"/>
              </a:rPr>
              <a:t>The standing disclaimer, carried on every screen of the system</a:t>
            </a:r>
            <a:endParaRPr lang="en-US" sz="1200" dirty="0"/>
          </a:p>
        </p:txBody>
      </p:sp>
      <p:sp>
        <p:nvSpPr>
          <p:cNvPr id="19" name="Text 17"/>
          <p:cNvSpPr txBox="1"/>
          <p:nvPr/>
        </p:nvSpPr>
        <p:spPr>
          <a:xfrm>
            <a:off x="667512" y="5943600"/>
            <a:ext cx="10856671" cy="473710"/>
          </a:xfrm>
          <a:prstGeom prst="rect">
            <a:avLst/>
          </a:prstGeom>
          <a:noFill/>
          <a:ln/>
        </p:spPr>
        <p:txBody>
          <a:bodyPr wrap="square" lIns="0" tIns="0" rIns="0" bIns="0" rtlCol="0" anchor="t"/>
          <a:lstStyle/>
          <a:p>
            <a:pPr indent="0" marL="0">
              <a:lnSpc>
                <a:spcPct val="112000"/>
              </a:lnSpc>
              <a:buNone/>
            </a:pPr>
            <a:r>
              <a:rPr lang="en-US" sz="1150" dirty="0">
                <a:solidFill>
                  <a:srgbClr val="12202E"/>
                </a:solidFill>
                <a:latin typeface="Calibri" pitchFamily="34" charset="0"/>
                <a:ea typeface="Calibri" pitchFamily="34" charset="-122"/>
                <a:cs typeface="Calibri" pitchFamily="34" charset="-120"/>
              </a:rPr>
              <a:t>KneeWS is a medical-imaging research and decision-support system. It is not a clinically validated diagnostic system, it does not provide diagnosis or treatment advice, and its referral guidance names a specialist category only.</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FAST NUCES Islamabad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KneeWS</dc:creator>
  <cp:lastModifiedBy>KneeWS</cp:lastModifiedBy>
  <cp:revision>1</cp:revision>
  <dcterms:created xsi:type="dcterms:W3CDTF">2026-09-10T01:04:08Z</dcterms:created>
  <dcterms:modified xsi:type="dcterms:W3CDTF">2026-09-10T01:04:08Z</dcterms:modified>
</cp:coreProperties>
</file>