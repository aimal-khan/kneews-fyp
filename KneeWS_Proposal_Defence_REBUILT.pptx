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one-sentence problem out loud before anything else. 58 expert-labelled studies against 4,349 report-only ones, and the reports are wrong about one time in six. Everything in the next nineteen minutes follows from that sentence.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synovitis number is the strongest single fact in the deck. 46.6 percent against 3.3 percent. If the panel remembers one thing, make it that. It proves the problem is real, it is specific to this dataset, and it is not something we invented.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Handbook C.10 warns that changing platform, language or model name is not a difference. So lead with the structural difference: everyone else consumes report states, we estimate what they are worth. The prior-FYP row is from the Fall-2025 tab of the departmental repository; the full multi-year scan is still in progress and we should say so if asked.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that the literature changed what we are building, not that we read a lot. Every row's fourth column is a decision. If a panel member asks which source we would drop, the answer is none — each one closed off an option.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all nine rows. Lead with 2, 4 and 8, then point at row 6 and say we marked it weak deliberately. Panels notice honesty here — the handbook explicitly warns against inflating every row, so the weak mark is worth more than a ninth strong claim.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contribution statement verbatim — it is written to the handbook's template on purpose, and the panel will recognise the shape. Then point at the diagram and say where the novelty sits: one box, the reliability estimation stage. Everything else is engineering around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handbook is explicit that a slide saying a POC was done is not a POC. Show the screens live if there is time, and state the POC 1 result plainly: the arithmetic told us we could not do what we originally planned, and we changed the design. A POC that disproved an assumption is worth more than one that confirmed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marks sit on the tool boundary alone, so do not rush the right-hand box. The swap test is the sentence to say out loud: replace the encoder with any comparable model and our contribution is untouched. That is what separates core-assist from core-replacement in the handbook.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scope test box is the answer to the question the handbook tells panels to ask. Say it directly: remove any one of us and a hard subsystem plus its evidence vanishes. Nobody here owns only slides or only testing.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DEI point is the one that is genuinely ours rather than generic: our headline metric is a per-language equity measurement. Most projects bolt DEI on; here it falls out of the research question, and that is worth saying plainly.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02920"/>
            <a:ext cx="10972800" cy="274320"/>
          </a:xfrm>
          <a:prstGeom prst="rect">
            <a:avLst/>
          </a:prstGeom>
          <a:noFill/>
        </p:spPr>
        <p:txBody>
          <a:bodyPr wrap="square" lIns="0" rIns="0" tIns="0" bIns="0" anchor="t">
            <a:spAutoFit/>
          </a:bodyPr>
          <a:lstStyle/>
          <a:p>
            <a:pPr algn="l">
              <a:lnSpc>
                <a:spcPct val="115000"/>
              </a:lnSpc>
            </a:pPr>
            <a:r>
              <a:rPr sz="1100" b="1">
                <a:solidFill>
                  <a:srgbClr val="64748B"/>
                </a:solidFill>
                <a:latin typeface="Carlito"/>
              </a:rPr>
              <a:t>FYP PROPOSAL DEFENCE  ·  FAST NUCES ISLAMABAD</a:t>
            </a:r>
          </a:p>
        </p:txBody>
      </p:sp>
      <p:sp>
        <p:nvSpPr>
          <p:cNvPr id="5" name="TextBox 4"/>
          <p:cNvSpPr txBox="1"/>
          <p:nvPr/>
        </p:nvSpPr>
        <p:spPr>
          <a:xfrm>
            <a:off x="777240" y="1097280"/>
            <a:ext cx="10972800" cy="1097280"/>
          </a:xfrm>
          <a:prstGeom prst="rect">
            <a:avLst/>
          </a:prstGeom>
          <a:noFill/>
        </p:spPr>
        <p:txBody>
          <a:bodyPr wrap="square" lIns="0" rIns="0" tIns="0" bIns="0" anchor="t">
            <a:spAutoFit/>
          </a:bodyPr>
          <a:lstStyle/>
          <a:p>
            <a:pPr algn="l">
              <a:lnSpc>
                <a:spcPct val="115000"/>
              </a:lnSpc>
            </a:pPr>
            <a:r>
              <a:rPr sz="7200" b="1">
                <a:solidFill>
                  <a:srgbClr val="0F1B2D"/>
                </a:solidFill>
                <a:latin typeface="Caladea"/>
              </a:rPr>
              <a:t>KneeWS</a:t>
            </a:r>
          </a:p>
        </p:txBody>
      </p:sp>
      <p:sp>
        <p:nvSpPr>
          <p:cNvPr id="6" name="TextBox 5"/>
          <p:cNvSpPr txBox="1"/>
          <p:nvPr/>
        </p:nvSpPr>
        <p:spPr>
          <a:xfrm>
            <a:off x="777240" y="2121408"/>
            <a:ext cx="10972800" cy="411480"/>
          </a:xfrm>
          <a:prstGeom prst="rect">
            <a:avLst/>
          </a:prstGeom>
          <a:noFill/>
        </p:spPr>
        <p:txBody>
          <a:bodyPr wrap="square" lIns="0" rIns="0" tIns="0" bIns="0" anchor="t">
            <a:spAutoFit/>
          </a:bodyPr>
          <a:lstStyle/>
          <a:p>
            <a:pPr algn="l">
              <a:lnSpc>
                <a:spcPct val="115000"/>
              </a:lnSpc>
            </a:pPr>
            <a:r>
              <a:rPr sz="2200" b="0">
                <a:solidFill>
                  <a:srgbClr val="2563EB"/>
                </a:solidFill>
                <a:latin typeface="Caladea"/>
              </a:rPr>
              <a:t>Knee Weak Supervision</a:t>
            </a:r>
          </a:p>
        </p:txBody>
      </p:sp>
      <p:sp>
        <p:nvSpPr>
          <p:cNvPr id="7" name="TextBox 6"/>
          <p:cNvSpPr txBox="1"/>
          <p:nvPr/>
        </p:nvSpPr>
        <p:spPr>
          <a:xfrm>
            <a:off x="777240" y="2578608"/>
            <a:ext cx="10972800" cy="777240"/>
          </a:xfrm>
          <a:prstGeom prst="rect">
            <a:avLst/>
          </a:prstGeom>
          <a:noFill/>
        </p:spPr>
        <p:txBody>
          <a:bodyPr wrap="square" lIns="0" rIns="0" tIns="0" bIns="0" anchor="t">
            <a:spAutoFit/>
          </a:bodyPr>
          <a:lstStyle/>
          <a:p>
            <a:pPr algn="l">
              <a:lnSpc>
                <a:spcPct val="125000"/>
              </a:lnSpc>
            </a:pPr>
            <a:r>
              <a:rPr sz="1500" b="0">
                <a:solidFill>
                  <a:srgbClr val="64748B"/>
                </a:solidFill>
                <a:latin typeface="Carlito"/>
              </a:rPr>
              <a:t>Noise-Aware Weak Supervision from Multilingual Radiology Reports for Multi-Label Knee MRI Analysis</a:t>
            </a:r>
          </a:p>
        </p:txBody>
      </p:sp>
      <p:sp>
        <p:nvSpPr>
          <p:cNvPr id="8" name="Rounded Rectangle 7"/>
          <p:cNvSpPr/>
          <p:nvPr/>
        </p:nvSpPr>
        <p:spPr>
          <a:xfrm>
            <a:off x="777240" y="3611880"/>
            <a:ext cx="10607040" cy="1371600"/>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611880"/>
            <a:ext cx="91440" cy="1371600"/>
          </a:xfrm>
          <a:prstGeom prst="rect">
            <a:avLst/>
          </a:prstGeom>
          <a:solidFill>
            <a:srgbClr val="E07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3712463"/>
            <a:ext cx="10058400" cy="182880"/>
          </a:xfrm>
          <a:prstGeom prst="rect">
            <a:avLst/>
          </a:prstGeom>
          <a:noFill/>
        </p:spPr>
        <p:txBody>
          <a:bodyPr wrap="square" lIns="0" rIns="0" tIns="0" bIns="0" anchor="t">
            <a:spAutoFit/>
          </a:bodyPr>
          <a:lstStyle/>
          <a:p>
            <a:pPr algn="l">
              <a:lnSpc>
                <a:spcPct val="115000"/>
              </a:lnSpc>
            </a:pPr>
            <a:r>
              <a:rPr sz="1000" b="1">
                <a:solidFill>
                  <a:srgbClr val="E0732B"/>
                </a:solidFill>
                <a:latin typeface="Carlito"/>
              </a:rPr>
              <a:t>The problem in one sentence</a:t>
            </a:r>
          </a:p>
        </p:txBody>
      </p:sp>
      <p:sp>
        <p:nvSpPr>
          <p:cNvPr id="11" name="TextBox 10"/>
          <p:cNvSpPr txBox="1"/>
          <p:nvPr/>
        </p:nvSpPr>
        <p:spPr>
          <a:xfrm>
            <a:off x="1033271" y="3986784"/>
            <a:ext cx="10241280" cy="960120"/>
          </a:xfrm>
          <a:prstGeom prst="rect">
            <a:avLst/>
          </a:prstGeom>
          <a:noFill/>
        </p:spPr>
        <p:txBody>
          <a:bodyPr wrap="square" lIns="0" rIns="0" tIns="0" bIns="0" anchor="t">
            <a:spAutoFit/>
          </a:bodyPr>
          <a:lstStyle/>
          <a:p>
            <a:pPr algn="l">
              <a:lnSpc>
                <a:spcPct val="132000"/>
              </a:lnSpc>
            </a:pPr>
            <a:r>
              <a:rPr sz="1400" b="0">
                <a:solidFill>
                  <a:srgbClr val="0F1B2D"/>
                </a:solidFill>
                <a:latin typeface="Carlito"/>
              </a:rPr>
              <a:t>Only 58 of 4,407 knee MRI studies carry expert labels; the other 4,349 carry radiology reports that disagree with expert readings about one time in six, in ways nobody has measured — so the labels we must train on are wrong, and we do not know how.</a:t>
            </a:r>
          </a:p>
        </p:txBody>
      </p:sp>
      <p:sp>
        <p:nvSpPr>
          <p:cNvPr id="12" name="Rectangle 11"/>
          <p:cNvSpPr/>
          <p:nvPr/>
        </p:nvSpPr>
        <p:spPr>
          <a:xfrm>
            <a:off x="777240" y="5138928"/>
            <a:ext cx="1060704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230368"/>
            <a:ext cx="10607040" cy="274320"/>
          </a:xfrm>
          <a:prstGeom prst="rect">
            <a:avLst/>
          </a:prstGeom>
          <a:noFill/>
        </p:spPr>
        <p:txBody>
          <a:bodyPr wrap="square" lIns="0" rIns="0" tIns="0" bIns="0" anchor="t">
            <a:spAutoFit/>
          </a:bodyPr>
          <a:lstStyle/>
          <a:p>
            <a:pPr algn="l">
              <a:lnSpc>
                <a:spcPct val="115000"/>
              </a:lnSpc>
            </a:pPr>
            <a:r>
              <a:rPr sz="1300" b="1">
                <a:solidFill>
                  <a:srgbClr val="0F1B2D"/>
                </a:solidFill>
                <a:latin typeface="Carlito"/>
              </a:rPr>
              <a:t>[ Member 1 ]   ·   [ Member 2 ]   ·   [ Member 3 ]</a:t>
            </a:r>
          </a:p>
        </p:txBody>
      </p:sp>
      <p:sp>
        <p:nvSpPr>
          <p:cNvPr id="14" name="TextBox 13"/>
          <p:cNvSpPr txBox="1"/>
          <p:nvPr/>
        </p:nvSpPr>
        <p:spPr>
          <a:xfrm>
            <a:off x="777240" y="5559552"/>
            <a:ext cx="10607040" cy="256032"/>
          </a:xfrm>
          <a:prstGeom prst="rect">
            <a:avLst/>
          </a:prstGeom>
          <a:noFill/>
        </p:spPr>
        <p:txBody>
          <a:bodyPr wrap="square" lIns="0" rIns="0" tIns="0" bIns="0" anchor="t">
            <a:spAutoFit/>
          </a:bodyPr>
          <a:lstStyle/>
          <a:p>
            <a:pPr algn="l">
              <a:lnSpc>
                <a:spcPct val="115000"/>
              </a:lnSpc>
            </a:pPr>
            <a:r>
              <a:rPr sz="1200" b="0">
                <a:solidFill>
                  <a:srgbClr val="64748B"/>
                </a:solidFill>
                <a:latin typeface="Carlito"/>
              </a:rPr>
              <a:t>Supervisor:  [ Supervisor name ]</a:t>
            </a:r>
          </a:p>
        </p:txBody>
      </p:sp>
      <p:sp>
        <p:nvSpPr>
          <p:cNvPr id="15" name="TextBox 14"/>
          <p:cNvSpPr txBox="1"/>
          <p:nvPr/>
        </p:nvSpPr>
        <p:spPr>
          <a:xfrm>
            <a:off x="777240" y="5907024"/>
            <a:ext cx="10607040" cy="292608"/>
          </a:xfrm>
          <a:prstGeom prst="rect">
            <a:avLst/>
          </a:prstGeom>
          <a:noFill/>
        </p:spPr>
        <p:txBody>
          <a:bodyPr wrap="square" lIns="0" rIns="0" tIns="0" bIns="0" anchor="t">
            <a:spAutoFit/>
          </a:bodyPr>
          <a:lstStyle/>
          <a:p>
            <a:pPr algn="l">
              <a:lnSpc>
                <a:spcPct val="120000"/>
              </a:lnSpc>
            </a:pPr>
            <a:r>
              <a:rPr sz="1100" b="0">
                <a:solidFill>
                  <a:srgbClr val="64748B"/>
                </a:solidFill>
                <a:latin typeface="Carlito"/>
              </a:rPr>
              <a:t>Declared stream:  </a:t>
            </a:r>
            <a:r>
              <a:rPr sz="1100" b="1">
                <a:solidFill>
                  <a:srgbClr val="0F1B2D"/>
                </a:solidFill>
                <a:latin typeface="Carlito"/>
              </a:rPr>
              <a:t>Research-derived (Stream A)</a:t>
            </a:r>
          </a:p>
          <a:p>
            <a:pPr algn="l">
              <a:lnSpc>
                <a:spcPct val="120000"/>
              </a:lnSpc>
            </a:pPr>
            <a:r>
              <a:rPr sz="1100" b="0">
                <a:solidFill>
                  <a:srgbClr val="64748B"/>
                </a:solidFill>
                <a:latin typeface="Carlito"/>
              </a:rPr>
              <a:t>     ·     Primary SDG:  </a:t>
            </a:r>
            <a:r>
              <a:rPr sz="1100" b="1">
                <a:solidFill>
                  <a:srgbClr val="0EA5A4"/>
                </a:solidFill>
                <a:latin typeface="Carlito"/>
              </a:rPr>
              <a:t>3 — Good Health and Well-being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78992"/>
            <a:ext cx="1118311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3464"/>
            <a:ext cx="502920" cy="502920"/>
          </a:xfrm>
          <a:prstGeom prst="roundRect">
            <a:avLst>
              <a:gd name="adj" fmla="val 3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83464"/>
            <a:ext cx="502920" cy="502920"/>
          </a:xfrm>
          <a:prstGeom prst="rect">
            <a:avLst/>
          </a:prstGeom>
          <a:noFill/>
        </p:spPr>
        <p:txBody>
          <a:bodyPr wrap="square" lIns="0" rIns="0" tIns="0" bIns="0" anchor="ctr">
            <a:spAutoFit/>
          </a:bodyPr>
          <a:lstStyle/>
          <a:p>
            <a:pPr algn="ctr">
              <a:lnSpc>
                <a:spcPct val="115000"/>
              </a:lnSpc>
            </a:pPr>
            <a:r>
              <a:rPr sz="2200" b="1">
                <a:solidFill>
                  <a:srgbClr val="0F1B2D"/>
                </a:solidFill>
                <a:latin typeface="Caladea"/>
              </a:rPr>
              <a:t>2</a:t>
            </a:r>
          </a:p>
        </p:txBody>
      </p:sp>
      <p:sp>
        <p:nvSpPr>
          <p:cNvPr id="7" name="TextBox 6"/>
          <p:cNvSpPr txBox="1"/>
          <p:nvPr/>
        </p:nvSpPr>
        <p:spPr>
          <a:xfrm>
            <a:off x="502920" y="768096"/>
            <a:ext cx="502920" cy="201168"/>
          </a:xfrm>
          <a:prstGeom prst="rect">
            <a:avLst/>
          </a:prstGeom>
          <a:noFill/>
        </p:spPr>
        <p:txBody>
          <a:bodyPr wrap="square" lIns="0" rIns="0" tIns="0" bIns="0" anchor="t">
            <a:spAutoFit/>
          </a:bodyPr>
          <a:lstStyle/>
          <a:p>
            <a:pPr algn="ctr">
              <a:lnSpc>
                <a:spcPct val="115000"/>
              </a:lnSpc>
            </a:pPr>
            <a:r>
              <a:rPr sz="900" b="1">
                <a:solidFill>
                  <a:srgbClr val="64748B"/>
                </a:solidFill>
                <a:latin typeface="Carlito"/>
              </a:rPr>
              <a:t>OF 10</a:t>
            </a:r>
          </a:p>
        </p:txBody>
      </p:sp>
      <p:sp>
        <p:nvSpPr>
          <p:cNvPr id="8" name="TextBox 7"/>
          <p:cNvSpPr txBox="1"/>
          <p:nvPr/>
        </p:nvSpPr>
        <p:spPr>
          <a:xfrm>
            <a:off x="502920" y="6492240"/>
            <a:ext cx="7315200" cy="256032"/>
          </a:xfrm>
          <a:prstGeom prst="rect">
            <a:avLst/>
          </a:prstGeom>
          <a:noFill/>
        </p:spPr>
        <p:txBody>
          <a:bodyPr wrap="square" lIns="0" rIns="0" tIns="0" bIns="0" anchor="t">
            <a:spAutoFit/>
          </a:bodyPr>
          <a:lstStyle/>
          <a:p>
            <a:pPr algn="l">
              <a:lnSpc>
                <a:spcPct val="115000"/>
              </a:lnSpc>
            </a:pPr>
            <a:r>
              <a:rPr sz="950" b="0">
                <a:solidFill>
                  <a:srgbClr val="64748B"/>
                </a:solidFill>
                <a:latin typeface="Carlito"/>
              </a:rPr>
              <a:t>KneeWS  ·  noise-aware weak supervision  ·  proposal defence</a:t>
            </a:r>
          </a:p>
        </p:txBody>
      </p:sp>
      <p:sp>
        <p:nvSpPr>
          <p:cNvPr id="9" name="TextBox 8"/>
          <p:cNvSpPr txBox="1"/>
          <p:nvPr/>
        </p:nvSpPr>
        <p:spPr>
          <a:xfrm>
            <a:off x="11183112" y="6492240"/>
            <a:ext cx="502920" cy="256032"/>
          </a:xfrm>
          <a:prstGeom prst="rect">
            <a:avLst/>
          </a:prstGeom>
          <a:noFill/>
        </p:spPr>
        <p:txBody>
          <a:bodyPr wrap="square" lIns="0" rIns="0" tIns="0" bIns="0" anchor="t">
            <a:spAutoFit/>
          </a:bodyPr>
          <a:lstStyle/>
          <a:p>
            <a:pPr algn="r">
              <a:lnSpc>
                <a:spcPct val="115000"/>
              </a:lnSpc>
            </a:pPr>
            <a:r>
              <a:rPr sz="950" b="0">
                <a:solidFill>
                  <a:srgbClr val="64748B"/>
                </a:solidFill>
                <a:latin typeface="Carlito"/>
              </a:rPr>
              <a:t>2</a:t>
            </a:r>
          </a:p>
        </p:txBody>
      </p:sp>
      <p:sp>
        <p:nvSpPr>
          <p:cNvPr id="10" name="TextBox 9"/>
          <p:cNvSpPr txBox="1"/>
          <p:nvPr/>
        </p:nvSpPr>
        <p:spPr>
          <a:xfrm>
            <a:off x="1124712" y="256032"/>
            <a:ext cx="9692640" cy="502920"/>
          </a:xfrm>
          <a:prstGeom prst="rect">
            <a:avLst/>
          </a:prstGeom>
          <a:noFill/>
        </p:spPr>
        <p:txBody>
          <a:bodyPr wrap="square" lIns="0" rIns="0" tIns="0" bIns="0" anchor="t">
            <a:spAutoFit/>
          </a:bodyPr>
          <a:lstStyle/>
          <a:p>
            <a:pPr algn="l">
              <a:lnSpc>
                <a:spcPct val="115000"/>
              </a:lnSpc>
            </a:pPr>
            <a:r>
              <a:rPr sz="2400" b="1">
                <a:solidFill>
                  <a:srgbClr val="0F1B2D"/>
                </a:solidFill>
                <a:latin typeface="Caladea"/>
              </a:rPr>
              <a:t>Problem and users</a:t>
            </a:r>
          </a:p>
        </p:txBody>
      </p:sp>
      <p:sp>
        <p:nvSpPr>
          <p:cNvPr id="11" name="TextBox 10"/>
          <p:cNvSpPr txBox="1"/>
          <p:nvPr/>
        </p:nvSpPr>
        <p:spPr>
          <a:xfrm>
            <a:off x="1124712" y="749808"/>
            <a:ext cx="9692640" cy="292608"/>
          </a:xfrm>
          <a:prstGeom prst="rect">
            <a:avLst/>
          </a:prstGeom>
          <a:noFill/>
        </p:spPr>
        <p:txBody>
          <a:bodyPr wrap="square" lIns="0" rIns="0" tIns="0" bIns="0" anchor="t">
            <a:spAutoFit/>
          </a:bodyPr>
          <a:lstStyle/>
          <a:p>
            <a:pPr algn="l">
              <a:lnSpc>
                <a:spcPct val="115000"/>
              </a:lnSpc>
            </a:pPr>
            <a:r>
              <a:rPr sz="1250" b="0">
                <a:solidFill>
                  <a:srgbClr val="64748B"/>
                </a:solidFill>
                <a:latin typeface="Carlito"/>
              </a:rPr>
              <a:t>Who faces it, how it is handled today, and why the failure matters</a:t>
            </a:r>
          </a:p>
        </p:txBody>
      </p:sp>
      <p:sp>
        <p:nvSpPr>
          <p:cNvPr id="12" name="Rectangle 11"/>
          <p:cNvSpPr/>
          <p:nvPr/>
        </p:nvSpPr>
        <p:spPr>
          <a:xfrm>
            <a:off x="502920" y="1280160"/>
            <a:ext cx="2460284" cy="5715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280160"/>
            <a:ext cx="2277404" cy="57150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Who</a:t>
            </a:r>
          </a:p>
        </p:txBody>
      </p:sp>
      <p:sp>
        <p:nvSpPr>
          <p:cNvPr id="14" name="Rectangle 13"/>
          <p:cNvSpPr/>
          <p:nvPr/>
        </p:nvSpPr>
        <p:spPr>
          <a:xfrm>
            <a:off x="2963204" y="1280160"/>
            <a:ext cx="4025920" cy="5715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4644" y="1280160"/>
            <a:ext cx="3843040" cy="57150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What they face today</a:t>
            </a:r>
          </a:p>
        </p:txBody>
      </p:sp>
      <p:sp>
        <p:nvSpPr>
          <p:cNvPr id="16" name="Rectangle 15"/>
          <p:cNvSpPr/>
          <p:nvPr/>
        </p:nvSpPr>
        <p:spPr>
          <a:xfrm>
            <a:off x="6989124" y="1280160"/>
            <a:ext cx="4696907" cy="5715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80564" y="1280160"/>
            <a:ext cx="4514027" cy="57150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Why the current handling fails</a:t>
            </a:r>
          </a:p>
        </p:txBody>
      </p:sp>
      <p:sp>
        <p:nvSpPr>
          <p:cNvPr id="18" name="Rectangle 17"/>
          <p:cNvSpPr/>
          <p:nvPr/>
        </p:nvSpPr>
        <p:spPr>
          <a:xfrm>
            <a:off x="502920" y="1851660"/>
            <a:ext cx="2460284" cy="5715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851660"/>
            <a:ext cx="2277404" cy="57150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Medical-imaging AI researchers &amp; model developers</a:t>
            </a:r>
          </a:p>
        </p:txBody>
      </p:sp>
      <p:sp>
        <p:nvSpPr>
          <p:cNvPr id="20" name="Rectangle 19"/>
          <p:cNvSpPr/>
          <p:nvPr/>
        </p:nvSpPr>
        <p:spPr>
          <a:xfrm>
            <a:off x="2963204" y="1851660"/>
            <a:ext cx="4025920" cy="5715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644" y="1851660"/>
            <a:ext cx="3843040" cy="57150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Expert annotation is the bottleneck. A study takes two radiologists plus an adjudicator; a dataset takes years. So teams train on labels scraped from reports instead.</a:t>
            </a:r>
          </a:p>
        </p:txBody>
      </p:sp>
      <p:sp>
        <p:nvSpPr>
          <p:cNvPr id="22" name="Rectangle 21"/>
          <p:cNvSpPr/>
          <p:nvPr/>
        </p:nvSpPr>
        <p:spPr>
          <a:xfrm>
            <a:off x="6989124" y="1851660"/>
            <a:ext cx="4696907" cy="5715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80564" y="1851660"/>
            <a:ext cx="4514027" cy="57150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The scraping step converts free text to a hard 1 or 0 and treats every finding the report does not mention as absent. That assumption is never measured, and it is silently wrong.</a:t>
            </a:r>
          </a:p>
        </p:txBody>
      </p:sp>
      <p:sp>
        <p:nvSpPr>
          <p:cNvPr id="24" name="Rectangle 23"/>
          <p:cNvSpPr/>
          <p:nvPr/>
        </p:nvSpPr>
        <p:spPr>
          <a:xfrm>
            <a:off x="502920" y="241858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2423160"/>
            <a:ext cx="2460284" cy="57150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2423160"/>
            <a:ext cx="2277404" cy="57150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Radiologists in high-volume settings</a:t>
            </a:r>
          </a:p>
        </p:txBody>
      </p:sp>
      <p:sp>
        <p:nvSpPr>
          <p:cNvPr id="27" name="Rectangle 26"/>
          <p:cNvSpPr/>
          <p:nvPr/>
        </p:nvSpPr>
        <p:spPr>
          <a:xfrm>
            <a:off x="2963204" y="2423160"/>
            <a:ext cx="4025920" cy="57150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54644" y="2423160"/>
            <a:ext cx="3843040" cy="57150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A knee MRI is read once, by one reader, under time pressure. What gets written is what was clinically relevant to that referral.</a:t>
            </a:r>
          </a:p>
        </p:txBody>
      </p:sp>
      <p:sp>
        <p:nvSpPr>
          <p:cNvPr id="29" name="Rectangle 28"/>
          <p:cNvSpPr/>
          <p:nvPr/>
        </p:nvSpPr>
        <p:spPr>
          <a:xfrm>
            <a:off x="6989124" y="2423160"/>
            <a:ext cx="4696907" cy="57150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0564" y="2423160"/>
            <a:ext cx="4514027" cy="57150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Findings that were seen but not worth reporting vanish. They are not negatives — they are silences, and a model trained on them learns the wrong prevalence.</a:t>
            </a:r>
          </a:p>
        </p:txBody>
      </p:sp>
      <p:sp>
        <p:nvSpPr>
          <p:cNvPr id="31" name="Rectangle 30"/>
          <p:cNvSpPr/>
          <p:nvPr/>
        </p:nvSpPr>
        <p:spPr>
          <a:xfrm>
            <a:off x="502920" y="299008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2994660"/>
            <a:ext cx="2460284" cy="5715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2994660"/>
            <a:ext cx="2277404" cy="57150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The notional client — the group operating the deployed model</a:t>
            </a:r>
          </a:p>
        </p:txBody>
      </p:sp>
      <p:sp>
        <p:nvSpPr>
          <p:cNvPr id="34" name="Rectangle 33"/>
          <p:cNvSpPr/>
          <p:nvPr/>
        </p:nvSpPr>
        <p:spPr>
          <a:xfrm>
            <a:off x="2963204" y="2994660"/>
            <a:ext cx="4025920" cy="5715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54644" y="2994660"/>
            <a:ext cx="3843040" cy="57150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Wants a system that reads a new study from images alone and returns probabilities it can act on.</a:t>
            </a:r>
          </a:p>
        </p:txBody>
      </p:sp>
      <p:sp>
        <p:nvSpPr>
          <p:cNvPr id="36" name="Rectangle 35"/>
          <p:cNvSpPr/>
          <p:nvPr/>
        </p:nvSpPr>
        <p:spPr>
          <a:xfrm>
            <a:off x="6989124" y="2994660"/>
            <a:ext cx="4696907" cy="5715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80564" y="2994660"/>
            <a:ext cx="4514027" cy="57150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A model trained on unmeasured noise produces confident numbers with no honest error bar, which is worse than no number at all.</a:t>
            </a:r>
          </a:p>
        </p:txBody>
      </p:sp>
      <p:sp>
        <p:nvSpPr>
          <p:cNvPr id="38" name="Rectangle 37"/>
          <p:cNvSpPr/>
          <p:nvPr/>
        </p:nvSpPr>
        <p:spPr>
          <a:xfrm>
            <a:off x="502920" y="356158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02920" y="3703320"/>
            <a:ext cx="6766560" cy="1417320"/>
          </a:xfrm>
          <a:prstGeom prst="roundRect">
            <a:avLst>
              <a:gd name="adj" fmla="val 8000"/>
            </a:avLst>
          </a:prstGeom>
          <a:solidFill>
            <a:srgbClr val="F5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3858768"/>
            <a:ext cx="6400800" cy="274320"/>
          </a:xfrm>
          <a:prstGeom prst="rect">
            <a:avLst/>
          </a:prstGeom>
          <a:noFill/>
        </p:spPr>
        <p:txBody>
          <a:bodyPr wrap="square" lIns="0" rIns="0" tIns="0" bIns="0" anchor="t">
            <a:spAutoFit/>
          </a:bodyPr>
          <a:lstStyle/>
          <a:p>
            <a:pPr algn="l">
              <a:lnSpc>
                <a:spcPct val="115000"/>
              </a:lnSpc>
            </a:pPr>
            <a:r>
              <a:rPr sz="950" b="1">
                <a:solidFill>
                  <a:srgbClr val="E0732B"/>
                </a:solidFill>
                <a:latin typeface="Carlito"/>
              </a:rPr>
              <a:t>THE FAILURE, IN ONE NUMBER</a:t>
            </a:r>
          </a:p>
        </p:txBody>
      </p:sp>
      <p:sp>
        <p:nvSpPr>
          <p:cNvPr id="41" name="TextBox 40"/>
          <p:cNvSpPr txBox="1"/>
          <p:nvPr/>
        </p:nvSpPr>
        <p:spPr>
          <a:xfrm>
            <a:off x="685800" y="4160520"/>
            <a:ext cx="6400800" cy="822960"/>
          </a:xfrm>
          <a:prstGeom prst="rect">
            <a:avLst/>
          </a:prstGeom>
          <a:noFill/>
        </p:spPr>
        <p:txBody>
          <a:bodyPr wrap="square" lIns="0" rIns="0" tIns="0" bIns="0" anchor="t">
            <a:spAutoFit/>
          </a:bodyPr>
          <a:lstStyle/>
          <a:p>
            <a:pPr algn="l">
              <a:lnSpc>
                <a:spcPct val="130000"/>
              </a:lnSpc>
            </a:pPr>
            <a:r>
              <a:rPr sz="1250" b="0">
                <a:solidFill>
                  <a:srgbClr val="0F1B2D"/>
                </a:solidFill>
                <a:latin typeface="Carlito"/>
              </a:rPr>
              <a:t>Synovitis is present in about 46.6% of expert-read studies in this dataset. It appears in about 3.3% of the reports. Train the standard way and the model learns that synovitis almost never happens — an error of roughly 43 percentage points, introduced entirely by the labelling step.</a:t>
            </a:r>
          </a:p>
        </p:txBody>
      </p:sp>
      <p:sp>
        <p:nvSpPr>
          <p:cNvPr id="42" name="Rounded Rectangle 41"/>
          <p:cNvSpPr/>
          <p:nvPr/>
        </p:nvSpPr>
        <p:spPr>
          <a:xfrm>
            <a:off x="7498079" y="3703320"/>
            <a:ext cx="4197096" cy="1389888"/>
          </a:xfrm>
          <a:prstGeom prst="roundRect">
            <a:avLst>
              <a:gd name="adj" fmla="val 8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80959" y="3858768"/>
            <a:ext cx="3831335" cy="274320"/>
          </a:xfrm>
          <a:prstGeom prst="rect">
            <a:avLst/>
          </a:prstGeom>
          <a:noFill/>
        </p:spPr>
        <p:txBody>
          <a:bodyPr wrap="square" lIns="0" rIns="0" tIns="0" bIns="0" anchor="t">
            <a:spAutoFit/>
          </a:bodyPr>
          <a:lstStyle/>
          <a:p>
            <a:pPr algn="l">
              <a:lnSpc>
                <a:spcPct val="115000"/>
              </a:lnSpc>
            </a:pPr>
            <a:r>
              <a:rPr sz="950" b="1">
                <a:solidFill>
                  <a:srgbClr val="0EA5A4"/>
                </a:solidFill>
                <a:latin typeface="Carlito"/>
              </a:rPr>
              <a:t>SDG 3 — GOOD HEALTH AND WELL-BEING</a:t>
            </a:r>
          </a:p>
        </p:txBody>
      </p:sp>
      <p:sp>
        <p:nvSpPr>
          <p:cNvPr id="44" name="TextBox 43"/>
          <p:cNvSpPr txBox="1"/>
          <p:nvPr/>
        </p:nvSpPr>
        <p:spPr>
          <a:xfrm>
            <a:off x="7680959" y="4160520"/>
            <a:ext cx="3831335" cy="795528"/>
          </a:xfrm>
          <a:prstGeom prst="rect">
            <a:avLst/>
          </a:prstGeom>
          <a:noFill/>
        </p:spPr>
        <p:txBody>
          <a:bodyPr wrap="square" lIns="0" rIns="0" tIns="0" bIns="0" anchor="t">
            <a:spAutoFit/>
          </a:bodyPr>
          <a:lstStyle/>
          <a:p>
            <a:pPr algn="l">
              <a:lnSpc>
                <a:spcPct val="130000"/>
              </a:lnSpc>
            </a:pPr>
            <a:r>
              <a:rPr sz="1200" b="0">
                <a:solidFill>
                  <a:srgbClr val="0F1B2D"/>
                </a:solidFill>
                <a:latin typeface="Carlito"/>
              </a:rPr>
              <a:t>Connection: diagnostic support where expert annotation is scarce. Boundary: the SDG is context for the problem, not the claimed technical contribution and not part of the CCP.</a:t>
            </a:r>
          </a:p>
        </p:txBody>
      </p:sp>
      <p:sp>
        <p:nvSpPr>
          <p:cNvPr id="45" name="Rounded Rectangle 44"/>
          <p:cNvSpPr/>
          <p:nvPr/>
        </p:nvSpPr>
        <p:spPr>
          <a:xfrm>
            <a:off x="502920" y="5175504"/>
            <a:ext cx="11183112" cy="365760"/>
          </a:xfrm>
          <a:prstGeom prst="roundRect">
            <a:avLst>
              <a:gd name="adj" fmla="val 50000"/>
            </a:avLst>
          </a:prstGeom>
          <a:solidFill>
            <a:srgbClr val="DB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5175504"/>
            <a:ext cx="11183112" cy="365760"/>
          </a:xfrm>
          <a:prstGeom prst="rect">
            <a:avLst/>
          </a:prstGeom>
          <a:noFill/>
        </p:spPr>
        <p:txBody>
          <a:bodyPr wrap="square" lIns="0" rIns="0" tIns="0" bIns="0" anchor="ctr">
            <a:spAutoFit/>
          </a:bodyPr>
          <a:lstStyle/>
          <a:p>
            <a:pPr algn="ctr">
              <a:lnSpc>
                <a:spcPct val="115000"/>
              </a:lnSpc>
            </a:pPr>
            <a:r>
              <a:rPr sz="1200" b="1">
                <a:solidFill>
                  <a:srgbClr val="0F1B2D"/>
                </a:solidFill>
                <a:latin typeface="Carlito"/>
              </a:rPr>
              <a:t>The system is a research and decision-support tool. It is not, and will not be presented as, a clinically validated diagnostic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78992"/>
            <a:ext cx="1118311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3464"/>
            <a:ext cx="502920" cy="502920"/>
          </a:xfrm>
          <a:prstGeom prst="roundRect">
            <a:avLst>
              <a:gd name="adj" fmla="val 3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83464"/>
            <a:ext cx="502920" cy="502920"/>
          </a:xfrm>
          <a:prstGeom prst="rect">
            <a:avLst/>
          </a:prstGeom>
          <a:noFill/>
        </p:spPr>
        <p:txBody>
          <a:bodyPr wrap="square" lIns="0" rIns="0" tIns="0" bIns="0" anchor="ctr">
            <a:spAutoFit/>
          </a:bodyPr>
          <a:lstStyle/>
          <a:p>
            <a:pPr algn="ctr">
              <a:lnSpc>
                <a:spcPct val="115000"/>
              </a:lnSpc>
            </a:pPr>
            <a:r>
              <a:rPr sz="2200" b="1">
                <a:solidFill>
                  <a:srgbClr val="0F1B2D"/>
                </a:solidFill>
                <a:latin typeface="Caladea"/>
              </a:rPr>
              <a:t>3</a:t>
            </a:r>
          </a:p>
        </p:txBody>
      </p:sp>
      <p:sp>
        <p:nvSpPr>
          <p:cNvPr id="7" name="TextBox 6"/>
          <p:cNvSpPr txBox="1"/>
          <p:nvPr/>
        </p:nvSpPr>
        <p:spPr>
          <a:xfrm>
            <a:off x="502920" y="768096"/>
            <a:ext cx="502920" cy="201168"/>
          </a:xfrm>
          <a:prstGeom prst="rect">
            <a:avLst/>
          </a:prstGeom>
          <a:noFill/>
        </p:spPr>
        <p:txBody>
          <a:bodyPr wrap="square" lIns="0" rIns="0" tIns="0" bIns="0" anchor="t">
            <a:spAutoFit/>
          </a:bodyPr>
          <a:lstStyle/>
          <a:p>
            <a:pPr algn="ctr">
              <a:lnSpc>
                <a:spcPct val="115000"/>
              </a:lnSpc>
            </a:pPr>
            <a:r>
              <a:rPr sz="900" b="1">
                <a:solidFill>
                  <a:srgbClr val="64748B"/>
                </a:solidFill>
                <a:latin typeface="Carlito"/>
              </a:rPr>
              <a:t>OF 10</a:t>
            </a:r>
          </a:p>
        </p:txBody>
      </p:sp>
      <p:sp>
        <p:nvSpPr>
          <p:cNvPr id="8" name="TextBox 7"/>
          <p:cNvSpPr txBox="1"/>
          <p:nvPr/>
        </p:nvSpPr>
        <p:spPr>
          <a:xfrm>
            <a:off x="502920" y="6492240"/>
            <a:ext cx="7315200" cy="256032"/>
          </a:xfrm>
          <a:prstGeom prst="rect">
            <a:avLst/>
          </a:prstGeom>
          <a:noFill/>
        </p:spPr>
        <p:txBody>
          <a:bodyPr wrap="square" lIns="0" rIns="0" tIns="0" bIns="0" anchor="t">
            <a:spAutoFit/>
          </a:bodyPr>
          <a:lstStyle/>
          <a:p>
            <a:pPr algn="l">
              <a:lnSpc>
                <a:spcPct val="115000"/>
              </a:lnSpc>
            </a:pPr>
            <a:r>
              <a:rPr sz="950" b="0">
                <a:solidFill>
                  <a:srgbClr val="64748B"/>
                </a:solidFill>
                <a:latin typeface="Carlito"/>
              </a:rPr>
              <a:t>KneeWS  ·  noise-aware weak supervision  ·  proposal defence</a:t>
            </a:r>
          </a:p>
        </p:txBody>
      </p:sp>
      <p:sp>
        <p:nvSpPr>
          <p:cNvPr id="9" name="TextBox 8"/>
          <p:cNvSpPr txBox="1"/>
          <p:nvPr/>
        </p:nvSpPr>
        <p:spPr>
          <a:xfrm>
            <a:off x="11183112" y="6492240"/>
            <a:ext cx="502920" cy="256032"/>
          </a:xfrm>
          <a:prstGeom prst="rect">
            <a:avLst/>
          </a:prstGeom>
          <a:noFill/>
        </p:spPr>
        <p:txBody>
          <a:bodyPr wrap="square" lIns="0" rIns="0" tIns="0" bIns="0" anchor="t">
            <a:spAutoFit/>
          </a:bodyPr>
          <a:lstStyle/>
          <a:p>
            <a:pPr algn="r">
              <a:lnSpc>
                <a:spcPct val="115000"/>
              </a:lnSpc>
            </a:pPr>
            <a:r>
              <a:rPr sz="950" b="0">
                <a:solidFill>
                  <a:srgbClr val="64748B"/>
                </a:solidFill>
                <a:latin typeface="Carlito"/>
              </a:rPr>
              <a:t>3</a:t>
            </a:r>
          </a:p>
        </p:txBody>
      </p:sp>
      <p:sp>
        <p:nvSpPr>
          <p:cNvPr id="10" name="TextBox 9"/>
          <p:cNvSpPr txBox="1"/>
          <p:nvPr/>
        </p:nvSpPr>
        <p:spPr>
          <a:xfrm>
            <a:off x="1124712" y="256032"/>
            <a:ext cx="9692640" cy="502920"/>
          </a:xfrm>
          <a:prstGeom prst="rect">
            <a:avLst/>
          </a:prstGeom>
          <a:noFill/>
        </p:spPr>
        <p:txBody>
          <a:bodyPr wrap="square" lIns="0" rIns="0" tIns="0" bIns="0" anchor="t">
            <a:spAutoFit/>
          </a:bodyPr>
          <a:lstStyle/>
          <a:p>
            <a:pPr algn="l">
              <a:lnSpc>
                <a:spcPct val="115000"/>
              </a:lnSpc>
            </a:pPr>
            <a:r>
              <a:rPr sz="2400" b="1">
                <a:solidFill>
                  <a:srgbClr val="0F1B2D"/>
                </a:solidFill>
                <a:latin typeface="Caladea"/>
              </a:rPr>
              <a:t>Existing solutions and prior FYP comparison</a:t>
            </a:r>
          </a:p>
        </p:txBody>
      </p:sp>
      <p:sp>
        <p:nvSpPr>
          <p:cNvPr id="11" name="TextBox 10"/>
          <p:cNvSpPr txBox="1"/>
          <p:nvPr/>
        </p:nvSpPr>
        <p:spPr>
          <a:xfrm>
            <a:off x="1124712" y="749808"/>
            <a:ext cx="9692640" cy="292608"/>
          </a:xfrm>
          <a:prstGeom prst="rect">
            <a:avLst/>
          </a:prstGeom>
          <a:noFill/>
        </p:spPr>
        <p:txBody>
          <a:bodyPr wrap="square" lIns="0" rIns="0" tIns="0" bIns="0" anchor="t">
            <a:spAutoFit/>
          </a:bodyPr>
          <a:lstStyle/>
          <a:p>
            <a:pPr algn="l">
              <a:lnSpc>
                <a:spcPct val="115000"/>
              </a:lnSpc>
            </a:pPr>
            <a:r>
              <a:rPr sz="1250" b="0">
                <a:solidFill>
                  <a:srgbClr val="64748B"/>
                </a:solidFill>
                <a:latin typeface="Carlito"/>
              </a:rPr>
              <a:t>Structural comparison — problem, users, approach, evidenced limitation, and what it implies for us</a:t>
            </a:r>
          </a:p>
        </p:txBody>
      </p:sp>
      <p:sp>
        <p:nvSpPr>
          <p:cNvPr id="12" name="Rectangle 11"/>
          <p:cNvSpPr/>
          <p:nvPr/>
        </p:nvSpPr>
        <p:spPr>
          <a:xfrm>
            <a:off x="502920" y="1280160"/>
            <a:ext cx="2460284" cy="502919"/>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280160"/>
            <a:ext cx="2277404" cy="502919"/>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Existing solution / prior FYP</a:t>
            </a:r>
          </a:p>
        </p:txBody>
      </p:sp>
      <p:sp>
        <p:nvSpPr>
          <p:cNvPr id="14" name="Rectangle 13"/>
          <p:cNvSpPr/>
          <p:nvPr/>
        </p:nvSpPr>
        <p:spPr>
          <a:xfrm>
            <a:off x="2963204" y="1280160"/>
            <a:ext cx="1789297" cy="502919"/>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4644" y="1280160"/>
            <a:ext cx="1606417" cy="502919"/>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Problem &amp; target users</a:t>
            </a:r>
          </a:p>
        </p:txBody>
      </p:sp>
      <p:sp>
        <p:nvSpPr>
          <p:cNvPr id="16" name="Rectangle 15"/>
          <p:cNvSpPr/>
          <p:nvPr/>
        </p:nvSpPr>
        <p:spPr>
          <a:xfrm>
            <a:off x="4752502" y="1280160"/>
            <a:ext cx="2572115" cy="502919"/>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3942" y="1280160"/>
            <a:ext cx="2389235" cy="502919"/>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Core approach</a:t>
            </a:r>
          </a:p>
        </p:txBody>
      </p:sp>
      <p:sp>
        <p:nvSpPr>
          <p:cNvPr id="18" name="Rectangle 17"/>
          <p:cNvSpPr/>
          <p:nvPr/>
        </p:nvSpPr>
        <p:spPr>
          <a:xfrm>
            <a:off x="7324618" y="1280160"/>
            <a:ext cx="2460284" cy="502919"/>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6058" y="1280160"/>
            <a:ext cx="2277404" cy="502919"/>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Evidence-based limitation</a:t>
            </a:r>
          </a:p>
        </p:txBody>
      </p:sp>
      <p:sp>
        <p:nvSpPr>
          <p:cNvPr id="20" name="Rectangle 19"/>
          <p:cNvSpPr/>
          <p:nvPr/>
        </p:nvSpPr>
        <p:spPr>
          <a:xfrm>
            <a:off x="9784902" y="1280160"/>
            <a:ext cx="1901129" cy="502919"/>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6342" y="1280160"/>
            <a:ext cx="1718249" cy="502919"/>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Implication for us</a:t>
            </a:r>
          </a:p>
        </p:txBody>
      </p:sp>
      <p:sp>
        <p:nvSpPr>
          <p:cNvPr id="22" name="Rectangle 21"/>
          <p:cNvSpPr/>
          <p:nvPr/>
        </p:nvSpPr>
        <p:spPr>
          <a:xfrm>
            <a:off x="502920" y="1783079"/>
            <a:ext cx="2460284"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1783079"/>
            <a:ext cx="2277404" cy="502919"/>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CheXpert 2019 / CheXbert 2020</a:t>
            </a:r>
          </a:p>
        </p:txBody>
      </p:sp>
      <p:sp>
        <p:nvSpPr>
          <p:cNvPr id="24" name="Rectangle 23"/>
          <p:cNvSpPr/>
          <p:nvPr/>
        </p:nvSpPr>
        <p:spPr>
          <a:xfrm>
            <a:off x="2963204" y="1783079"/>
            <a:ext cx="1789297"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54644" y="1783079"/>
            <a:ext cx="1606417"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Chest X-ray researchers; report-to-label conversion</a:t>
            </a:r>
          </a:p>
        </p:txBody>
      </p:sp>
      <p:sp>
        <p:nvSpPr>
          <p:cNvPr id="26" name="Rectangle 25"/>
          <p:cNvSpPr/>
          <p:nvPr/>
        </p:nvSpPr>
        <p:spPr>
          <a:xfrm>
            <a:off x="4752502" y="1783079"/>
            <a:ext cx="2572115"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3942" y="1783079"/>
            <a:ext cx="2389235"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Four states: positive, negative, uncertain, unmentioned. Rule + BERT labeller.</a:t>
            </a:r>
          </a:p>
        </p:txBody>
      </p:sp>
      <p:sp>
        <p:nvSpPr>
          <p:cNvPr id="28" name="Rectangle 27"/>
          <p:cNvSpPr/>
          <p:nvPr/>
        </p:nvSpPr>
        <p:spPr>
          <a:xfrm>
            <a:off x="7324618" y="1783079"/>
            <a:ext cx="2460284"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16058" y="1783079"/>
            <a:ext cx="2277404"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English only. The four states are used as-is — their reliability is never estimated.</a:t>
            </a:r>
          </a:p>
        </p:txBody>
      </p:sp>
      <p:sp>
        <p:nvSpPr>
          <p:cNvPr id="30" name="Rectangle 29"/>
          <p:cNvSpPr/>
          <p:nvPr/>
        </p:nvSpPr>
        <p:spPr>
          <a:xfrm>
            <a:off x="9784902" y="1783079"/>
            <a:ext cx="1901129"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6342" y="1783079"/>
            <a:ext cx="1718249"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We estimate what each state is worth, across ~10 languages, on MRI.</a:t>
            </a:r>
          </a:p>
        </p:txBody>
      </p:sp>
      <p:sp>
        <p:nvSpPr>
          <p:cNvPr id="32" name="Rectangle 31"/>
          <p:cNvSpPr/>
          <p:nvPr/>
        </p:nvSpPr>
        <p:spPr>
          <a:xfrm>
            <a:off x="502920" y="2281427"/>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2286000"/>
            <a:ext cx="2460284"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2286000"/>
            <a:ext cx="2277404" cy="502919"/>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MAPLEZ, MedIA 2025</a:t>
            </a:r>
          </a:p>
        </p:txBody>
      </p:sp>
      <p:sp>
        <p:nvSpPr>
          <p:cNvPr id="35" name="Rectangle 34"/>
          <p:cNvSpPr/>
          <p:nvPr/>
        </p:nvSpPr>
        <p:spPr>
          <a:xfrm>
            <a:off x="2963204" y="2286000"/>
            <a:ext cx="1789297"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54644" y="2286000"/>
            <a:ext cx="1606417"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Chest imaging; soft supervision from reports</a:t>
            </a:r>
          </a:p>
        </p:txBody>
      </p:sp>
      <p:sp>
        <p:nvSpPr>
          <p:cNvPr id="37" name="Rectangle 36"/>
          <p:cNvSpPr/>
          <p:nvPr/>
        </p:nvSpPr>
        <p:spPr>
          <a:xfrm>
            <a:off x="4752502" y="2286000"/>
            <a:ext cx="2572115"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3942" y="2286000"/>
            <a:ext cx="2389235"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LLM states a verbalised probability, used directly as a soft target.</a:t>
            </a:r>
          </a:p>
        </p:txBody>
      </p:sp>
      <p:sp>
        <p:nvSpPr>
          <p:cNvPr id="39" name="Rectangle 38"/>
          <p:cNvSpPr/>
          <p:nvPr/>
        </p:nvSpPr>
        <p:spPr>
          <a:xfrm>
            <a:off x="7324618" y="2286000"/>
            <a:ext cx="2460284"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16058" y="2286000"/>
            <a:ext cx="2277404"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Gain of only +0.4 AUROC. Depends on the LLM's own calibration, unmeasured for non-English.</a:t>
            </a:r>
          </a:p>
        </p:txBody>
      </p:sp>
      <p:sp>
        <p:nvSpPr>
          <p:cNvPr id="41" name="Rectangle 40"/>
          <p:cNvSpPr/>
          <p:nvPr/>
        </p:nvSpPr>
        <p:spPr>
          <a:xfrm>
            <a:off x="9784902" y="2286000"/>
            <a:ext cx="1901129"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6342" y="2286000"/>
            <a:ext cx="1718249"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Becomes our Arm 4. We estimate reliability from data, not from self-report.</a:t>
            </a:r>
          </a:p>
        </p:txBody>
      </p:sp>
      <p:sp>
        <p:nvSpPr>
          <p:cNvPr id="43" name="Rectangle 42"/>
          <p:cNvSpPr/>
          <p:nvPr/>
        </p:nvSpPr>
        <p:spPr>
          <a:xfrm>
            <a:off x="502920" y="278434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2920" y="2788920"/>
            <a:ext cx="2460284"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2788920"/>
            <a:ext cx="2277404" cy="502919"/>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RSNA public baseline (0.891)</a:t>
            </a:r>
          </a:p>
        </p:txBody>
      </p:sp>
      <p:sp>
        <p:nvSpPr>
          <p:cNvPr id="46" name="Rectangle 45"/>
          <p:cNvSpPr/>
          <p:nvPr/>
        </p:nvSpPr>
        <p:spPr>
          <a:xfrm>
            <a:off x="2963204" y="2788920"/>
            <a:ext cx="1789297"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54644" y="2788920"/>
            <a:ext cx="1606417"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Competition entrants</a:t>
            </a:r>
          </a:p>
        </p:txBody>
      </p:sp>
      <p:sp>
        <p:nvSpPr>
          <p:cNvPr id="48" name="Rectangle 47"/>
          <p:cNvSpPr/>
          <p:nvPr/>
        </p:nvSpPr>
        <p:spPr>
          <a:xfrm>
            <a:off x="4752502" y="2788920"/>
            <a:ext cx="2572115"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43942" y="2788920"/>
            <a:ext cx="2389235"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Multilingual rule extractor + DINOv2-small 2.5D image model.</a:t>
            </a:r>
          </a:p>
        </p:txBody>
      </p:sp>
      <p:sp>
        <p:nvSpPr>
          <p:cNvPr id="50" name="Rectangle 49"/>
          <p:cNvSpPr/>
          <p:nvPr/>
        </p:nvSpPr>
        <p:spPr>
          <a:xfrm>
            <a:off x="7324618" y="2788920"/>
            <a:ext cx="2460284"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16058" y="2788920"/>
            <a:ext cx="2277404"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Treats every unmentioned finding as absent — the assumption we believe is costly.</a:t>
            </a:r>
          </a:p>
        </p:txBody>
      </p:sp>
      <p:sp>
        <p:nvSpPr>
          <p:cNvPr id="52" name="Rectangle 51"/>
          <p:cNvSpPr/>
          <p:nvPr/>
        </p:nvSpPr>
        <p:spPr>
          <a:xfrm>
            <a:off x="9784902" y="2788920"/>
            <a:ext cx="1901129"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6342" y="2788920"/>
            <a:ext cx="1718249"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Becomes our Arm 1 baseline; we measure what that assumption costs.</a:t>
            </a:r>
          </a:p>
        </p:txBody>
      </p:sp>
      <p:sp>
        <p:nvSpPr>
          <p:cNvPr id="54" name="Rectangle 53"/>
          <p:cNvSpPr/>
          <p:nvPr/>
        </p:nvSpPr>
        <p:spPr>
          <a:xfrm>
            <a:off x="502920" y="328726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2920" y="3291839"/>
            <a:ext cx="2460284"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360" y="3291839"/>
            <a:ext cx="2277404" cy="502919"/>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Closest prior FYPs: EarlyRay (F25-064-D), RetinaScope (F25-045-D)</a:t>
            </a:r>
          </a:p>
        </p:txBody>
      </p:sp>
      <p:sp>
        <p:nvSpPr>
          <p:cNvPr id="57" name="Rectangle 56"/>
          <p:cNvSpPr/>
          <p:nvPr/>
        </p:nvSpPr>
        <p:spPr>
          <a:xfrm>
            <a:off x="2963204" y="3291839"/>
            <a:ext cx="1789297"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54644" y="3291839"/>
            <a:ext cx="1606417"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Radiology workflow; retinal disease screening</a:t>
            </a:r>
          </a:p>
        </p:txBody>
      </p:sp>
      <p:sp>
        <p:nvSpPr>
          <p:cNvPr id="59" name="Rectangle 58"/>
          <p:cNvSpPr/>
          <p:nvPr/>
        </p:nvSpPr>
        <p:spPr>
          <a:xfrm>
            <a:off x="4752502" y="3291839"/>
            <a:ext cx="2572115"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43942" y="3291839"/>
            <a:ext cx="2389235"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Images in, labels out. Both development-designated.</a:t>
            </a:r>
          </a:p>
        </p:txBody>
      </p:sp>
      <p:sp>
        <p:nvSpPr>
          <p:cNvPr id="61" name="Rectangle 60"/>
          <p:cNvSpPr/>
          <p:nvPr/>
        </p:nvSpPr>
        <p:spPr>
          <a:xfrm>
            <a:off x="7324618" y="3291839"/>
            <a:ext cx="2460284"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16058" y="3291839"/>
            <a:ext cx="2277404"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Both assume the training labels are correct. Neither treats label quality as a problem.</a:t>
            </a:r>
          </a:p>
        </p:txBody>
      </p:sp>
      <p:sp>
        <p:nvSpPr>
          <p:cNvPr id="63" name="Rectangle 62"/>
          <p:cNvSpPr/>
          <p:nvPr/>
        </p:nvSpPr>
        <p:spPr>
          <a:xfrm>
            <a:off x="9784902" y="3291839"/>
            <a:ext cx="1901129" cy="502919"/>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76342" y="3291839"/>
            <a:ext cx="1718249"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No departmental FYP has made supervision quality the research object.</a:t>
            </a:r>
          </a:p>
        </p:txBody>
      </p:sp>
      <p:sp>
        <p:nvSpPr>
          <p:cNvPr id="65" name="Rectangle 64"/>
          <p:cNvSpPr/>
          <p:nvPr/>
        </p:nvSpPr>
        <p:spPr>
          <a:xfrm>
            <a:off x="502920" y="3790187"/>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02920" y="3794759"/>
            <a:ext cx="2460284"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4360" y="3794759"/>
            <a:ext cx="2277404" cy="502919"/>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Current manual workflow</a:t>
            </a:r>
          </a:p>
        </p:txBody>
      </p:sp>
      <p:sp>
        <p:nvSpPr>
          <p:cNvPr id="68" name="Rectangle 67"/>
          <p:cNvSpPr/>
          <p:nvPr/>
        </p:nvSpPr>
        <p:spPr>
          <a:xfrm>
            <a:off x="2963204" y="3794759"/>
            <a:ext cx="1789297"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054644" y="3794759"/>
            <a:ext cx="1606417"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Radiologists and referring clinicians</a:t>
            </a:r>
          </a:p>
        </p:txBody>
      </p:sp>
      <p:sp>
        <p:nvSpPr>
          <p:cNvPr id="70" name="Rectangle 69"/>
          <p:cNvSpPr/>
          <p:nvPr/>
        </p:nvSpPr>
        <p:spPr>
          <a:xfrm>
            <a:off x="4752502" y="3794759"/>
            <a:ext cx="2572115"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843942" y="3794759"/>
            <a:ext cx="2389235"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Radiologist reads the study and dictates free text for one reader.</a:t>
            </a:r>
          </a:p>
        </p:txBody>
      </p:sp>
      <p:sp>
        <p:nvSpPr>
          <p:cNvPr id="72" name="Rectangle 71"/>
          <p:cNvSpPr/>
          <p:nvPr/>
        </p:nvSpPr>
        <p:spPr>
          <a:xfrm>
            <a:off x="7324618" y="3794759"/>
            <a:ext cx="2460284"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16058" y="3794759"/>
            <a:ext cx="2277404"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No structured multi-label record exists; findings not written down are lost to any later use.</a:t>
            </a:r>
          </a:p>
        </p:txBody>
      </p:sp>
      <p:sp>
        <p:nvSpPr>
          <p:cNvPr id="74" name="Rectangle 73"/>
          <p:cNvSpPr/>
          <p:nvPr/>
        </p:nvSpPr>
        <p:spPr>
          <a:xfrm>
            <a:off x="9784902" y="3794759"/>
            <a:ext cx="1901129" cy="502919"/>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876342" y="3794759"/>
            <a:ext cx="1718249" cy="502919"/>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This is the source of the noise we model, not a competitor.</a:t>
            </a:r>
          </a:p>
        </p:txBody>
      </p:sp>
      <p:sp>
        <p:nvSpPr>
          <p:cNvPr id="76" name="Rectangle 75"/>
          <p:cNvSpPr/>
          <p:nvPr/>
        </p:nvSpPr>
        <p:spPr>
          <a:xfrm>
            <a:off x="502920" y="4293107"/>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02920" y="4434840"/>
            <a:ext cx="11183112" cy="1371600"/>
          </a:xfrm>
          <a:prstGeom prst="roundRect">
            <a:avLst>
              <a:gd name="adj" fmla="val 8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85800" y="4590288"/>
            <a:ext cx="10817352" cy="274320"/>
          </a:xfrm>
          <a:prstGeom prst="rect">
            <a:avLst/>
          </a:prstGeom>
          <a:noFill/>
        </p:spPr>
        <p:txBody>
          <a:bodyPr wrap="square" lIns="0" rIns="0" tIns="0" bIns="0" anchor="t">
            <a:spAutoFit/>
          </a:bodyPr>
          <a:lstStyle/>
          <a:p>
            <a:pPr algn="l">
              <a:lnSpc>
                <a:spcPct val="115000"/>
              </a:lnSpc>
            </a:pPr>
            <a:r>
              <a:rPr sz="950" b="1">
                <a:solidFill>
                  <a:srgbClr val="2563EB"/>
                </a:solidFill>
                <a:latin typeface="Carlito"/>
              </a:rPr>
              <a:t>THE GAP, STATED STRUCTURALLY</a:t>
            </a:r>
          </a:p>
        </p:txBody>
      </p:sp>
      <p:sp>
        <p:nvSpPr>
          <p:cNvPr id="79" name="TextBox 78"/>
          <p:cNvSpPr txBox="1"/>
          <p:nvPr/>
        </p:nvSpPr>
        <p:spPr>
          <a:xfrm>
            <a:off x="685800" y="4892040"/>
            <a:ext cx="10817352" cy="777240"/>
          </a:xfrm>
          <a:prstGeom prst="rect">
            <a:avLst/>
          </a:prstGeom>
          <a:noFill/>
        </p:spPr>
        <p:txBody>
          <a:bodyPr wrap="square" lIns="0" rIns="0" tIns="0" bIns="0" anchor="t">
            <a:spAutoFit/>
          </a:bodyPr>
          <a:lstStyle/>
          <a:p>
            <a:pPr algn="l">
              <a:lnSpc>
                <a:spcPct val="130000"/>
              </a:lnSpc>
            </a:pPr>
            <a:r>
              <a:rPr sz="1250" b="0">
                <a:solidFill>
                  <a:srgbClr val="0F1B2D"/>
                </a:solidFill>
                <a:latin typeface="Carlito"/>
              </a:rPr>
              <a:t>Four-state report labels exist. Soft targets from reports exist. Quantified omission exists for chest and brain. What does not exist is a per-finding, per-state reliability model estimated for knee MRI, across ten languages, on a dataset where multiple sites share each language — which is the first dataset that lets language bias and institution bias be told apart. Changing the modality alone would not be a contribution; changing what is estimated, and proving it against held-out experts, 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78992"/>
            <a:ext cx="1118311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3464"/>
            <a:ext cx="502920" cy="502920"/>
          </a:xfrm>
          <a:prstGeom prst="roundRect">
            <a:avLst>
              <a:gd name="adj" fmla="val 3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83464"/>
            <a:ext cx="502920" cy="502920"/>
          </a:xfrm>
          <a:prstGeom prst="rect">
            <a:avLst/>
          </a:prstGeom>
          <a:noFill/>
        </p:spPr>
        <p:txBody>
          <a:bodyPr wrap="square" lIns="0" rIns="0" tIns="0" bIns="0" anchor="ctr">
            <a:spAutoFit/>
          </a:bodyPr>
          <a:lstStyle/>
          <a:p>
            <a:pPr algn="ctr">
              <a:lnSpc>
                <a:spcPct val="115000"/>
              </a:lnSpc>
            </a:pPr>
            <a:r>
              <a:rPr sz="2200" b="1">
                <a:solidFill>
                  <a:srgbClr val="0F1B2D"/>
                </a:solidFill>
                <a:latin typeface="Caladea"/>
              </a:rPr>
              <a:t>4</a:t>
            </a:r>
          </a:p>
        </p:txBody>
      </p:sp>
      <p:sp>
        <p:nvSpPr>
          <p:cNvPr id="7" name="TextBox 6"/>
          <p:cNvSpPr txBox="1"/>
          <p:nvPr/>
        </p:nvSpPr>
        <p:spPr>
          <a:xfrm>
            <a:off x="502920" y="768096"/>
            <a:ext cx="502920" cy="201168"/>
          </a:xfrm>
          <a:prstGeom prst="rect">
            <a:avLst/>
          </a:prstGeom>
          <a:noFill/>
        </p:spPr>
        <p:txBody>
          <a:bodyPr wrap="square" lIns="0" rIns="0" tIns="0" bIns="0" anchor="t">
            <a:spAutoFit/>
          </a:bodyPr>
          <a:lstStyle/>
          <a:p>
            <a:pPr algn="ctr">
              <a:lnSpc>
                <a:spcPct val="115000"/>
              </a:lnSpc>
            </a:pPr>
            <a:r>
              <a:rPr sz="900" b="1">
                <a:solidFill>
                  <a:srgbClr val="64748B"/>
                </a:solidFill>
                <a:latin typeface="Carlito"/>
              </a:rPr>
              <a:t>OF 10</a:t>
            </a:r>
          </a:p>
        </p:txBody>
      </p:sp>
      <p:sp>
        <p:nvSpPr>
          <p:cNvPr id="8" name="TextBox 7"/>
          <p:cNvSpPr txBox="1"/>
          <p:nvPr/>
        </p:nvSpPr>
        <p:spPr>
          <a:xfrm>
            <a:off x="502920" y="6492240"/>
            <a:ext cx="7315200" cy="256032"/>
          </a:xfrm>
          <a:prstGeom prst="rect">
            <a:avLst/>
          </a:prstGeom>
          <a:noFill/>
        </p:spPr>
        <p:txBody>
          <a:bodyPr wrap="square" lIns="0" rIns="0" tIns="0" bIns="0" anchor="t">
            <a:spAutoFit/>
          </a:bodyPr>
          <a:lstStyle/>
          <a:p>
            <a:pPr algn="l">
              <a:lnSpc>
                <a:spcPct val="115000"/>
              </a:lnSpc>
            </a:pPr>
            <a:r>
              <a:rPr sz="950" b="0">
                <a:solidFill>
                  <a:srgbClr val="64748B"/>
                </a:solidFill>
                <a:latin typeface="Carlito"/>
              </a:rPr>
              <a:t>KneeWS  ·  noise-aware weak supervision  ·  proposal defence</a:t>
            </a:r>
          </a:p>
        </p:txBody>
      </p:sp>
      <p:sp>
        <p:nvSpPr>
          <p:cNvPr id="9" name="TextBox 8"/>
          <p:cNvSpPr txBox="1"/>
          <p:nvPr/>
        </p:nvSpPr>
        <p:spPr>
          <a:xfrm>
            <a:off x="11183112" y="6492240"/>
            <a:ext cx="502920" cy="256032"/>
          </a:xfrm>
          <a:prstGeom prst="rect">
            <a:avLst/>
          </a:prstGeom>
          <a:noFill/>
        </p:spPr>
        <p:txBody>
          <a:bodyPr wrap="square" lIns="0" rIns="0" tIns="0" bIns="0" anchor="t">
            <a:spAutoFit/>
          </a:bodyPr>
          <a:lstStyle/>
          <a:p>
            <a:pPr algn="r">
              <a:lnSpc>
                <a:spcPct val="115000"/>
              </a:lnSpc>
            </a:pPr>
            <a:r>
              <a:rPr sz="950" b="0">
                <a:solidFill>
                  <a:srgbClr val="64748B"/>
                </a:solidFill>
                <a:latin typeface="Carlito"/>
              </a:rPr>
              <a:t>4</a:t>
            </a:r>
          </a:p>
        </p:txBody>
      </p:sp>
      <p:sp>
        <p:nvSpPr>
          <p:cNvPr id="10" name="TextBox 9"/>
          <p:cNvSpPr txBox="1"/>
          <p:nvPr/>
        </p:nvSpPr>
        <p:spPr>
          <a:xfrm>
            <a:off x="1124712" y="256032"/>
            <a:ext cx="9692640" cy="502920"/>
          </a:xfrm>
          <a:prstGeom prst="rect">
            <a:avLst/>
          </a:prstGeom>
          <a:noFill/>
        </p:spPr>
        <p:txBody>
          <a:bodyPr wrap="square" lIns="0" rIns="0" tIns="0" bIns="0" anchor="t">
            <a:spAutoFit/>
          </a:bodyPr>
          <a:lstStyle/>
          <a:p>
            <a:pPr algn="l">
              <a:lnSpc>
                <a:spcPct val="115000"/>
              </a:lnSpc>
            </a:pPr>
            <a:r>
              <a:rPr sz="2400" b="1">
                <a:solidFill>
                  <a:srgbClr val="0F1B2D"/>
                </a:solidFill>
                <a:latin typeface="Caladea"/>
              </a:rPr>
              <a:t>R&amp;D / recent technical work</a:t>
            </a:r>
          </a:p>
        </p:txBody>
      </p:sp>
      <p:sp>
        <p:nvSpPr>
          <p:cNvPr id="11" name="TextBox 10"/>
          <p:cNvSpPr txBox="1"/>
          <p:nvPr/>
        </p:nvSpPr>
        <p:spPr>
          <a:xfrm>
            <a:off x="1124712" y="749808"/>
            <a:ext cx="9692640" cy="292608"/>
          </a:xfrm>
          <a:prstGeom prst="rect">
            <a:avLst/>
          </a:prstGeom>
          <a:noFill/>
        </p:spPr>
        <p:txBody>
          <a:bodyPr wrap="square" lIns="0" rIns="0" tIns="0" bIns="0" anchor="t">
            <a:spAutoFit/>
          </a:bodyPr>
          <a:lstStyle/>
          <a:p>
            <a:pPr algn="l">
              <a:lnSpc>
                <a:spcPct val="115000"/>
              </a:lnSpc>
            </a:pPr>
            <a:r>
              <a:rPr sz="1250" b="0">
                <a:solidFill>
                  <a:srgbClr val="64748B"/>
                </a:solidFill>
                <a:latin typeface="Carlito"/>
              </a:rPr>
              <a:t>Every source below changed a decision — research used to decide, not to fill pages</a:t>
            </a:r>
          </a:p>
        </p:txBody>
      </p:sp>
      <p:sp>
        <p:nvSpPr>
          <p:cNvPr id="12" name="Rectangle 11"/>
          <p:cNvSpPr/>
          <p:nvPr/>
        </p:nvSpPr>
        <p:spPr>
          <a:xfrm>
            <a:off x="502920" y="1280160"/>
            <a:ext cx="2236622" cy="64008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280160"/>
            <a:ext cx="2053742" cy="64008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Source / method</a:t>
            </a:r>
          </a:p>
        </p:txBody>
      </p:sp>
      <p:sp>
        <p:nvSpPr>
          <p:cNvPr id="14" name="Rectangle 13"/>
          <p:cNvSpPr/>
          <p:nvPr/>
        </p:nvSpPr>
        <p:spPr>
          <a:xfrm>
            <a:off x="2739542" y="1280160"/>
            <a:ext cx="2460284" cy="64008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0982" y="1280160"/>
            <a:ext cx="2277404" cy="64008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Main finding or method</a:t>
            </a:r>
          </a:p>
        </p:txBody>
      </p:sp>
      <p:sp>
        <p:nvSpPr>
          <p:cNvPr id="16" name="Rectangle 15"/>
          <p:cNvSpPr/>
          <p:nvPr/>
        </p:nvSpPr>
        <p:spPr>
          <a:xfrm>
            <a:off x="5199827" y="1280160"/>
            <a:ext cx="2236622" cy="64008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91267" y="1280160"/>
            <a:ext cx="2053742" cy="64008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Relevance &amp; limitation</a:t>
            </a:r>
          </a:p>
        </p:txBody>
      </p:sp>
      <p:sp>
        <p:nvSpPr>
          <p:cNvPr id="18" name="Rectangle 17"/>
          <p:cNvSpPr/>
          <p:nvPr/>
        </p:nvSpPr>
        <p:spPr>
          <a:xfrm>
            <a:off x="7436449" y="1280160"/>
            <a:ext cx="2236622" cy="64008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27889" y="1280160"/>
            <a:ext cx="2053742" cy="64008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Decision it influenced</a:t>
            </a:r>
          </a:p>
        </p:txBody>
      </p:sp>
      <p:sp>
        <p:nvSpPr>
          <p:cNvPr id="20" name="Rectangle 19"/>
          <p:cNvSpPr/>
          <p:nvPr/>
        </p:nvSpPr>
        <p:spPr>
          <a:xfrm>
            <a:off x="9673071" y="1280160"/>
            <a:ext cx="2012960" cy="64008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64511" y="1280160"/>
            <a:ext cx="1830080" cy="64008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Planned evidence</a:t>
            </a:r>
          </a:p>
        </p:txBody>
      </p:sp>
      <p:sp>
        <p:nvSpPr>
          <p:cNvPr id="22" name="Rectangle 21"/>
          <p:cNvSpPr/>
          <p:nvPr/>
        </p:nvSpPr>
        <p:spPr>
          <a:xfrm>
            <a:off x="502920" y="1920240"/>
            <a:ext cx="2236622"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1920240"/>
            <a:ext cx="2053742" cy="64008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CheXpert / CheXbert (2019–20)</a:t>
            </a:r>
          </a:p>
        </p:txBody>
      </p:sp>
      <p:sp>
        <p:nvSpPr>
          <p:cNvPr id="24" name="Rectangle 23"/>
          <p:cNvSpPr/>
          <p:nvPr/>
        </p:nvSpPr>
        <p:spPr>
          <a:xfrm>
            <a:off x="2739542" y="1920240"/>
            <a:ext cx="2460284"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0982" y="1920240"/>
            <a:ext cx="2277404"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Four-state representation of report findings.</a:t>
            </a:r>
          </a:p>
        </p:txBody>
      </p:sp>
      <p:sp>
        <p:nvSpPr>
          <p:cNvPr id="26" name="Rectangle 25"/>
          <p:cNvSpPr/>
          <p:nvPr/>
        </p:nvSpPr>
        <p:spPr>
          <a:xfrm>
            <a:off x="5199827" y="1920240"/>
            <a:ext cx="2236622"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91267" y="192024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Foundational, but English-only and single modality.</a:t>
            </a:r>
          </a:p>
        </p:txBody>
      </p:sp>
      <p:sp>
        <p:nvSpPr>
          <p:cNvPr id="28" name="Rectangle 27"/>
          <p:cNvSpPr/>
          <p:nvPr/>
        </p:nvSpPr>
        <p:spPr>
          <a:xfrm>
            <a:off x="7436449" y="1920240"/>
            <a:ext cx="2236622"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27889" y="192024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Adopt four states; build our own multilingual labeller.</a:t>
            </a:r>
          </a:p>
        </p:txBody>
      </p:sp>
      <p:sp>
        <p:nvSpPr>
          <p:cNvPr id="30" name="Rectangle 29"/>
          <p:cNvSpPr/>
          <p:nvPr/>
        </p:nvSpPr>
        <p:spPr>
          <a:xfrm>
            <a:off x="9673071" y="1920240"/>
            <a:ext cx="2012960"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64511" y="1920240"/>
            <a:ext cx="1830080"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Hand-audited labeller accuracy across languages.</a:t>
            </a:r>
          </a:p>
        </p:txBody>
      </p:sp>
      <p:sp>
        <p:nvSpPr>
          <p:cNvPr id="32" name="Rectangle 31"/>
          <p:cNvSpPr/>
          <p:nvPr/>
        </p:nvSpPr>
        <p:spPr>
          <a:xfrm>
            <a:off x="502920" y="255574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2560320"/>
            <a:ext cx="2236622"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2560320"/>
            <a:ext cx="2053742" cy="64008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VisualCheXbert 2021; Wood 2020 / Benger 2023; Fytas 2026</a:t>
            </a:r>
          </a:p>
        </p:txBody>
      </p:sp>
      <p:sp>
        <p:nvSpPr>
          <p:cNvPr id="35" name="Rectangle 34"/>
          <p:cNvSpPr/>
          <p:nvPr/>
        </p:nvSpPr>
        <p:spPr>
          <a:xfrm>
            <a:off x="2739542" y="2560320"/>
            <a:ext cx="2460284"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30982" y="2560320"/>
            <a:ext cx="2277404"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Unmentioned ≠ absent, measured. Report sensitivity 60–78% in brain MRI; 59% of confirmed chest findings absent from reports.</a:t>
            </a:r>
          </a:p>
        </p:txBody>
      </p:sp>
      <p:sp>
        <p:nvSpPr>
          <p:cNvPr id="37" name="Rectangle 36"/>
          <p:cNvSpPr/>
          <p:nvPr/>
        </p:nvSpPr>
        <p:spPr>
          <a:xfrm>
            <a:off x="5199827" y="2560320"/>
            <a:ext cx="2236622"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91267" y="256032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Proves the problem is real and general. Never measured for knee MRI.</a:t>
            </a:r>
          </a:p>
        </p:txBody>
      </p:sp>
      <p:sp>
        <p:nvSpPr>
          <p:cNvPr id="39" name="Rectangle 38"/>
          <p:cNvSpPr/>
          <p:nvPr/>
        </p:nvSpPr>
        <p:spPr>
          <a:xfrm>
            <a:off x="7436449" y="2560320"/>
            <a:ext cx="2236622"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27889" y="256032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Justifies the whole project; sets omission as a headline metric.</a:t>
            </a:r>
          </a:p>
        </p:txBody>
      </p:sp>
      <p:sp>
        <p:nvSpPr>
          <p:cNvPr id="41" name="Rectangle 40"/>
          <p:cNvSpPr/>
          <p:nvPr/>
        </p:nvSpPr>
        <p:spPr>
          <a:xfrm>
            <a:off x="9673071" y="2560320"/>
            <a:ext cx="2012960"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64511" y="2560320"/>
            <a:ext cx="1830080"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Per-finding, per-language omission estimates for knee MRI.</a:t>
            </a:r>
          </a:p>
        </p:txBody>
      </p:sp>
      <p:sp>
        <p:nvSpPr>
          <p:cNvPr id="43" name="Rectangle 42"/>
          <p:cNvSpPr/>
          <p:nvPr/>
        </p:nvSpPr>
        <p:spPr>
          <a:xfrm>
            <a:off x="502920" y="319582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2920" y="3200400"/>
            <a:ext cx="2236622"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3200400"/>
            <a:ext cx="2053742" cy="64008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Gündel &amp; Ghesu, MedIA 2021</a:t>
            </a:r>
          </a:p>
        </p:txBody>
      </p:sp>
      <p:sp>
        <p:nvSpPr>
          <p:cNvPr id="46" name="Rectangle 45"/>
          <p:cNvSpPr/>
          <p:nvPr/>
        </p:nvSpPr>
        <p:spPr>
          <a:xfrm>
            <a:off x="2739542" y="3200400"/>
            <a:ext cx="2460284"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30982" y="3200400"/>
            <a:ext cx="2277404"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Per-class report reliability estimated on a small expert re-read subset, injected into the loss.</a:t>
            </a:r>
          </a:p>
        </p:txBody>
      </p:sp>
      <p:sp>
        <p:nvSpPr>
          <p:cNvPr id="48" name="Rectangle 47"/>
          <p:cNvSpPr/>
          <p:nvPr/>
        </p:nvSpPr>
        <p:spPr>
          <a:xfrm>
            <a:off x="5199827" y="3200400"/>
            <a:ext cx="2236622"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91267" y="320040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Closest published method to ours. Single language, chest X-ray, two states.</a:t>
            </a:r>
          </a:p>
        </p:txBody>
      </p:sp>
      <p:sp>
        <p:nvSpPr>
          <p:cNvPr id="50" name="Rectangle 49"/>
          <p:cNvSpPr/>
          <p:nvPr/>
        </p:nvSpPr>
        <p:spPr>
          <a:xfrm>
            <a:off x="7436449" y="3200400"/>
            <a:ext cx="2236622"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27889" y="320040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Our primary estimator, extended to 4 states × 12 findings with hierarchical pooling.</a:t>
            </a:r>
          </a:p>
        </p:txBody>
      </p:sp>
      <p:sp>
        <p:nvSpPr>
          <p:cNvPr id="52" name="Rectangle 51"/>
          <p:cNvSpPr/>
          <p:nvPr/>
        </p:nvSpPr>
        <p:spPr>
          <a:xfrm>
            <a:off x="9673071" y="3200400"/>
            <a:ext cx="2012960"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64511" y="3200400"/>
            <a:ext cx="1830080"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Reliability table with credible intervals; ablation against this method.</a:t>
            </a:r>
          </a:p>
        </p:txBody>
      </p:sp>
      <p:sp>
        <p:nvSpPr>
          <p:cNvPr id="54" name="Rectangle 53"/>
          <p:cNvSpPr/>
          <p:nvPr/>
        </p:nvSpPr>
        <p:spPr>
          <a:xfrm>
            <a:off x="502920" y="383590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2920" y="3840480"/>
            <a:ext cx="2236622"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360" y="3840480"/>
            <a:ext cx="2053742" cy="64008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Northcutt, JAIR 2021; Bernhardt, Nat Comms 2022</a:t>
            </a:r>
          </a:p>
        </p:txBody>
      </p:sp>
      <p:sp>
        <p:nvSpPr>
          <p:cNvPr id="57" name="Rectangle 56"/>
          <p:cNvSpPr/>
          <p:nvPr/>
        </p:nvSpPr>
        <p:spPr>
          <a:xfrm>
            <a:off x="2739542" y="3840480"/>
            <a:ext cx="2460284"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30982" y="3840480"/>
            <a:ext cx="2277404"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Confident learning — estimate a noise model from a model's own out-of-fold behaviour, no gold labels.</a:t>
            </a:r>
          </a:p>
        </p:txBody>
      </p:sp>
      <p:sp>
        <p:nvSpPr>
          <p:cNvPr id="59" name="Rectangle 58"/>
          <p:cNvSpPr/>
          <p:nvPr/>
        </p:nvSpPr>
        <p:spPr>
          <a:xfrm>
            <a:off x="5199827" y="3840480"/>
            <a:ext cx="2236622"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91267" y="384048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Mature and well-tested, but not applied to four-state report supervision or to MRI.</a:t>
            </a:r>
          </a:p>
        </p:txBody>
      </p:sp>
      <p:sp>
        <p:nvSpPr>
          <p:cNvPr id="61" name="Rectangle 60"/>
          <p:cNvSpPr/>
          <p:nvPr/>
        </p:nvSpPr>
        <p:spPr>
          <a:xfrm>
            <a:off x="7436449" y="3840480"/>
            <a:ext cx="2236622"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27889" y="384048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Becomes our secondary method and an ablation arm.</a:t>
            </a:r>
          </a:p>
        </p:txBody>
      </p:sp>
      <p:sp>
        <p:nvSpPr>
          <p:cNvPr id="63" name="Rectangle 62"/>
          <p:cNvSpPr/>
          <p:nvPr/>
        </p:nvSpPr>
        <p:spPr>
          <a:xfrm>
            <a:off x="9673071" y="3840480"/>
            <a:ext cx="2012960" cy="64008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764511" y="3840480"/>
            <a:ext cx="1830080"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Estimated noise model validated against the untouched expert set.</a:t>
            </a:r>
          </a:p>
        </p:txBody>
      </p:sp>
      <p:sp>
        <p:nvSpPr>
          <p:cNvPr id="65" name="Rectangle 64"/>
          <p:cNvSpPr/>
          <p:nvPr/>
        </p:nvSpPr>
        <p:spPr>
          <a:xfrm>
            <a:off x="502920" y="447598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02920" y="4480560"/>
            <a:ext cx="2236622"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4360" y="4480560"/>
            <a:ext cx="2053742" cy="64008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RSNA data card + competition rules</a:t>
            </a:r>
          </a:p>
        </p:txBody>
      </p:sp>
      <p:sp>
        <p:nvSpPr>
          <p:cNvPr id="68" name="Rectangle 67"/>
          <p:cNvSpPr/>
          <p:nvPr/>
        </p:nvSpPr>
        <p:spPr>
          <a:xfrm>
            <a:off x="2739542" y="4480560"/>
            <a:ext cx="2460284"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30982" y="4480560"/>
            <a:ext cx="2277404"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58 gold / 4,349 report-only; hosted LLM APIs not permitted for report text; 9-hour offline notebook.</a:t>
            </a:r>
          </a:p>
        </p:txBody>
      </p:sp>
      <p:sp>
        <p:nvSpPr>
          <p:cNvPr id="70" name="Rectangle 69"/>
          <p:cNvSpPr/>
          <p:nvPr/>
        </p:nvSpPr>
        <p:spPr>
          <a:xfrm>
            <a:off x="5199827" y="4480560"/>
            <a:ext cx="2236622"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291267" y="448056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Hard constraints on what we may build.</a:t>
            </a:r>
          </a:p>
        </p:txBody>
      </p:sp>
      <p:sp>
        <p:nvSpPr>
          <p:cNvPr id="72" name="Rectangle 71"/>
          <p:cNvSpPr/>
          <p:nvPr/>
        </p:nvSpPr>
        <p:spPr>
          <a:xfrm>
            <a:off x="7436449" y="4480560"/>
            <a:ext cx="2236622"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27889" y="4480560"/>
            <a:ext cx="2053742"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Open-weight labeller running in-notebook; two-stage 2.5D to fit 8 GB.</a:t>
            </a:r>
          </a:p>
        </p:txBody>
      </p:sp>
      <p:sp>
        <p:nvSpPr>
          <p:cNvPr id="74" name="Rectangle 73"/>
          <p:cNvSpPr/>
          <p:nvPr/>
        </p:nvSpPr>
        <p:spPr>
          <a:xfrm>
            <a:off x="9673071" y="4480560"/>
            <a:ext cx="2012960" cy="64008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764511" y="4480560"/>
            <a:ext cx="1830080" cy="64008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Rules compliance check; runtime measured on target hardware.</a:t>
            </a:r>
          </a:p>
        </p:txBody>
      </p:sp>
      <p:sp>
        <p:nvSpPr>
          <p:cNvPr id="76" name="Rectangle 75"/>
          <p:cNvSpPr/>
          <p:nvPr/>
        </p:nvSpPr>
        <p:spPr>
          <a:xfrm>
            <a:off x="502920" y="511606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02920" y="5230368"/>
            <a:ext cx="11183112" cy="996696"/>
          </a:xfrm>
          <a:prstGeom prst="roundRect">
            <a:avLst>
              <a:gd name="adj" fmla="val 8000"/>
            </a:avLst>
          </a:prstGeom>
          <a:solidFill>
            <a:srgbClr val="F5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85800" y="5385816"/>
            <a:ext cx="10817352" cy="274320"/>
          </a:xfrm>
          <a:prstGeom prst="rect">
            <a:avLst/>
          </a:prstGeom>
          <a:noFill/>
        </p:spPr>
        <p:txBody>
          <a:bodyPr wrap="square" lIns="0" rIns="0" tIns="0" bIns="0" anchor="t">
            <a:spAutoFit/>
          </a:bodyPr>
          <a:lstStyle/>
          <a:p>
            <a:pPr algn="l">
              <a:lnSpc>
                <a:spcPct val="115000"/>
              </a:lnSpc>
            </a:pPr>
            <a:r>
              <a:rPr sz="950" b="1">
                <a:solidFill>
                  <a:srgbClr val="E0732B"/>
                </a:solidFill>
                <a:latin typeface="Carlito"/>
              </a:rPr>
              <a:t>TWO PAPERS STILL TO BE READ IN FULL BEFORE THE NOVELTY CLAIM IS WRITTEN DOWN</a:t>
            </a:r>
          </a:p>
        </p:txBody>
      </p:sp>
      <p:sp>
        <p:nvSpPr>
          <p:cNvPr id="79" name="TextBox 78"/>
          <p:cNvSpPr txBox="1"/>
          <p:nvPr/>
        </p:nvSpPr>
        <p:spPr>
          <a:xfrm>
            <a:off x="685800" y="5687568"/>
            <a:ext cx="10817352" cy="402336"/>
          </a:xfrm>
          <a:prstGeom prst="rect">
            <a:avLst/>
          </a:prstGeom>
          <a:noFill/>
        </p:spPr>
        <p:txBody>
          <a:bodyPr wrap="square" lIns="0" rIns="0" tIns="0" bIns="0" anchor="t">
            <a:spAutoFit/>
          </a:bodyPr>
          <a:lstStyle/>
          <a:p>
            <a:pPr algn="l">
              <a:lnSpc>
                <a:spcPct val="130000"/>
              </a:lnSpc>
            </a:pPr>
            <a:r>
              <a:rPr sz="1200" b="0">
                <a:solidFill>
                  <a:srgbClr val="0F1B2D"/>
                </a:solidFill>
                <a:latin typeface="Carlito"/>
              </a:rPr>
              <a:t>Ye et al., Expert Systems with Applications 2026 (label-wise reliability for chest radiography) and Xiao, IEEE TMI 2024 (multi-label positive-unlabelled learning). We name them now rather than discover them later.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78992"/>
            <a:ext cx="1118311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3464"/>
            <a:ext cx="502920" cy="502920"/>
          </a:xfrm>
          <a:prstGeom prst="roundRect">
            <a:avLst>
              <a:gd name="adj" fmla="val 3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83464"/>
            <a:ext cx="502920" cy="502920"/>
          </a:xfrm>
          <a:prstGeom prst="rect">
            <a:avLst/>
          </a:prstGeom>
          <a:noFill/>
        </p:spPr>
        <p:txBody>
          <a:bodyPr wrap="square" lIns="0" rIns="0" tIns="0" bIns="0" anchor="ctr">
            <a:spAutoFit/>
          </a:bodyPr>
          <a:lstStyle/>
          <a:p>
            <a:pPr algn="ctr">
              <a:lnSpc>
                <a:spcPct val="115000"/>
              </a:lnSpc>
            </a:pPr>
            <a:r>
              <a:rPr sz="2200" b="1">
                <a:solidFill>
                  <a:srgbClr val="0F1B2D"/>
                </a:solidFill>
                <a:latin typeface="Caladea"/>
              </a:rPr>
              <a:t>5</a:t>
            </a:r>
          </a:p>
        </p:txBody>
      </p:sp>
      <p:sp>
        <p:nvSpPr>
          <p:cNvPr id="7" name="TextBox 6"/>
          <p:cNvSpPr txBox="1"/>
          <p:nvPr/>
        </p:nvSpPr>
        <p:spPr>
          <a:xfrm>
            <a:off x="502920" y="768096"/>
            <a:ext cx="502920" cy="201168"/>
          </a:xfrm>
          <a:prstGeom prst="rect">
            <a:avLst/>
          </a:prstGeom>
          <a:noFill/>
        </p:spPr>
        <p:txBody>
          <a:bodyPr wrap="square" lIns="0" rIns="0" tIns="0" bIns="0" anchor="t">
            <a:spAutoFit/>
          </a:bodyPr>
          <a:lstStyle/>
          <a:p>
            <a:pPr algn="ctr">
              <a:lnSpc>
                <a:spcPct val="115000"/>
              </a:lnSpc>
            </a:pPr>
            <a:r>
              <a:rPr sz="900" b="1">
                <a:solidFill>
                  <a:srgbClr val="64748B"/>
                </a:solidFill>
                <a:latin typeface="Carlito"/>
              </a:rPr>
              <a:t>OF 10</a:t>
            </a:r>
          </a:p>
        </p:txBody>
      </p:sp>
      <p:sp>
        <p:nvSpPr>
          <p:cNvPr id="8" name="TextBox 7"/>
          <p:cNvSpPr txBox="1"/>
          <p:nvPr/>
        </p:nvSpPr>
        <p:spPr>
          <a:xfrm>
            <a:off x="502920" y="6492240"/>
            <a:ext cx="7315200" cy="256032"/>
          </a:xfrm>
          <a:prstGeom prst="rect">
            <a:avLst/>
          </a:prstGeom>
          <a:noFill/>
        </p:spPr>
        <p:txBody>
          <a:bodyPr wrap="square" lIns="0" rIns="0" tIns="0" bIns="0" anchor="t">
            <a:spAutoFit/>
          </a:bodyPr>
          <a:lstStyle/>
          <a:p>
            <a:pPr algn="l">
              <a:lnSpc>
                <a:spcPct val="115000"/>
              </a:lnSpc>
            </a:pPr>
            <a:r>
              <a:rPr sz="950" b="0">
                <a:solidFill>
                  <a:srgbClr val="64748B"/>
                </a:solidFill>
                <a:latin typeface="Carlito"/>
              </a:rPr>
              <a:t>KneeWS  ·  noise-aware weak supervision  ·  proposal defence</a:t>
            </a:r>
          </a:p>
        </p:txBody>
      </p:sp>
      <p:sp>
        <p:nvSpPr>
          <p:cNvPr id="9" name="TextBox 8"/>
          <p:cNvSpPr txBox="1"/>
          <p:nvPr/>
        </p:nvSpPr>
        <p:spPr>
          <a:xfrm>
            <a:off x="11183112" y="6492240"/>
            <a:ext cx="502920" cy="256032"/>
          </a:xfrm>
          <a:prstGeom prst="rect">
            <a:avLst/>
          </a:prstGeom>
          <a:noFill/>
        </p:spPr>
        <p:txBody>
          <a:bodyPr wrap="square" lIns="0" rIns="0" tIns="0" bIns="0" anchor="t">
            <a:spAutoFit/>
          </a:bodyPr>
          <a:lstStyle/>
          <a:p>
            <a:pPr algn="r">
              <a:lnSpc>
                <a:spcPct val="115000"/>
              </a:lnSpc>
            </a:pPr>
            <a:r>
              <a:rPr sz="950" b="0">
                <a:solidFill>
                  <a:srgbClr val="64748B"/>
                </a:solidFill>
                <a:latin typeface="Carlito"/>
              </a:rPr>
              <a:t>5</a:t>
            </a:r>
          </a:p>
        </p:txBody>
      </p:sp>
      <p:sp>
        <p:nvSpPr>
          <p:cNvPr id="10" name="TextBox 9"/>
          <p:cNvSpPr txBox="1"/>
          <p:nvPr/>
        </p:nvSpPr>
        <p:spPr>
          <a:xfrm>
            <a:off x="1124712" y="256032"/>
            <a:ext cx="9692640" cy="502920"/>
          </a:xfrm>
          <a:prstGeom prst="rect">
            <a:avLst/>
          </a:prstGeom>
          <a:noFill/>
        </p:spPr>
        <p:txBody>
          <a:bodyPr wrap="square" lIns="0" rIns="0" tIns="0" bIns="0" anchor="t">
            <a:spAutoFit/>
          </a:bodyPr>
          <a:lstStyle/>
          <a:p>
            <a:pPr algn="l">
              <a:lnSpc>
                <a:spcPct val="115000"/>
              </a:lnSpc>
            </a:pPr>
            <a:r>
              <a:rPr sz="2400" b="1">
                <a:solidFill>
                  <a:srgbClr val="0F1B2D"/>
                </a:solidFill>
                <a:latin typeface="Caladea"/>
              </a:rPr>
              <a:t>Complex computing challenge</a:t>
            </a:r>
          </a:p>
        </p:txBody>
      </p:sp>
      <p:sp>
        <p:nvSpPr>
          <p:cNvPr id="11" name="TextBox 10"/>
          <p:cNvSpPr txBox="1"/>
          <p:nvPr/>
        </p:nvSpPr>
        <p:spPr>
          <a:xfrm>
            <a:off x="1124712" y="749808"/>
            <a:ext cx="9692640" cy="292608"/>
          </a:xfrm>
          <a:prstGeom prst="rect">
            <a:avLst/>
          </a:prstGeom>
          <a:noFill/>
        </p:spPr>
        <p:txBody>
          <a:bodyPr wrap="square" lIns="0" rIns="0" tIns="0" bIns="0" anchor="t">
            <a:spAutoFit/>
          </a:bodyPr>
          <a:lstStyle/>
          <a:p>
            <a:pPr algn="l">
              <a:lnSpc>
                <a:spcPct val="115000"/>
              </a:lnSpc>
            </a:pPr>
            <a:r>
              <a:rPr sz="1250" b="0">
                <a:solidFill>
                  <a:srgbClr val="64748B"/>
                </a:solidFill>
                <a:latin typeface="Carlito"/>
              </a:rPr>
              <a:t>What is technically hard, and why this is not a course project</a:t>
            </a:r>
          </a:p>
        </p:txBody>
      </p:sp>
      <p:sp>
        <p:nvSpPr>
          <p:cNvPr id="12" name="Rectangle 11"/>
          <p:cNvSpPr/>
          <p:nvPr/>
        </p:nvSpPr>
        <p:spPr>
          <a:xfrm>
            <a:off x="502920" y="1280160"/>
            <a:ext cx="559155" cy="37490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280160"/>
            <a:ext cx="376275" cy="374904"/>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a:t>
            </a:r>
          </a:p>
        </p:txBody>
      </p:sp>
      <p:sp>
        <p:nvSpPr>
          <p:cNvPr id="14" name="Rectangle 13"/>
          <p:cNvSpPr/>
          <p:nvPr/>
        </p:nvSpPr>
        <p:spPr>
          <a:xfrm>
            <a:off x="1062075" y="1280160"/>
            <a:ext cx="2572115" cy="37490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3515" y="1280160"/>
            <a:ext cx="2389235" cy="374904"/>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Characteristic</a:t>
            </a:r>
          </a:p>
        </p:txBody>
      </p:sp>
      <p:sp>
        <p:nvSpPr>
          <p:cNvPr id="16" name="Rectangle 15"/>
          <p:cNvSpPr/>
          <p:nvPr/>
        </p:nvSpPr>
        <p:spPr>
          <a:xfrm>
            <a:off x="3634191" y="1280160"/>
            <a:ext cx="1565635" cy="37490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25631" y="1280160"/>
            <a:ext cx="1382755" cy="374904"/>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Claim</a:t>
            </a:r>
          </a:p>
        </p:txBody>
      </p:sp>
      <p:sp>
        <p:nvSpPr>
          <p:cNvPr id="18" name="Rectangle 17"/>
          <p:cNvSpPr/>
          <p:nvPr/>
        </p:nvSpPr>
        <p:spPr>
          <a:xfrm>
            <a:off x="5199827" y="1280160"/>
            <a:ext cx="6486204" cy="37490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91267" y="1280160"/>
            <a:ext cx="6303324" cy="374904"/>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Why</a:t>
            </a:r>
          </a:p>
        </p:txBody>
      </p:sp>
      <p:sp>
        <p:nvSpPr>
          <p:cNvPr id="20" name="Rectangle 19"/>
          <p:cNvSpPr/>
          <p:nvPr/>
        </p:nvSpPr>
        <p:spPr>
          <a:xfrm>
            <a:off x="502920" y="1655063"/>
            <a:ext cx="55915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1655063"/>
            <a:ext cx="376275" cy="374904"/>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1</a:t>
            </a:r>
          </a:p>
        </p:txBody>
      </p:sp>
      <p:sp>
        <p:nvSpPr>
          <p:cNvPr id="22" name="Rectangle 21"/>
          <p:cNvSpPr/>
          <p:nvPr/>
        </p:nvSpPr>
        <p:spPr>
          <a:xfrm>
            <a:off x="1062075" y="1655063"/>
            <a:ext cx="257211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53515" y="1655063"/>
            <a:ext cx="238923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Conflicting requirements</a:t>
            </a:r>
          </a:p>
        </p:txBody>
      </p:sp>
      <p:sp>
        <p:nvSpPr>
          <p:cNvPr id="24" name="Rectangle 23"/>
          <p:cNvSpPr/>
          <p:nvPr/>
        </p:nvSpPr>
        <p:spPr>
          <a:xfrm>
            <a:off x="3634191" y="1655063"/>
            <a:ext cx="156563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25631" y="1655063"/>
            <a:ext cx="138275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Strong</a:t>
            </a:r>
          </a:p>
        </p:txBody>
      </p:sp>
      <p:sp>
        <p:nvSpPr>
          <p:cNvPr id="26" name="Rectangle 25"/>
          <p:cNvSpPr/>
          <p:nvPr/>
        </p:nvSpPr>
        <p:spPr>
          <a:xfrm>
            <a:off x="5199827" y="1655063"/>
            <a:ext cx="6486204"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91267" y="1655063"/>
            <a:ext cx="6303324"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4,349 noisy studies are needed for signal, yet each one may be wrong; uncertainty must be preserved and turned into a usable number; 569 GB of imaging inside 8 GB of VRAM.</a:t>
            </a:r>
          </a:p>
        </p:txBody>
      </p:sp>
      <p:sp>
        <p:nvSpPr>
          <p:cNvPr id="28" name="Rectangle 27"/>
          <p:cNvSpPr/>
          <p:nvPr/>
        </p:nvSpPr>
        <p:spPr>
          <a:xfrm>
            <a:off x="502920" y="2025395"/>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2029967"/>
            <a:ext cx="55915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2029967"/>
            <a:ext cx="376275" cy="374904"/>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2</a:t>
            </a:r>
          </a:p>
        </p:txBody>
      </p:sp>
      <p:sp>
        <p:nvSpPr>
          <p:cNvPr id="31" name="Rectangle 30"/>
          <p:cNvSpPr/>
          <p:nvPr/>
        </p:nvSpPr>
        <p:spPr>
          <a:xfrm>
            <a:off x="1062075" y="2029967"/>
            <a:ext cx="257211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53515" y="2029967"/>
            <a:ext cx="238923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No obvious solution / depth of analysis</a:t>
            </a:r>
          </a:p>
        </p:txBody>
      </p:sp>
      <p:sp>
        <p:nvSpPr>
          <p:cNvPr id="33" name="Rectangle 32"/>
          <p:cNvSpPr/>
          <p:nvPr/>
        </p:nvSpPr>
        <p:spPr>
          <a:xfrm>
            <a:off x="3634191" y="2029967"/>
            <a:ext cx="156563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25631" y="2029967"/>
            <a:ext cx="138275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Strong</a:t>
            </a:r>
          </a:p>
        </p:txBody>
      </p:sp>
      <p:sp>
        <p:nvSpPr>
          <p:cNvPr id="35" name="Rectangle 34"/>
          <p:cNvSpPr/>
          <p:nvPr/>
        </p:nvSpPr>
        <p:spPr>
          <a:xfrm>
            <a:off x="5199827" y="2029967"/>
            <a:ext cx="6486204"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91267" y="2029967"/>
            <a:ext cx="6303324"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There is no standard answer to what is the training target for a finding the report never mentions. It must be determined experimentally.</a:t>
            </a:r>
          </a:p>
        </p:txBody>
      </p:sp>
      <p:sp>
        <p:nvSpPr>
          <p:cNvPr id="37" name="Rectangle 36"/>
          <p:cNvSpPr/>
          <p:nvPr/>
        </p:nvSpPr>
        <p:spPr>
          <a:xfrm>
            <a:off x="502920" y="2400300"/>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2404872"/>
            <a:ext cx="55915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2404872"/>
            <a:ext cx="376275" cy="374904"/>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3</a:t>
            </a:r>
          </a:p>
        </p:txBody>
      </p:sp>
      <p:sp>
        <p:nvSpPr>
          <p:cNvPr id="40" name="Rectangle 39"/>
          <p:cNvSpPr/>
          <p:nvPr/>
        </p:nvSpPr>
        <p:spPr>
          <a:xfrm>
            <a:off x="1062075" y="2404872"/>
            <a:ext cx="257211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53515" y="2404872"/>
            <a:ext cx="238923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Depth of knowledge</a:t>
            </a:r>
          </a:p>
        </p:txBody>
      </p:sp>
      <p:sp>
        <p:nvSpPr>
          <p:cNvPr id="42" name="Rectangle 41"/>
          <p:cNvSpPr/>
          <p:nvPr/>
        </p:nvSpPr>
        <p:spPr>
          <a:xfrm>
            <a:off x="3634191" y="2404872"/>
            <a:ext cx="156563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25631" y="2404872"/>
            <a:ext cx="138275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Strong</a:t>
            </a:r>
          </a:p>
        </p:txBody>
      </p:sp>
      <p:sp>
        <p:nvSpPr>
          <p:cNvPr id="44" name="Rectangle 43"/>
          <p:cNvSpPr/>
          <p:nvPr/>
        </p:nvSpPr>
        <p:spPr>
          <a:xfrm>
            <a:off x="5199827" y="2404872"/>
            <a:ext cx="6486204"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91267" y="2404872"/>
            <a:ext cx="6303324"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MRI and DICOM, multi-label learning, noisy-label theory, multilingual clinical language, calibration, and leakage-safe design must all be combined.</a:t>
            </a:r>
          </a:p>
        </p:txBody>
      </p:sp>
      <p:sp>
        <p:nvSpPr>
          <p:cNvPr id="46" name="Rectangle 45"/>
          <p:cNvSpPr/>
          <p:nvPr/>
        </p:nvSpPr>
        <p:spPr>
          <a:xfrm>
            <a:off x="502920" y="2775204"/>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02920" y="2779776"/>
            <a:ext cx="55915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2779776"/>
            <a:ext cx="376275" cy="374904"/>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4</a:t>
            </a:r>
          </a:p>
        </p:txBody>
      </p:sp>
      <p:sp>
        <p:nvSpPr>
          <p:cNvPr id="49" name="Rectangle 48"/>
          <p:cNvSpPr/>
          <p:nvPr/>
        </p:nvSpPr>
        <p:spPr>
          <a:xfrm>
            <a:off x="1062075" y="2779776"/>
            <a:ext cx="257211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53515" y="2779776"/>
            <a:ext cx="238923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Unfamiliar issues</a:t>
            </a:r>
          </a:p>
        </p:txBody>
      </p:sp>
      <p:sp>
        <p:nvSpPr>
          <p:cNvPr id="51" name="Rectangle 50"/>
          <p:cNvSpPr/>
          <p:nvPr/>
        </p:nvSpPr>
        <p:spPr>
          <a:xfrm>
            <a:off x="3634191" y="2779776"/>
            <a:ext cx="156563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25631" y="2779776"/>
            <a:ext cx="138275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Strong</a:t>
            </a:r>
          </a:p>
        </p:txBody>
      </p:sp>
      <p:sp>
        <p:nvSpPr>
          <p:cNvPr id="53" name="Rectangle 52"/>
          <p:cNvSpPr/>
          <p:nvPr/>
        </p:nvSpPr>
        <p:spPr>
          <a:xfrm>
            <a:off x="5199827" y="2779776"/>
            <a:ext cx="6486204"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291267" y="2779776"/>
            <a:ext cx="6303324"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Language is nearly a proxy for institution; reports and expert reads disagree systematically; 48 quantities must be estimated from 58 studies.</a:t>
            </a:r>
          </a:p>
        </p:txBody>
      </p:sp>
      <p:sp>
        <p:nvSpPr>
          <p:cNvPr id="55" name="Rectangle 54"/>
          <p:cNvSpPr/>
          <p:nvPr/>
        </p:nvSpPr>
        <p:spPr>
          <a:xfrm>
            <a:off x="502920" y="315010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02920" y="3154679"/>
            <a:ext cx="55915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3154679"/>
            <a:ext cx="376275" cy="374904"/>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5</a:t>
            </a:r>
          </a:p>
        </p:txBody>
      </p:sp>
      <p:sp>
        <p:nvSpPr>
          <p:cNvPr id="58" name="Rectangle 57"/>
          <p:cNvSpPr/>
          <p:nvPr/>
        </p:nvSpPr>
        <p:spPr>
          <a:xfrm>
            <a:off x="1062075" y="3154679"/>
            <a:ext cx="257211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53515" y="3154679"/>
            <a:ext cx="238923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Beyond standard practice</a:t>
            </a:r>
          </a:p>
        </p:txBody>
      </p:sp>
      <p:sp>
        <p:nvSpPr>
          <p:cNvPr id="60" name="Rectangle 59"/>
          <p:cNvSpPr/>
          <p:nvPr/>
        </p:nvSpPr>
        <p:spPr>
          <a:xfrm>
            <a:off x="3634191" y="3154679"/>
            <a:ext cx="156563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725631" y="3154679"/>
            <a:ext cx="138275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Strong</a:t>
            </a:r>
          </a:p>
        </p:txBody>
      </p:sp>
      <p:sp>
        <p:nvSpPr>
          <p:cNvPr id="62" name="Rectangle 61"/>
          <p:cNvSpPr/>
          <p:nvPr/>
        </p:nvSpPr>
        <p:spPr>
          <a:xfrm>
            <a:off x="5199827" y="3154679"/>
            <a:ext cx="6486204"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291267" y="3154679"/>
            <a:ext cx="6303324"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Frameworks supply networks, DICOM readers and language models. None decides how noisy report supervision should be modelled.</a:t>
            </a:r>
          </a:p>
        </p:txBody>
      </p:sp>
      <p:sp>
        <p:nvSpPr>
          <p:cNvPr id="64" name="Rectangle 63"/>
          <p:cNvSpPr/>
          <p:nvPr/>
        </p:nvSpPr>
        <p:spPr>
          <a:xfrm>
            <a:off x="502920" y="3525012"/>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2920" y="3529584"/>
            <a:ext cx="55915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94360" y="3529584"/>
            <a:ext cx="376275" cy="374904"/>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6</a:t>
            </a:r>
          </a:p>
        </p:txBody>
      </p:sp>
      <p:sp>
        <p:nvSpPr>
          <p:cNvPr id="67" name="Rectangle 66"/>
          <p:cNvSpPr/>
          <p:nvPr/>
        </p:nvSpPr>
        <p:spPr>
          <a:xfrm>
            <a:off x="1062075" y="3529584"/>
            <a:ext cx="257211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153515" y="3529584"/>
            <a:ext cx="238923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Diverse stakeholders</a:t>
            </a:r>
          </a:p>
        </p:txBody>
      </p:sp>
      <p:sp>
        <p:nvSpPr>
          <p:cNvPr id="69" name="Rectangle 68"/>
          <p:cNvSpPr/>
          <p:nvPr/>
        </p:nvSpPr>
        <p:spPr>
          <a:xfrm>
            <a:off x="3634191" y="3529584"/>
            <a:ext cx="156563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25631" y="3529584"/>
            <a:ext cx="138275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Weak — declared</a:t>
            </a:r>
          </a:p>
        </p:txBody>
      </p:sp>
      <p:sp>
        <p:nvSpPr>
          <p:cNvPr id="71" name="Rectangle 70"/>
          <p:cNvSpPr/>
          <p:nvPr/>
        </p:nvSpPr>
        <p:spPr>
          <a:xfrm>
            <a:off x="5199827" y="3529584"/>
            <a:ext cx="6486204"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291267" y="3529584"/>
            <a:ext cx="6303324"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Users are imaging researchers, model developers and reviewers. We do not claim a broad conflicting stakeholder landscape.</a:t>
            </a:r>
          </a:p>
        </p:txBody>
      </p:sp>
      <p:sp>
        <p:nvSpPr>
          <p:cNvPr id="73" name="Rectangle 72"/>
          <p:cNvSpPr/>
          <p:nvPr/>
        </p:nvSpPr>
        <p:spPr>
          <a:xfrm>
            <a:off x="502920" y="3899915"/>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02920" y="3904487"/>
            <a:ext cx="55915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4360" y="3904487"/>
            <a:ext cx="376275" cy="374904"/>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7</a:t>
            </a:r>
          </a:p>
        </p:txBody>
      </p:sp>
      <p:sp>
        <p:nvSpPr>
          <p:cNvPr id="76" name="Rectangle 75"/>
          <p:cNvSpPr/>
          <p:nvPr/>
        </p:nvSpPr>
        <p:spPr>
          <a:xfrm>
            <a:off x="1062075" y="3904487"/>
            <a:ext cx="257211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53515" y="3904487"/>
            <a:ext cx="238923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Significant consequences</a:t>
            </a:r>
          </a:p>
        </p:txBody>
      </p:sp>
      <p:sp>
        <p:nvSpPr>
          <p:cNvPr id="78" name="Rectangle 77"/>
          <p:cNvSpPr/>
          <p:nvPr/>
        </p:nvSpPr>
        <p:spPr>
          <a:xfrm>
            <a:off x="3634191" y="3904487"/>
            <a:ext cx="156563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25631" y="3904487"/>
            <a:ext cx="138275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Moderate</a:t>
            </a:r>
          </a:p>
        </p:txBody>
      </p:sp>
      <p:sp>
        <p:nvSpPr>
          <p:cNvPr id="80" name="Rectangle 79"/>
          <p:cNvSpPr/>
          <p:nvPr/>
        </p:nvSpPr>
        <p:spPr>
          <a:xfrm>
            <a:off x="5199827" y="3904487"/>
            <a:ext cx="6486204"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291267" y="3904487"/>
            <a:ext cx="6303324"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Over-confident predictions matter in a domain that may inform clinical decisions, so uncertainty is evaluated explicitly. No validation is claimed.</a:t>
            </a:r>
          </a:p>
        </p:txBody>
      </p:sp>
      <p:sp>
        <p:nvSpPr>
          <p:cNvPr id="82" name="Rectangle 81"/>
          <p:cNvSpPr/>
          <p:nvPr/>
        </p:nvSpPr>
        <p:spPr>
          <a:xfrm>
            <a:off x="502920" y="4274820"/>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02920" y="4279392"/>
            <a:ext cx="55915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94360" y="4279392"/>
            <a:ext cx="376275" cy="374904"/>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8</a:t>
            </a:r>
          </a:p>
        </p:txBody>
      </p:sp>
      <p:sp>
        <p:nvSpPr>
          <p:cNvPr id="85" name="Rectangle 84"/>
          <p:cNvSpPr/>
          <p:nvPr/>
        </p:nvSpPr>
        <p:spPr>
          <a:xfrm>
            <a:off x="1062075" y="4279392"/>
            <a:ext cx="257211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53515" y="4279392"/>
            <a:ext cx="238923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Interdependence</a:t>
            </a:r>
          </a:p>
        </p:txBody>
      </p:sp>
      <p:sp>
        <p:nvSpPr>
          <p:cNvPr id="87" name="Rectangle 86"/>
          <p:cNvSpPr/>
          <p:nvPr/>
        </p:nvSpPr>
        <p:spPr>
          <a:xfrm>
            <a:off x="3634191" y="4279392"/>
            <a:ext cx="1565635"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25631" y="4279392"/>
            <a:ext cx="138275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Strong</a:t>
            </a:r>
          </a:p>
        </p:txBody>
      </p:sp>
      <p:sp>
        <p:nvSpPr>
          <p:cNvPr id="89" name="Rectangle 88"/>
          <p:cNvSpPr/>
          <p:nvPr/>
        </p:nvSpPr>
        <p:spPr>
          <a:xfrm>
            <a:off x="5199827" y="4279392"/>
            <a:ext cx="6486204" cy="374904"/>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291267" y="4279392"/>
            <a:ext cx="6303324"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Report interpretation determines reliability, which determines targets, which determines model behaviour. No part can be solved alone.</a:t>
            </a:r>
          </a:p>
        </p:txBody>
      </p:sp>
      <p:sp>
        <p:nvSpPr>
          <p:cNvPr id="91" name="Rectangle 90"/>
          <p:cNvSpPr/>
          <p:nvPr/>
        </p:nvSpPr>
        <p:spPr>
          <a:xfrm>
            <a:off x="502920" y="4649724"/>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02920" y="4654296"/>
            <a:ext cx="55915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94360" y="4654296"/>
            <a:ext cx="376275" cy="374904"/>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9</a:t>
            </a:r>
          </a:p>
        </p:txBody>
      </p:sp>
      <p:sp>
        <p:nvSpPr>
          <p:cNvPr id="94" name="Rectangle 93"/>
          <p:cNvSpPr/>
          <p:nvPr/>
        </p:nvSpPr>
        <p:spPr>
          <a:xfrm>
            <a:off x="1062075" y="4654296"/>
            <a:ext cx="257211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53515" y="4654296"/>
            <a:ext cx="238923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Ill-defined requirements or cause</a:t>
            </a:r>
          </a:p>
        </p:txBody>
      </p:sp>
      <p:sp>
        <p:nvSpPr>
          <p:cNvPr id="96" name="Rectangle 95"/>
          <p:cNvSpPr/>
          <p:nvPr/>
        </p:nvSpPr>
        <p:spPr>
          <a:xfrm>
            <a:off x="3634191" y="4654296"/>
            <a:ext cx="1565635"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725631" y="4654296"/>
            <a:ext cx="1382755"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Strong</a:t>
            </a:r>
          </a:p>
        </p:txBody>
      </p:sp>
      <p:sp>
        <p:nvSpPr>
          <p:cNvPr id="98" name="Rectangle 97"/>
          <p:cNvSpPr/>
          <p:nvPr/>
        </p:nvSpPr>
        <p:spPr>
          <a:xfrm>
            <a:off x="5199827" y="4654296"/>
            <a:ext cx="6486204" cy="374904"/>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291267" y="4654296"/>
            <a:ext cx="6303324" cy="374904"/>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Whether the noise is class-conditional or severity-dependent is unknown at the start. The POC reduces that uncertainty.</a:t>
            </a:r>
          </a:p>
        </p:txBody>
      </p:sp>
      <p:sp>
        <p:nvSpPr>
          <p:cNvPr id="100" name="Rectangle 99"/>
          <p:cNvSpPr/>
          <p:nvPr/>
        </p:nvSpPr>
        <p:spPr>
          <a:xfrm>
            <a:off x="502920" y="502462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502920" y="5120640"/>
            <a:ext cx="5477256" cy="1188720"/>
          </a:xfrm>
          <a:prstGeom prst="roundRect">
            <a:avLst>
              <a:gd name="adj" fmla="val 8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85800" y="5276088"/>
            <a:ext cx="5111496" cy="274320"/>
          </a:xfrm>
          <a:prstGeom prst="rect">
            <a:avLst/>
          </a:prstGeom>
          <a:noFill/>
        </p:spPr>
        <p:txBody>
          <a:bodyPr wrap="square" lIns="0" rIns="0" tIns="0" bIns="0" anchor="t">
            <a:spAutoFit/>
          </a:bodyPr>
          <a:lstStyle/>
          <a:p>
            <a:pPr algn="l">
              <a:lnSpc>
                <a:spcPct val="115000"/>
              </a:lnSpc>
            </a:pPr>
            <a:r>
              <a:rPr sz="950" b="1">
                <a:solidFill>
                  <a:srgbClr val="2563EB"/>
                </a:solidFill>
                <a:latin typeface="Carlito"/>
              </a:rPr>
              <a:t>WHY THIS IS NOT A COURSE PROJECT</a:t>
            </a:r>
          </a:p>
        </p:txBody>
      </p:sp>
      <p:sp>
        <p:nvSpPr>
          <p:cNvPr id="103" name="TextBox 102"/>
          <p:cNvSpPr txBox="1"/>
          <p:nvPr/>
        </p:nvSpPr>
        <p:spPr>
          <a:xfrm>
            <a:off x="685800" y="5577840"/>
            <a:ext cx="5111496" cy="594360"/>
          </a:xfrm>
          <a:prstGeom prst="rect">
            <a:avLst/>
          </a:prstGeom>
          <a:noFill/>
        </p:spPr>
        <p:txBody>
          <a:bodyPr wrap="square" lIns="0" rIns="0" tIns="0" bIns="0" anchor="t">
            <a:spAutoFit/>
          </a:bodyPr>
          <a:lstStyle/>
          <a:p>
            <a:pPr algn="l">
              <a:lnSpc>
                <a:spcPct val="130000"/>
              </a:lnSpc>
            </a:pPr>
            <a:r>
              <a:rPr sz="1150" b="0">
                <a:solidFill>
                  <a:srgbClr val="0F1B2D"/>
                </a:solidFill>
                <a:latin typeface="Carlito"/>
              </a:rPr>
              <a:t>A course project trains a classifier on labels it is given. Here the labels are the research object — what they are worth has to be estimated, and no documented procedure answers that.</a:t>
            </a:r>
          </a:p>
        </p:txBody>
      </p:sp>
      <p:sp>
        <p:nvSpPr>
          <p:cNvPr id="104" name="Rounded Rectangle 103"/>
          <p:cNvSpPr/>
          <p:nvPr/>
        </p:nvSpPr>
        <p:spPr>
          <a:xfrm>
            <a:off x="6208776" y="5120640"/>
            <a:ext cx="5477256" cy="1188720"/>
          </a:xfrm>
          <a:prstGeom prst="roundRect">
            <a:avLst>
              <a:gd name="adj" fmla="val 8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391656" y="5276088"/>
            <a:ext cx="5111496" cy="274320"/>
          </a:xfrm>
          <a:prstGeom prst="rect">
            <a:avLst/>
          </a:prstGeom>
          <a:noFill/>
        </p:spPr>
        <p:txBody>
          <a:bodyPr wrap="square" lIns="0" rIns="0" tIns="0" bIns="0" anchor="t">
            <a:spAutoFit/>
          </a:bodyPr>
          <a:lstStyle/>
          <a:p>
            <a:pPr algn="l">
              <a:lnSpc>
                <a:spcPct val="115000"/>
              </a:lnSpc>
            </a:pPr>
            <a:r>
              <a:rPr sz="950" b="1">
                <a:solidFill>
                  <a:srgbClr val="0EA5A4"/>
                </a:solidFill>
                <a:latin typeface="Carlito"/>
              </a:rPr>
              <a:t>WE ARE NOT MANUFACTURING COMPLEXITY</a:t>
            </a:r>
          </a:p>
        </p:txBody>
      </p:sp>
      <p:sp>
        <p:nvSpPr>
          <p:cNvPr id="106" name="TextBox 105"/>
          <p:cNvSpPr txBox="1"/>
          <p:nvPr/>
        </p:nvSpPr>
        <p:spPr>
          <a:xfrm>
            <a:off x="6391656" y="5577840"/>
            <a:ext cx="5111496" cy="594360"/>
          </a:xfrm>
          <a:prstGeom prst="rect">
            <a:avLst/>
          </a:prstGeom>
          <a:noFill/>
        </p:spPr>
        <p:txBody>
          <a:bodyPr wrap="square" lIns="0" rIns="0" tIns="0" bIns="0" anchor="t">
            <a:spAutoFit/>
          </a:bodyPr>
          <a:lstStyle/>
          <a:p>
            <a:pPr algn="l">
              <a:lnSpc>
                <a:spcPct val="130000"/>
              </a:lnSpc>
            </a:pPr>
            <a:r>
              <a:rPr sz="1150" b="0">
                <a:solidFill>
                  <a:srgbClr val="0F1B2D"/>
                </a:solidFill>
                <a:latin typeface="Carlito"/>
              </a:rPr>
              <a:t>Characteristic 6 is marked weak because it is weak. The complexity comes from the dataset and the problem, not from added technologies.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78992"/>
            <a:ext cx="1118311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3464"/>
            <a:ext cx="502920" cy="502920"/>
          </a:xfrm>
          <a:prstGeom prst="roundRect">
            <a:avLst>
              <a:gd name="adj" fmla="val 3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83464"/>
            <a:ext cx="502920" cy="502920"/>
          </a:xfrm>
          <a:prstGeom prst="rect">
            <a:avLst/>
          </a:prstGeom>
          <a:noFill/>
        </p:spPr>
        <p:txBody>
          <a:bodyPr wrap="square" lIns="0" rIns="0" tIns="0" bIns="0" anchor="ctr">
            <a:spAutoFit/>
          </a:bodyPr>
          <a:lstStyle/>
          <a:p>
            <a:pPr algn="ctr">
              <a:lnSpc>
                <a:spcPct val="115000"/>
              </a:lnSpc>
            </a:pPr>
            <a:r>
              <a:rPr sz="2200" b="1">
                <a:solidFill>
                  <a:srgbClr val="0F1B2D"/>
                </a:solidFill>
                <a:latin typeface="Caladea"/>
              </a:rPr>
              <a:t>6</a:t>
            </a:r>
          </a:p>
        </p:txBody>
      </p:sp>
      <p:sp>
        <p:nvSpPr>
          <p:cNvPr id="7" name="TextBox 6"/>
          <p:cNvSpPr txBox="1"/>
          <p:nvPr/>
        </p:nvSpPr>
        <p:spPr>
          <a:xfrm>
            <a:off x="502920" y="768096"/>
            <a:ext cx="502920" cy="201168"/>
          </a:xfrm>
          <a:prstGeom prst="rect">
            <a:avLst/>
          </a:prstGeom>
          <a:noFill/>
        </p:spPr>
        <p:txBody>
          <a:bodyPr wrap="square" lIns="0" rIns="0" tIns="0" bIns="0" anchor="t">
            <a:spAutoFit/>
          </a:bodyPr>
          <a:lstStyle/>
          <a:p>
            <a:pPr algn="ctr">
              <a:lnSpc>
                <a:spcPct val="115000"/>
              </a:lnSpc>
            </a:pPr>
            <a:r>
              <a:rPr sz="900" b="1">
                <a:solidFill>
                  <a:srgbClr val="64748B"/>
                </a:solidFill>
                <a:latin typeface="Carlito"/>
              </a:rPr>
              <a:t>OF 10</a:t>
            </a:r>
          </a:p>
        </p:txBody>
      </p:sp>
      <p:sp>
        <p:nvSpPr>
          <p:cNvPr id="8" name="TextBox 7"/>
          <p:cNvSpPr txBox="1"/>
          <p:nvPr/>
        </p:nvSpPr>
        <p:spPr>
          <a:xfrm>
            <a:off x="502920" y="6492240"/>
            <a:ext cx="7315200" cy="256032"/>
          </a:xfrm>
          <a:prstGeom prst="rect">
            <a:avLst/>
          </a:prstGeom>
          <a:noFill/>
        </p:spPr>
        <p:txBody>
          <a:bodyPr wrap="square" lIns="0" rIns="0" tIns="0" bIns="0" anchor="t">
            <a:spAutoFit/>
          </a:bodyPr>
          <a:lstStyle/>
          <a:p>
            <a:pPr algn="l">
              <a:lnSpc>
                <a:spcPct val="115000"/>
              </a:lnSpc>
            </a:pPr>
            <a:r>
              <a:rPr sz="950" b="0">
                <a:solidFill>
                  <a:srgbClr val="64748B"/>
                </a:solidFill>
                <a:latin typeface="Carlito"/>
              </a:rPr>
              <a:t>KneeWS  ·  noise-aware weak supervision  ·  proposal defence</a:t>
            </a:r>
          </a:p>
        </p:txBody>
      </p:sp>
      <p:sp>
        <p:nvSpPr>
          <p:cNvPr id="9" name="TextBox 8"/>
          <p:cNvSpPr txBox="1"/>
          <p:nvPr/>
        </p:nvSpPr>
        <p:spPr>
          <a:xfrm>
            <a:off x="11183112" y="6492240"/>
            <a:ext cx="502920" cy="256032"/>
          </a:xfrm>
          <a:prstGeom prst="rect">
            <a:avLst/>
          </a:prstGeom>
          <a:noFill/>
        </p:spPr>
        <p:txBody>
          <a:bodyPr wrap="square" lIns="0" rIns="0" tIns="0" bIns="0" anchor="t">
            <a:spAutoFit/>
          </a:bodyPr>
          <a:lstStyle/>
          <a:p>
            <a:pPr algn="r">
              <a:lnSpc>
                <a:spcPct val="115000"/>
              </a:lnSpc>
            </a:pPr>
            <a:r>
              <a:rPr sz="950" b="0">
                <a:solidFill>
                  <a:srgbClr val="64748B"/>
                </a:solidFill>
                <a:latin typeface="Carlito"/>
              </a:rPr>
              <a:t>6</a:t>
            </a:r>
          </a:p>
        </p:txBody>
      </p:sp>
      <p:sp>
        <p:nvSpPr>
          <p:cNvPr id="10" name="TextBox 9"/>
          <p:cNvSpPr txBox="1"/>
          <p:nvPr/>
        </p:nvSpPr>
        <p:spPr>
          <a:xfrm>
            <a:off x="1124712" y="256032"/>
            <a:ext cx="9692640" cy="502920"/>
          </a:xfrm>
          <a:prstGeom prst="rect">
            <a:avLst/>
          </a:prstGeom>
          <a:noFill/>
        </p:spPr>
        <p:txBody>
          <a:bodyPr wrap="square" lIns="0" rIns="0" tIns="0" bIns="0" anchor="t">
            <a:spAutoFit/>
          </a:bodyPr>
          <a:lstStyle/>
          <a:p>
            <a:pPr algn="l">
              <a:lnSpc>
                <a:spcPct val="115000"/>
              </a:lnSpc>
            </a:pPr>
            <a:r>
              <a:rPr sz="2400" b="1">
                <a:solidFill>
                  <a:srgbClr val="0F1B2D"/>
                </a:solidFill>
                <a:latin typeface="Caladea"/>
              </a:rPr>
              <a:t>Proposed solution and contribution</a:t>
            </a:r>
          </a:p>
        </p:txBody>
      </p:sp>
      <p:sp>
        <p:nvSpPr>
          <p:cNvPr id="11" name="TextBox 10"/>
          <p:cNvSpPr txBox="1"/>
          <p:nvPr/>
        </p:nvSpPr>
        <p:spPr>
          <a:xfrm>
            <a:off x="1124712" y="749808"/>
            <a:ext cx="9692640" cy="292608"/>
          </a:xfrm>
          <a:prstGeom prst="rect">
            <a:avLst/>
          </a:prstGeom>
          <a:noFill/>
        </p:spPr>
        <p:txBody>
          <a:bodyPr wrap="square" lIns="0" rIns="0" tIns="0" bIns="0" anchor="t">
            <a:spAutoFit/>
          </a:bodyPr>
          <a:lstStyle/>
          <a:p>
            <a:pPr algn="l">
              <a:lnSpc>
                <a:spcPct val="115000"/>
              </a:lnSpc>
            </a:pPr>
            <a:r>
              <a:rPr sz="1250" b="0">
                <a:solidFill>
                  <a:srgbClr val="64748B"/>
                </a:solidFill>
                <a:latin typeface="Carlito"/>
              </a:rPr>
              <a:t>Architecture idea, main modules, and a clear contribution statement</a:t>
            </a:r>
          </a:p>
        </p:txBody>
      </p:sp>
      <p:sp>
        <p:nvSpPr>
          <p:cNvPr id="12" name="Rounded Rectangle 11"/>
          <p:cNvSpPr/>
          <p:nvPr/>
        </p:nvSpPr>
        <p:spPr>
          <a:xfrm>
            <a:off x="502920" y="1298448"/>
            <a:ext cx="11183112" cy="1554480"/>
          </a:xfrm>
          <a:prstGeom prst="roundRect">
            <a:avLst>
              <a:gd name="adj" fmla="val 5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98448"/>
            <a:ext cx="91440" cy="15544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89888"/>
            <a:ext cx="10853928" cy="237744"/>
          </a:xfrm>
          <a:prstGeom prst="rect">
            <a:avLst/>
          </a:prstGeom>
          <a:noFill/>
        </p:spPr>
        <p:txBody>
          <a:bodyPr wrap="square" lIns="0" rIns="0" tIns="0" bIns="0" anchor="t">
            <a:spAutoFit/>
          </a:bodyPr>
          <a:lstStyle/>
          <a:p>
            <a:pPr algn="l">
              <a:lnSpc>
                <a:spcPct val="115000"/>
              </a:lnSpc>
            </a:pPr>
            <a:r>
              <a:rPr sz="1050" b="1">
                <a:solidFill>
                  <a:srgbClr val="2563EB"/>
                </a:solidFill>
                <a:latin typeface="Carlito"/>
              </a:rPr>
              <a:t>Contribution statement</a:t>
            </a:r>
          </a:p>
        </p:txBody>
      </p:sp>
      <p:sp>
        <p:nvSpPr>
          <p:cNvPr id="15" name="TextBox 14"/>
          <p:cNvSpPr txBox="1"/>
          <p:nvPr/>
        </p:nvSpPr>
        <p:spPr>
          <a:xfrm>
            <a:off x="749808" y="1664208"/>
            <a:ext cx="10853928" cy="1143000"/>
          </a:xfrm>
          <a:prstGeom prst="rect">
            <a:avLst/>
          </a:prstGeom>
          <a:noFill/>
        </p:spPr>
        <p:txBody>
          <a:bodyPr wrap="square" lIns="0" rIns="0" tIns="0" bIns="0" anchor="t">
            <a:spAutoFit/>
          </a:bodyPr>
          <a:lstStyle/>
          <a:p>
            <a:pPr algn="l">
              <a:lnSpc>
                <a:spcPct val="128000"/>
              </a:lnSpc>
            </a:pPr>
            <a:r>
              <a:rPr sz="1150" b="0">
                <a:solidFill>
                  <a:srgbClr val="0F1B2D"/>
                </a:solidFill>
                <a:latin typeface="Carlito"/>
              </a:rPr>
              <a:t>Existing approaches perform well when report-derived labels are treated as correct, but remain weak when a finding is present and simply unmentioned — worth about 43 percentage points for synovitis here. We will contribute a per-finding, per-state reliability model that turns four-state report evidence into calibrated probabilistic training targets, through hierarchical partial pooling on the expert-labelled subset, and evaluate it against hard pseudo-labelling under site-grouped cross-validation on macro AUC, worst-finding AUC, calibration error and per-finding omission rate.</a:t>
            </a:r>
          </a:p>
        </p:txBody>
      </p:sp>
      <p:pic>
        <p:nvPicPr>
          <p:cNvPr id="16" name="Picture 15" descr="slide6_img1.png"/>
          <p:cNvPicPr>
            <a:picLocks noChangeAspect="1"/>
          </p:cNvPicPr>
          <p:nvPr/>
        </p:nvPicPr>
        <p:blipFill>
          <a:blip r:embed="rId2"/>
          <a:stretch>
            <a:fillRect/>
          </a:stretch>
        </p:blipFill>
        <p:spPr>
          <a:xfrm>
            <a:off x="1112342" y="3017520"/>
            <a:ext cx="4724754" cy="2880360"/>
          </a:xfrm>
          <a:prstGeom prst="rect">
            <a:avLst/>
          </a:prstGeom>
        </p:spPr>
      </p:pic>
      <p:sp>
        <p:nvSpPr>
          <p:cNvPr id="17" name="TextBox 16"/>
          <p:cNvSpPr txBox="1"/>
          <p:nvPr/>
        </p:nvSpPr>
        <p:spPr>
          <a:xfrm>
            <a:off x="502920" y="5943600"/>
            <a:ext cx="5943600" cy="256032"/>
          </a:xfrm>
          <a:prstGeom prst="rect">
            <a:avLst/>
          </a:prstGeom>
          <a:noFill/>
        </p:spPr>
        <p:txBody>
          <a:bodyPr wrap="square" lIns="0" rIns="0" tIns="0" bIns="0" anchor="t">
            <a:spAutoFit/>
          </a:bodyPr>
          <a:lstStyle/>
          <a:p>
            <a:pPr algn="ctr">
              <a:lnSpc>
                <a:spcPct val="115000"/>
              </a:lnSpc>
            </a:pPr>
            <a:r>
              <a:rPr sz="1000" b="0">
                <a:solidFill>
                  <a:srgbClr val="64748B"/>
                </a:solidFill>
                <a:latin typeface="Carlito"/>
              </a:rPr>
              <a:t>Figure 2 — turning noisy multilingual reports into probabilistic training targets</a:t>
            </a:r>
          </a:p>
        </p:txBody>
      </p:sp>
      <p:sp>
        <p:nvSpPr>
          <p:cNvPr id="18" name="Rounded Rectangle 17"/>
          <p:cNvSpPr/>
          <p:nvPr/>
        </p:nvSpPr>
        <p:spPr>
          <a:xfrm>
            <a:off x="6675120" y="3017520"/>
            <a:ext cx="5010912" cy="1325880"/>
          </a:xfrm>
          <a:prstGeom prst="roundRect">
            <a:avLst>
              <a:gd name="adj" fmla="val 8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3172968"/>
            <a:ext cx="4645152" cy="274320"/>
          </a:xfrm>
          <a:prstGeom prst="rect">
            <a:avLst/>
          </a:prstGeom>
          <a:noFill/>
        </p:spPr>
        <p:txBody>
          <a:bodyPr wrap="square" lIns="0" rIns="0" tIns="0" bIns="0" anchor="t">
            <a:spAutoFit/>
          </a:bodyPr>
          <a:lstStyle/>
          <a:p>
            <a:pPr algn="l">
              <a:lnSpc>
                <a:spcPct val="115000"/>
              </a:lnSpc>
            </a:pPr>
            <a:r>
              <a:rPr sz="950" b="1">
                <a:solidFill>
                  <a:srgbClr val="2563EB"/>
                </a:solidFill>
                <a:latin typeface="Carlito"/>
              </a:rPr>
              <a:t>CONTRIBUTION TYPES CLAIMED</a:t>
            </a:r>
          </a:p>
        </p:txBody>
      </p:sp>
      <p:sp>
        <p:nvSpPr>
          <p:cNvPr id="20" name="TextBox 19"/>
          <p:cNvSpPr txBox="1"/>
          <p:nvPr/>
        </p:nvSpPr>
        <p:spPr>
          <a:xfrm>
            <a:off x="6858000" y="3474720"/>
            <a:ext cx="4645152" cy="731519"/>
          </a:xfrm>
          <a:prstGeom prst="rect">
            <a:avLst/>
          </a:prstGeom>
          <a:noFill/>
        </p:spPr>
        <p:txBody>
          <a:bodyPr wrap="square" lIns="0" rIns="0" tIns="0" bIns="0" anchor="t">
            <a:spAutoFit/>
          </a:bodyPr>
          <a:lstStyle/>
          <a:p>
            <a:pPr algn="l">
              <a:lnSpc>
                <a:spcPct val="130000"/>
              </a:lnSpc>
            </a:pPr>
            <a:r>
              <a:rPr sz="1100" b="0">
                <a:solidFill>
                  <a:srgbClr val="0F1B2D"/>
                </a:solidFill>
                <a:latin typeface="Carlito"/>
              </a:rPr>
              <a:t>Method — the reliability estimator.</a:t>
            </a:r>
          </a:p>
          <a:p>
            <a:pPr algn="l">
              <a:lnSpc>
                <a:spcPct val="130000"/>
              </a:lnSpc>
            </a:pPr>
            <a:r>
              <a:rPr sz="1100" b="0">
                <a:solidFill>
                  <a:srgbClr val="0F1B2D"/>
                </a:solidFill>
                <a:latin typeface="Carlito"/>
              </a:rPr>
              <a:t>Evaluation — the leakage-safe comparison and omission measurement.</a:t>
            </a:r>
          </a:p>
          <a:p>
            <a:pPr algn="l">
              <a:lnSpc>
                <a:spcPct val="130000"/>
              </a:lnSpc>
            </a:pPr>
            <a:r>
              <a:rPr sz="1100" b="0">
                <a:solidFill>
                  <a:srgbClr val="0F1B2D"/>
                </a:solidFill>
                <a:latin typeface="Carlito"/>
              </a:rPr>
              <a:t>Data — a four-state multilingual label set for 12 findings.</a:t>
            </a:r>
          </a:p>
        </p:txBody>
      </p:sp>
      <p:sp>
        <p:nvSpPr>
          <p:cNvPr id="21" name="Rounded Rectangle 20"/>
          <p:cNvSpPr/>
          <p:nvPr/>
        </p:nvSpPr>
        <p:spPr>
          <a:xfrm>
            <a:off x="6675120" y="4434840"/>
            <a:ext cx="5010912" cy="1691640"/>
          </a:xfrm>
          <a:prstGeom prst="roundRect">
            <a:avLst>
              <a:gd name="adj" fmla="val 8000"/>
            </a:avLst>
          </a:prstGeom>
          <a:solidFill>
            <a:srgbClr val="F5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4590288"/>
            <a:ext cx="4645152" cy="274320"/>
          </a:xfrm>
          <a:prstGeom prst="rect">
            <a:avLst/>
          </a:prstGeom>
          <a:noFill/>
        </p:spPr>
        <p:txBody>
          <a:bodyPr wrap="square" lIns="0" rIns="0" tIns="0" bIns="0" anchor="t">
            <a:spAutoFit/>
          </a:bodyPr>
          <a:lstStyle/>
          <a:p>
            <a:pPr algn="l">
              <a:lnSpc>
                <a:spcPct val="115000"/>
              </a:lnSpc>
            </a:pPr>
            <a:r>
              <a:rPr sz="950" b="1">
                <a:solidFill>
                  <a:srgbClr val="E0732B"/>
                </a:solidFill>
                <a:latin typeface="Carlito"/>
              </a:rPr>
              <a:t>WHAT WE ARE NOT CLAIMING</a:t>
            </a:r>
          </a:p>
        </p:txBody>
      </p:sp>
      <p:sp>
        <p:nvSpPr>
          <p:cNvPr id="23" name="TextBox 22"/>
          <p:cNvSpPr txBox="1"/>
          <p:nvPr/>
        </p:nvSpPr>
        <p:spPr>
          <a:xfrm>
            <a:off x="6858000" y="4892040"/>
            <a:ext cx="4645152" cy="1097280"/>
          </a:xfrm>
          <a:prstGeom prst="rect">
            <a:avLst/>
          </a:prstGeom>
          <a:noFill/>
        </p:spPr>
        <p:txBody>
          <a:bodyPr wrap="square" lIns="0" rIns="0" tIns="0" bIns="0" anchor="t">
            <a:spAutoFit/>
          </a:bodyPr>
          <a:lstStyle/>
          <a:p>
            <a:pPr algn="l">
              <a:lnSpc>
                <a:spcPct val="130000"/>
              </a:lnSpc>
            </a:pPr>
            <a:r>
              <a:rPr sz="1100" b="0">
                <a:solidFill>
                  <a:srgbClr val="0F1B2D"/>
                </a:solidFill>
                <a:latin typeface="Carlito"/>
              </a:rPr>
              <a:t>Not a new network architecture. Not a leaderboard win. Not clinical validation. The image model is deliberately conventional so that any measured difference is attributable to the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78992"/>
            <a:ext cx="1118311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3464"/>
            <a:ext cx="502920" cy="502920"/>
          </a:xfrm>
          <a:prstGeom prst="roundRect">
            <a:avLst>
              <a:gd name="adj" fmla="val 3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83464"/>
            <a:ext cx="502920" cy="502920"/>
          </a:xfrm>
          <a:prstGeom prst="rect">
            <a:avLst/>
          </a:prstGeom>
          <a:noFill/>
        </p:spPr>
        <p:txBody>
          <a:bodyPr wrap="square" lIns="0" rIns="0" tIns="0" bIns="0" anchor="ctr">
            <a:spAutoFit/>
          </a:bodyPr>
          <a:lstStyle/>
          <a:p>
            <a:pPr algn="ctr">
              <a:lnSpc>
                <a:spcPct val="115000"/>
              </a:lnSpc>
            </a:pPr>
            <a:r>
              <a:rPr sz="2200" b="1">
                <a:solidFill>
                  <a:srgbClr val="0F1B2D"/>
                </a:solidFill>
                <a:latin typeface="Caladea"/>
              </a:rPr>
              <a:t>7</a:t>
            </a:r>
          </a:p>
        </p:txBody>
      </p:sp>
      <p:sp>
        <p:nvSpPr>
          <p:cNvPr id="7" name="TextBox 6"/>
          <p:cNvSpPr txBox="1"/>
          <p:nvPr/>
        </p:nvSpPr>
        <p:spPr>
          <a:xfrm>
            <a:off x="502920" y="768096"/>
            <a:ext cx="502920" cy="201168"/>
          </a:xfrm>
          <a:prstGeom prst="rect">
            <a:avLst/>
          </a:prstGeom>
          <a:noFill/>
        </p:spPr>
        <p:txBody>
          <a:bodyPr wrap="square" lIns="0" rIns="0" tIns="0" bIns="0" anchor="t">
            <a:spAutoFit/>
          </a:bodyPr>
          <a:lstStyle/>
          <a:p>
            <a:pPr algn="ctr">
              <a:lnSpc>
                <a:spcPct val="115000"/>
              </a:lnSpc>
            </a:pPr>
            <a:r>
              <a:rPr sz="900" b="1">
                <a:solidFill>
                  <a:srgbClr val="64748B"/>
                </a:solidFill>
                <a:latin typeface="Carlito"/>
              </a:rPr>
              <a:t>OF 10</a:t>
            </a:r>
          </a:p>
        </p:txBody>
      </p:sp>
      <p:sp>
        <p:nvSpPr>
          <p:cNvPr id="8" name="TextBox 7"/>
          <p:cNvSpPr txBox="1"/>
          <p:nvPr/>
        </p:nvSpPr>
        <p:spPr>
          <a:xfrm>
            <a:off x="502920" y="6492240"/>
            <a:ext cx="7315200" cy="256032"/>
          </a:xfrm>
          <a:prstGeom prst="rect">
            <a:avLst/>
          </a:prstGeom>
          <a:noFill/>
        </p:spPr>
        <p:txBody>
          <a:bodyPr wrap="square" lIns="0" rIns="0" tIns="0" bIns="0" anchor="t">
            <a:spAutoFit/>
          </a:bodyPr>
          <a:lstStyle/>
          <a:p>
            <a:pPr algn="l">
              <a:lnSpc>
                <a:spcPct val="115000"/>
              </a:lnSpc>
            </a:pPr>
            <a:r>
              <a:rPr sz="950" b="0">
                <a:solidFill>
                  <a:srgbClr val="64748B"/>
                </a:solidFill>
                <a:latin typeface="Carlito"/>
              </a:rPr>
              <a:t>KneeWS  ·  noise-aware weak supervision  ·  proposal defence</a:t>
            </a:r>
          </a:p>
        </p:txBody>
      </p:sp>
      <p:sp>
        <p:nvSpPr>
          <p:cNvPr id="9" name="TextBox 8"/>
          <p:cNvSpPr txBox="1"/>
          <p:nvPr/>
        </p:nvSpPr>
        <p:spPr>
          <a:xfrm>
            <a:off x="11183112" y="6492240"/>
            <a:ext cx="502920" cy="256032"/>
          </a:xfrm>
          <a:prstGeom prst="rect">
            <a:avLst/>
          </a:prstGeom>
          <a:noFill/>
        </p:spPr>
        <p:txBody>
          <a:bodyPr wrap="square" lIns="0" rIns="0" tIns="0" bIns="0" anchor="t">
            <a:spAutoFit/>
          </a:bodyPr>
          <a:lstStyle/>
          <a:p>
            <a:pPr algn="r">
              <a:lnSpc>
                <a:spcPct val="115000"/>
              </a:lnSpc>
            </a:pPr>
            <a:r>
              <a:rPr sz="950" b="0">
                <a:solidFill>
                  <a:srgbClr val="64748B"/>
                </a:solidFill>
                <a:latin typeface="Carlito"/>
              </a:rPr>
              <a:t>7</a:t>
            </a:r>
          </a:p>
        </p:txBody>
      </p:sp>
      <p:sp>
        <p:nvSpPr>
          <p:cNvPr id="10" name="TextBox 9"/>
          <p:cNvSpPr txBox="1"/>
          <p:nvPr/>
        </p:nvSpPr>
        <p:spPr>
          <a:xfrm>
            <a:off x="1124712" y="256032"/>
            <a:ext cx="9692640" cy="502920"/>
          </a:xfrm>
          <a:prstGeom prst="rect">
            <a:avLst/>
          </a:prstGeom>
          <a:noFill/>
        </p:spPr>
        <p:txBody>
          <a:bodyPr wrap="square" lIns="0" rIns="0" tIns="0" bIns="0" anchor="t">
            <a:spAutoFit/>
          </a:bodyPr>
          <a:lstStyle/>
          <a:p>
            <a:pPr algn="l">
              <a:lnSpc>
                <a:spcPct val="115000"/>
              </a:lnSpc>
            </a:pPr>
            <a:r>
              <a:rPr sz="2400" b="1">
                <a:solidFill>
                  <a:srgbClr val="0F1B2D"/>
                </a:solidFill>
                <a:latin typeface="Caladea"/>
              </a:rPr>
              <a:t>POC-lite / feasibility evidence</a:t>
            </a:r>
          </a:p>
        </p:txBody>
      </p:sp>
      <p:sp>
        <p:nvSpPr>
          <p:cNvPr id="11" name="TextBox 10"/>
          <p:cNvSpPr txBox="1"/>
          <p:nvPr/>
        </p:nvSpPr>
        <p:spPr>
          <a:xfrm>
            <a:off x="1124712" y="749808"/>
            <a:ext cx="9692640" cy="292608"/>
          </a:xfrm>
          <a:prstGeom prst="rect">
            <a:avLst/>
          </a:prstGeom>
          <a:noFill/>
        </p:spPr>
        <p:txBody>
          <a:bodyPr wrap="square" lIns="0" rIns="0" tIns="0" bIns="0" anchor="t">
            <a:spAutoFit/>
          </a:bodyPr>
          <a:lstStyle/>
          <a:p>
            <a:pPr algn="l">
              <a:lnSpc>
                <a:spcPct val="115000"/>
              </a:lnSpc>
            </a:pPr>
            <a:r>
              <a:rPr sz="1250" b="0">
                <a:solidFill>
                  <a:srgbClr val="64748B"/>
                </a:solidFill>
                <a:latin typeface="Carlito"/>
              </a:rPr>
              <a:t>The riskiest assumption, what we ran, what came back, and what it changed</a:t>
            </a:r>
          </a:p>
        </p:txBody>
      </p:sp>
      <p:sp>
        <p:nvSpPr>
          <p:cNvPr id="12" name="Rectangle 11"/>
          <p:cNvSpPr/>
          <p:nvPr/>
        </p:nvSpPr>
        <p:spPr>
          <a:xfrm>
            <a:off x="502920" y="1280160"/>
            <a:ext cx="1453804" cy="393192"/>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280160"/>
            <a:ext cx="1270924" cy="393192"/>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
            </a:r>
          </a:p>
        </p:txBody>
      </p:sp>
      <p:sp>
        <p:nvSpPr>
          <p:cNvPr id="14" name="Rectangle 13"/>
          <p:cNvSpPr/>
          <p:nvPr/>
        </p:nvSpPr>
        <p:spPr>
          <a:xfrm>
            <a:off x="1956724" y="1280160"/>
            <a:ext cx="3243102" cy="393192"/>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48164" y="1280160"/>
            <a:ext cx="3060222" cy="393192"/>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POC 1 — can the estimator work at all?</a:t>
            </a:r>
          </a:p>
        </p:txBody>
      </p:sp>
      <p:sp>
        <p:nvSpPr>
          <p:cNvPr id="16" name="Rectangle 15"/>
          <p:cNvSpPr/>
          <p:nvPr/>
        </p:nvSpPr>
        <p:spPr>
          <a:xfrm>
            <a:off x="5199827" y="1280160"/>
            <a:ext cx="3243102" cy="393192"/>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91267" y="1280160"/>
            <a:ext cx="3060222" cy="393192"/>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POC 2 — does the workflow hold together?</a:t>
            </a:r>
          </a:p>
        </p:txBody>
      </p:sp>
      <p:sp>
        <p:nvSpPr>
          <p:cNvPr id="18" name="Rectangle 17"/>
          <p:cNvSpPr/>
          <p:nvPr/>
        </p:nvSpPr>
        <p:spPr>
          <a:xfrm>
            <a:off x="8442929" y="1280160"/>
            <a:ext cx="3243102" cy="393192"/>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4369" y="1280160"/>
            <a:ext cx="3060222" cy="393192"/>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POC 3 — do the constraints permit it?</a:t>
            </a:r>
          </a:p>
        </p:txBody>
      </p:sp>
      <p:sp>
        <p:nvSpPr>
          <p:cNvPr id="20" name="Rectangle 19"/>
          <p:cNvSpPr/>
          <p:nvPr/>
        </p:nvSpPr>
        <p:spPr>
          <a:xfrm>
            <a:off x="502920" y="1673351"/>
            <a:ext cx="1453804" cy="393192"/>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1673351"/>
            <a:ext cx="1270924" cy="393192"/>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Risky assumption</a:t>
            </a:r>
          </a:p>
        </p:txBody>
      </p:sp>
      <p:sp>
        <p:nvSpPr>
          <p:cNvPr id="22" name="Rectangle 21"/>
          <p:cNvSpPr/>
          <p:nvPr/>
        </p:nvSpPr>
        <p:spPr>
          <a:xfrm>
            <a:off x="1956724" y="1673351"/>
            <a:ext cx="3243102" cy="393192"/>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48164" y="1673351"/>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That 48 reliability quantities (12 findings × 4 states) can be estimated from 58 expert studies.</a:t>
            </a:r>
          </a:p>
        </p:txBody>
      </p:sp>
      <p:sp>
        <p:nvSpPr>
          <p:cNvPr id="24" name="Rectangle 23"/>
          <p:cNvSpPr/>
          <p:nvPr/>
        </p:nvSpPr>
        <p:spPr>
          <a:xfrm>
            <a:off x="5199827" y="1673351"/>
            <a:ext cx="3243102" cy="393192"/>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91267" y="1673351"/>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That report labelling, reliability and image analysis can be one coherent product rather than three scripts.</a:t>
            </a:r>
          </a:p>
        </p:txBody>
      </p:sp>
      <p:sp>
        <p:nvSpPr>
          <p:cNvPr id="26" name="Rectangle 25"/>
          <p:cNvSpPr/>
          <p:nvPr/>
        </p:nvSpPr>
        <p:spPr>
          <a:xfrm>
            <a:off x="8442929" y="1673351"/>
            <a:ext cx="3243102" cy="393192"/>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4369" y="1673351"/>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That 569 GB of DICOM can be processed on an 8 GB laptop GPU, within competition rules.</a:t>
            </a:r>
          </a:p>
        </p:txBody>
      </p:sp>
      <p:sp>
        <p:nvSpPr>
          <p:cNvPr id="28" name="Rectangle 27"/>
          <p:cNvSpPr/>
          <p:nvPr/>
        </p:nvSpPr>
        <p:spPr>
          <a:xfrm>
            <a:off x="502920" y="2061972"/>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2066543"/>
            <a:ext cx="1453804" cy="393192"/>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2066543"/>
            <a:ext cx="1270924" cy="393192"/>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Input and setup</a:t>
            </a:r>
          </a:p>
        </p:txBody>
      </p:sp>
      <p:sp>
        <p:nvSpPr>
          <p:cNvPr id="31" name="Rectangle 30"/>
          <p:cNvSpPr/>
          <p:nvPr/>
        </p:nvSpPr>
        <p:spPr>
          <a:xfrm>
            <a:off x="1956724" y="2066543"/>
            <a:ext cx="3243102" cy="393192"/>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48164" y="2066543"/>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58 × 12 = 696 finding-pairs, pooled to state level; partial-pooling arithmetic with intervals.</a:t>
            </a:r>
          </a:p>
        </p:txBody>
      </p:sp>
      <p:sp>
        <p:nvSpPr>
          <p:cNvPr id="33" name="Rectangle 32"/>
          <p:cNvSpPr/>
          <p:nvPr/>
        </p:nvSpPr>
        <p:spPr>
          <a:xfrm>
            <a:off x="5199827" y="2066543"/>
            <a:ext cx="3243102" cy="393192"/>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91267" y="2066543"/>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Clickable high-fidelity prototype, 10 screens, synthetic demo data, hard vs noise-aware toggle.</a:t>
            </a:r>
          </a:p>
        </p:txBody>
      </p:sp>
      <p:sp>
        <p:nvSpPr>
          <p:cNvPr id="35" name="Rectangle 34"/>
          <p:cNvSpPr/>
          <p:nvPr/>
        </p:nvSpPr>
        <p:spPr>
          <a:xfrm>
            <a:off x="8442929" y="2066543"/>
            <a:ext cx="3243102" cy="393192"/>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34369" y="2066543"/>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Rules review; two-stage 2.5D design with a frozen encoder and cached features.</a:t>
            </a:r>
          </a:p>
        </p:txBody>
      </p:sp>
      <p:sp>
        <p:nvSpPr>
          <p:cNvPr id="37" name="Rectangle 36"/>
          <p:cNvSpPr/>
          <p:nvPr/>
        </p:nvSpPr>
        <p:spPr>
          <a:xfrm>
            <a:off x="502920" y="2455164"/>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2459736"/>
            <a:ext cx="1453804" cy="393192"/>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2459736"/>
            <a:ext cx="1270924" cy="393192"/>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Result</a:t>
            </a:r>
          </a:p>
        </p:txBody>
      </p:sp>
      <p:sp>
        <p:nvSpPr>
          <p:cNvPr id="40" name="Rectangle 39"/>
          <p:cNvSpPr/>
          <p:nvPr/>
        </p:nvSpPr>
        <p:spPr>
          <a:xfrm>
            <a:off x="1956724" y="2459736"/>
            <a:ext cx="3243102" cy="393192"/>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48164" y="2459736"/>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Pooled state rules estimable with usable intervals. Per-finding cells not — median cell ~14 pairs.</a:t>
            </a:r>
          </a:p>
        </p:txBody>
      </p:sp>
      <p:sp>
        <p:nvSpPr>
          <p:cNvPr id="42" name="Rectangle 41"/>
          <p:cNvSpPr/>
          <p:nvPr/>
        </p:nvSpPr>
        <p:spPr>
          <a:xfrm>
            <a:off x="5199827" y="2459736"/>
            <a:ext cx="3243102" cy="393192"/>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91267" y="2459736"/>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End-to-end path runs: upload, analyse, draft report, refer, and research path: label, estimate, compare, inspect.</a:t>
            </a:r>
          </a:p>
        </p:txBody>
      </p:sp>
      <p:sp>
        <p:nvSpPr>
          <p:cNvPr id="44" name="Rectangle 43"/>
          <p:cNvSpPr/>
          <p:nvPr/>
        </p:nvSpPr>
        <p:spPr>
          <a:xfrm>
            <a:off x="8442929" y="2459736"/>
            <a:ext cx="3243102" cy="393192"/>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34369" y="2459736"/>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Hosted LLM APIs not permitted for report text. Feature caching moves head training to minutes on CPU.</a:t>
            </a:r>
          </a:p>
        </p:txBody>
      </p:sp>
      <p:sp>
        <p:nvSpPr>
          <p:cNvPr id="46" name="Rectangle 45"/>
          <p:cNvSpPr/>
          <p:nvPr/>
        </p:nvSpPr>
        <p:spPr>
          <a:xfrm>
            <a:off x="502920" y="2848356"/>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02920" y="2852928"/>
            <a:ext cx="1453804" cy="393192"/>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2852928"/>
            <a:ext cx="1270924" cy="393192"/>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What it changed</a:t>
            </a:r>
          </a:p>
        </p:txBody>
      </p:sp>
      <p:sp>
        <p:nvSpPr>
          <p:cNvPr id="49" name="Rectangle 48"/>
          <p:cNvSpPr/>
          <p:nvPr/>
        </p:nvSpPr>
        <p:spPr>
          <a:xfrm>
            <a:off x="1956724" y="2852928"/>
            <a:ext cx="3243102" cy="393192"/>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048164" y="2852928"/>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Partial pooling became the committed design. Per-finding estimation dropped from scope.</a:t>
            </a:r>
          </a:p>
        </p:txBody>
      </p:sp>
      <p:sp>
        <p:nvSpPr>
          <p:cNvPr id="51" name="Rectangle 50"/>
          <p:cNvSpPr/>
          <p:nvPr/>
        </p:nvSpPr>
        <p:spPr>
          <a:xfrm>
            <a:off x="5199827" y="2852928"/>
            <a:ext cx="3243102" cy="393192"/>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91267" y="2852928"/>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Confirmed the ten registered features are one system; institution onboarding moved to optional extension.</a:t>
            </a:r>
          </a:p>
        </p:txBody>
      </p:sp>
      <p:sp>
        <p:nvSpPr>
          <p:cNvPr id="53" name="Rectangle 52"/>
          <p:cNvSpPr/>
          <p:nvPr/>
        </p:nvSpPr>
        <p:spPr>
          <a:xfrm>
            <a:off x="8442929" y="2852928"/>
            <a:ext cx="3243102" cy="393192"/>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34369" y="2852928"/>
            <a:ext cx="3060222" cy="393192"/>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Open-weight in-notebook labeller became mandatory; 3D end-to-end training was ruled out.</a:t>
            </a:r>
          </a:p>
        </p:txBody>
      </p:sp>
      <p:sp>
        <p:nvSpPr>
          <p:cNvPr id="55" name="Rectangle 54"/>
          <p:cNvSpPr/>
          <p:nvPr/>
        </p:nvSpPr>
        <p:spPr>
          <a:xfrm>
            <a:off x="502920" y="324154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502920" y="3383280"/>
            <a:ext cx="5577840" cy="219456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slide7_img2.png"/>
          <p:cNvPicPr>
            <a:picLocks noChangeAspect="1"/>
          </p:cNvPicPr>
          <p:nvPr/>
        </p:nvPicPr>
        <p:blipFill>
          <a:blip r:embed="rId2"/>
          <a:stretch>
            <a:fillRect/>
          </a:stretch>
        </p:blipFill>
        <p:spPr>
          <a:xfrm>
            <a:off x="1934896" y="3474720"/>
            <a:ext cx="2713886" cy="1874519"/>
          </a:xfrm>
          <a:prstGeom prst="rect">
            <a:avLst/>
          </a:prstGeom>
        </p:spPr>
      </p:pic>
      <p:sp>
        <p:nvSpPr>
          <p:cNvPr id="58" name="TextBox 57"/>
          <p:cNvSpPr txBox="1"/>
          <p:nvPr/>
        </p:nvSpPr>
        <p:spPr>
          <a:xfrm>
            <a:off x="502920" y="5349240"/>
            <a:ext cx="5577840" cy="228600"/>
          </a:xfrm>
          <a:prstGeom prst="rect">
            <a:avLst/>
          </a:prstGeom>
          <a:noFill/>
        </p:spPr>
        <p:txBody>
          <a:bodyPr wrap="square" lIns="0" rIns="0" tIns="0" bIns="0" anchor="t">
            <a:spAutoFit/>
          </a:bodyPr>
          <a:lstStyle/>
          <a:p>
            <a:pPr algn="ctr">
              <a:lnSpc>
                <a:spcPct val="115000"/>
              </a:lnSpc>
            </a:pPr>
            <a:r>
              <a:rPr sz="1000" b="1">
                <a:solidFill>
                  <a:srgbClr val="0F1B2D"/>
                </a:solidFill>
                <a:latin typeface="Carlito"/>
              </a:rPr>
              <a:t>Reliability rules → probability labels: pooled rules with intervals</a:t>
            </a:r>
          </a:p>
        </p:txBody>
      </p:sp>
      <p:sp>
        <p:nvSpPr>
          <p:cNvPr id="59" name="Rounded Rectangle 58"/>
          <p:cNvSpPr/>
          <p:nvPr/>
        </p:nvSpPr>
        <p:spPr>
          <a:xfrm>
            <a:off x="6199632" y="3383280"/>
            <a:ext cx="5486400" cy="219456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slide7_img3.png"/>
          <p:cNvPicPr>
            <a:picLocks noChangeAspect="1"/>
          </p:cNvPicPr>
          <p:nvPr/>
        </p:nvPicPr>
        <p:blipFill>
          <a:blip r:embed="rId3"/>
          <a:stretch>
            <a:fillRect/>
          </a:stretch>
        </p:blipFill>
        <p:spPr>
          <a:xfrm>
            <a:off x="7545426" y="3474720"/>
            <a:ext cx="2794811" cy="1874519"/>
          </a:xfrm>
          <a:prstGeom prst="rect">
            <a:avLst/>
          </a:prstGeom>
        </p:spPr>
      </p:pic>
      <p:sp>
        <p:nvSpPr>
          <p:cNvPr id="61" name="TextBox 60"/>
          <p:cNvSpPr txBox="1"/>
          <p:nvPr/>
        </p:nvSpPr>
        <p:spPr>
          <a:xfrm>
            <a:off x="6199632" y="5349240"/>
            <a:ext cx="5486400" cy="228600"/>
          </a:xfrm>
          <a:prstGeom prst="rect">
            <a:avLst/>
          </a:prstGeom>
          <a:noFill/>
        </p:spPr>
        <p:txBody>
          <a:bodyPr wrap="square" lIns="0" rIns="0" tIns="0" bIns="0" anchor="t">
            <a:spAutoFit/>
          </a:bodyPr>
          <a:lstStyle/>
          <a:p>
            <a:pPr algn="ctr">
              <a:lnSpc>
                <a:spcPct val="115000"/>
              </a:lnSpc>
            </a:pPr>
            <a:r>
              <a:rPr sz="1000" b="1">
                <a:solidFill>
                  <a:srgbClr val="0F1B2D"/>
                </a:solidFill>
                <a:latin typeface="Carlito"/>
              </a:rPr>
              <a:t>Abnormality analysis: twelve probabilities, with abstention</a:t>
            </a:r>
          </a:p>
        </p:txBody>
      </p:sp>
      <p:sp>
        <p:nvSpPr>
          <p:cNvPr id="62" name="Rounded Rectangle 61"/>
          <p:cNvSpPr/>
          <p:nvPr/>
        </p:nvSpPr>
        <p:spPr>
          <a:xfrm>
            <a:off x="502920" y="5760720"/>
            <a:ext cx="11183112" cy="594360"/>
          </a:xfrm>
          <a:prstGeom prst="roundRect">
            <a:avLst>
              <a:gd name="adj" fmla="val 8000"/>
            </a:avLst>
          </a:prstGeom>
          <a:solidFill>
            <a:srgbClr val="F5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5916168"/>
            <a:ext cx="10817352" cy="274320"/>
          </a:xfrm>
          <a:prstGeom prst="rect">
            <a:avLst/>
          </a:prstGeom>
          <a:noFill/>
        </p:spPr>
        <p:txBody>
          <a:bodyPr wrap="square" lIns="0" rIns="0" tIns="0" bIns="0" anchor="t">
            <a:spAutoFit/>
          </a:bodyPr>
          <a:lstStyle/>
          <a:p>
            <a:pPr algn="l">
              <a:lnSpc>
                <a:spcPct val="115000"/>
              </a:lnSpc>
            </a:pPr>
            <a:r>
              <a:rPr sz="950" b="1">
                <a:solidFill>
                  <a:srgbClr val="E0732B"/>
                </a:solidFill>
                <a:latin typeface="Carlito"/>
              </a:rPr>
              <a:t>STATED PLAINLY</a:t>
            </a:r>
          </a:p>
        </p:txBody>
      </p:sp>
      <p:sp>
        <p:nvSpPr>
          <p:cNvPr id="64" name="TextBox 63"/>
          <p:cNvSpPr txBox="1"/>
          <p:nvPr/>
        </p:nvSpPr>
        <p:spPr>
          <a:xfrm>
            <a:off x="685800" y="6217920"/>
            <a:ext cx="10817352" cy="0"/>
          </a:xfrm>
          <a:prstGeom prst="rect">
            <a:avLst/>
          </a:prstGeom>
          <a:noFill/>
        </p:spPr>
        <p:txBody>
          <a:bodyPr wrap="square" lIns="0" rIns="0" tIns="0" bIns="0" anchor="t">
            <a:spAutoFit/>
          </a:bodyPr>
          <a:lstStyle/>
          <a:p>
            <a:pPr algn="l">
              <a:lnSpc>
                <a:spcPct val="130000"/>
              </a:lnSpc>
            </a:pPr>
            <a:r>
              <a:rPr sz="1000" b="0">
                <a:solidFill>
                  <a:srgbClr val="0F1B2D"/>
                </a:solidFill>
                <a:latin typeface="Carlito"/>
              </a:rPr>
              <a:t>Every number in the prototype is synthetic, no image model trained yet, dataset figures second-hand pending first-hand verification — this POC establishes feasibility and two design decisions, not results.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78992"/>
            <a:ext cx="1118311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3464"/>
            <a:ext cx="502920" cy="502920"/>
          </a:xfrm>
          <a:prstGeom prst="roundRect">
            <a:avLst>
              <a:gd name="adj" fmla="val 3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83464"/>
            <a:ext cx="502920" cy="502920"/>
          </a:xfrm>
          <a:prstGeom prst="rect">
            <a:avLst/>
          </a:prstGeom>
          <a:noFill/>
        </p:spPr>
        <p:txBody>
          <a:bodyPr wrap="square" lIns="0" rIns="0" tIns="0" bIns="0" anchor="ctr">
            <a:spAutoFit/>
          </a:bodyPr>
          <a:lstStyle/>
          <a:p>
            <a:pPr algn="ctr">
              <a:lnSpc>
                <a:spcPct val="115000"/>
              </a:lnSpc>
            </a:pPr>
            <a:r>
              <a:rPr sz="2200" b="1">
                <a:solidFill>
                  <a:srgbClr val="0F1B2D"/>
                </a:solidFill>
                <a:latin typeface="Caladea"/>
              </a:rPr>
              <a:t>8</a:t>
            </a:r>
          </a:p>
        </p:txBody>
      </p:sp>
      <p:sp>
        <p:nvSpPr>
          <p:cNvPr id="7" name="TextBox 6"/>
          <p:cNvSpPr txBox="1"/>
          <p:nvPr/>
        </p:nvSpPr>
        <p:spPr>
          <a:xfrm>
            <a:off x="502920" y="768096"/>
            <a:ext cx="502920" cy="201168"/>
          </a:xfrm>
          <a:prstGeom prst="rect">
            <a:avLst/>
          </a:prstGeom>
          <a:noFill/>
        </p:spPr>
        <p:txBody>
          <a:bodyPr wrap="square" lIns="0" rIns="0" tIns="0" bIns="0" anchor="t">
            <a:spAutoFit/>
          </a:bodyPr>
          <a:lstStyle/>
          <a:p>
            <a:pPr algn="ctr">
              <a:lnSpc>
                <a:spcPct val="115000"/>
              </a:lnSpc>
            </a:pPr>
            <a:r>
              <a:rPr sz="900" b="1">
                <a:solidFill>
                  <a:srgbClr val="64748B"/>
                </a:solidFill>
                <a:latin typeface="Carlito"/>
              </a:rPr>
              <a:t>OF 10</a:t>
            </a:r>
          </a:p>
        </p:txBody>
      </p:sp>
      <p:sp>
        <p:nvSpPr>
          <p:cNvPr id="8" name="TextBox 7"/>
          <p:cNvSpPr txBox="1"/>
          <p:nvPr/>
        </p:nvSpPr>
        <p:spPr>
          <a:xfrm>
            <a:off x="502920" y="6492240"/>
            <a:ext cx="7315200" cy="256032"/>
          </a:xfrm>
          <a:prstGeom prst="rect">
            <a:avLst/>
          </a:prstGeom>
          <a:noFill/>
        </p:spPr>
        <p:txBody>
          <a:bodyPr wrap="square" lIns="0" rIns="0" tIns="0" bIns="0" anchor="t">
            <a:spAutoFit/>
          </a:bodyPr>
          <a:lstStyle/>
          <a:p>
            <a:pPr algn="l">
              <a:lnSpc>
                <a:spcPct val="115000"/>
              </a:lnSpc>
            </a:pPr>
            <a:r>
              <a:rPr sz="950" b="0">
                <a:solidFill>
                  <a:srgbClr val="64748B"/>
                </a:solidFill>
                <a:latin typeface="Carlito"/>
              </a:rPr>
              <a:t>KneeWS  ·  noise-aware weak supervision  ·  proposal defence</a:t>
            </a:r>
          </a:p>
        </p:txBody>
      </p:sp>
      <p:sp>
        <p:nvSpPr>
          <p:cNvPr id="9" name="TextBox 8"/>
          <p:cNvSpPr txBox="1"/>
          <p:nvPr/>
        </p:nvSpPr>
        <p:spPr>
          <a:xfrm>
            <a:off x="11183112" y="6492240"/>
            <a:ext cx="502920" cy="256032"/>
          </a:xfrm>
          <a:prstGeom prst="rect">
            <a:avLst/>
          </a:prstGeom>
          <a:noFill/>
        </p:spPr>
        <p:txBody>
          <a:bodyPr wrap="square" lIns="0" rIns="0" tIns="0" bIns="0" anchor="t">
            <a:spAutoFit/>
          </a:bodyPr>
          <a:lstStyle/>
          <a:p>
            <a:pPr algn="r">
              <a:lnSpc>
                <a:spcPct val="115000"/>
              </a:lnSpc>
            </a:pPr>
            <a:r>
              <a:rPr sz="950" b="0">
                <a:solidFill>
                  <a:srgbClr val="64748B"/>
                </a:solidFill>
                <a:latin typeface="Carlito"/>
              </a:rPr>
              <a:t>8</a:t>
            </a:r>
          </a:p>
        </p:txBody>
      </p:sp>
      <p:sp>
        <p:nvSpPr>
          <p:cNvPr id="10" name="TextBox 9"/>
          <p:cNvSpPr txBox="1"/>
          <p:nvPr/>
        </p:nvSpPr>
        <p:spPr>
          <a:xfrm>
            <a:off x="1124712" y="256032"/>
            <a:ext cx="9692640" cy="502920"/>
          </a:xfrm>
          <a:prstGeom prst="rect">
            <a:avLst/>
          </a:prstGeom>
          <a:noFill/>
        </p:spPr>
        <p:txBody>
          <a:bodyPr wrap="square" lIns="0" rIns="0" tIns="0" bIns="0" anchor="t">
            <a:spAutoFit/>
          </a:bodyPr>
          <a:lstStyle/>
          <a:p>
            <a:pPr algn="l">
              <a:lnSpc>
                <a:spcPct val="115000"/>
              </a:lnSpc>
            </a:pPr>
            <a:r>
              <a:rPr sz="2400" b="1">
                <a:solidFill>
                  <a:srgbClr val="0F1B2D"/>
                </a:solidFill>
                <a:latin typeface="Caladea"/>
              </a:rPr>
              <a:t>Evaluation plan and risks</a:t>
            </a:r>
          </a:p>
        </p:txBody>
      </p:sp>
      <p:sp>
        <p:nvSpPr>
          <p:cNvPr id="11" name="TextBox 10"/>
          <p:cNvSpPr txBox="1"/>
          <p:nvPr/>
        </p:nvSpPr>
        <p:spPr>
          <a:xfrm>
            <a:off x="1124712" y="749808"/>
            <a:ext cx="9692640" cy="292608"/>
          </a:xfrm>
          <a:prstGeom prst="rect">
            <a:avLst/>
          </a:prstGeom>
          <a:noFill/>
        </p:spPr>
        <p:txBody>
          <a:bodyPr wrap="square" lIns="0" rIns="0" tIns="0" bIns="0" anchor="t">
            <a:spAutoFit/>
          </a:bodyPr>
          <a:lstStyle/>
          <a:p>
            <a:pPr algn="l">
              <a:lnSpc>
                <a:spcPct val="115000"/>
              </a:lnSpc>
            </a:pPr>
            <a:r>
              <a:rPr sz="1250" b="0">
                <a:solidFill>
                  <a:srgbClr val="64748B"/>
                </a:solidFill>
                <a:latin typeface="Carlito"/>
              </a:rPr>
              <a:t>How success will be measured; risks, dependencies, and the tool / API / GenAI boundary</a:t>
            </a:r>
          </a:p>
        </p:txBody>
      </p:sp>
      <p:sp>
        <p:nvSpPr>
          <p:cNvPr id="12" name="Rectangle 11"/>
          <p:cNvSpPr/>
          <p:nvPr/>
        </p:nvSpPr>
        <p:spPr>
          <a:xfrm>
            <a:off x="502920" y="1280160"/>
            <a:ext cx="3354933" cy="398417"/>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280160"/>
            <a:ext cx="3172053" cy="398417"/>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Evaluation question</a:t>
            </a:r>
          </a:p>
        </p:txBody>
      </p:sp>
      <p:sp>
        <p:nvSpPr>
          <p:cNvPr id="14" name="Rectangle 13"/>
          <p:cNvSpPr/>
          <p:nvPr/>
        </p:nvSpPr>
        <p:spPr>
          <a:xfrm>
            <a:off x="3857853" y="1280160"/>
            <a:ext cx="7828178" cy="398417"/>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49293" y="1280160"/>
            <a:ext cx="7645298" cy="398417"/>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Our answer</a:t>
            </a:r>
          </a:p>
        </p:txBody>
      </p:sp>
      <p:sp>
        <p:nvSpPr>
          <p:cNvPr id="16" name="Rectangle 15"/>
          <p:cNvSpPr/>
          <p:nvPr/>
        </p:nvSpPr>
        <p:spPr>
          <a:xfrm>
            <a:off x="502920" y="1678577"/>
            <a:ext cx="3354933" cy="398417"/>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1678577"/>
            <a:ext cx="3172053" cy="398417"/>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What is the baseline?</a:t>
            </a:r>
          </a:p>
        </p:txBody>
      </p:sp>
      <p:sp>
        <p:nvSpPr>
          <p:cNvPr id="18" name="Rectangle 17"/>
          <p:cNvSpPr/>
          <p:nvPr/>
        </p:nvSpPr>
        <p:spPr>
          <a:xfrm>
            <a:off x="3857853" y="1678577"/>
            <a:ext cx="7828178" cy="398417"/>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49293" y="1678577"/>
            <a:ext cx="7645298" cy="398417"/>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Hard pseudo-labelling with unmentioned treated as absent — the approach behind the public 0.891 baseline. Further arms: uncertainty heuristics, MAPLEZ-style verbalised probability, and gold-free confident learning.</a:t>
            </a:r>
          </a:p>
        </p:txBody>
      </p:sp>
      <p:sp>
        <p:nvSpPr>
          <p:cNvPr id="20" name="Rectangle 19"/>
          <p:cNvSpPr/>
          <p:nvPr/>
        </p:nvSpPr>
        <p:spPr>
          <a:xfrm>
            <a:off x="502920" y="2072422"/>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2076994"/>
            <a:ext cx="3354933" cy="398417"/>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2076994"/>
            <a:ext cx="3172053" cy="398417"/>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What data and cases?</a:t>
            </a:r>
          </a:p>
        </p:txBody>
      </p:sp>
      <p:sp>
        <p:nvSpPr>
          <p:cNvPr id="23" name="Rectangle 22"/>
          <p:cNvSpPr/>
          <p:nvPr/>
        </p:nvSpPr>
        <p:spPr>
          <a:xfrm>
            <a:off x="3857853" y="2076994"/>
            <a:ext cx="7828178" cy="398417"/>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49293" y="2076994"/>
            <a:ext cx="7645298" cy="398417"/>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4,349 report-only studies for training; 58 expert-labelled studies held for validation; site-grouped 5-fold cross-validation, because random folds inflate AUC by about +0.053 here.</a:t>
            </a:r>
          </a:p>
        </p:txBody>
      </p:sp>
      <p:sp>
        <p:nvSpPr>
          <p:cNvPr id="25" name="Rectangle 24"/>
          <p:cNvSpPr/>
          <p:nvPr/>
        </p:nvSpPr>
        <p:spPr>
          <a:xfrm>
            <a:off x="502920" y="2470839"/>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2475411"/>
            <a:ext cx="3354933" cy="398417"/>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2475411"/>
            <a:ext cx="3172053" cy="398417"/>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What metrics?</a:t>
            </a:r>
          </a:p>
        </p:txBody>
      </p:sp>
      <p:sp>
        <p:nvSpPr>
          <p:cNvPr id="28" name="Rectangle 27"/>
          <p:cNvSpPr/>
          <p:nvPr/>
        </p:nvSpPr>
        <p:spPr>
          <a:xfrm>
            <a:off x="3857853" y="2475411"/>
            <a:ext cx="7828178" cy="398417"/>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49293" y="2475411"/>
            <a:ext cx="7645298" cy="398417"/>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Macro AUC across the twelve findings (the competition metric); worst-finding AUC; calibration error on the expert set; per-finding omission estimate; per-language noise profile.</a:t>
            </a:r>
          </a:p>
        </p:txBody>
      </p:sp>
      <p:sp>
        <p:nvSpPr>
          <p:cNvPr id="30" name="Rectangle 29"/>
          <p:cNvSpPr/>
          <p:nvPr/>
        </p:nvSpPr>
        <p:spPr>
          <a:xfrm>
            <a:off x="502920" y="2869256"/>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2873828"/>
            <a:ext cx="3354933" cy="398417"/>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2873828"/>
            <a:ext cx="3172053" cy="398417"/>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Measurable non-functional criterion</a:t>
            </a:r>
          </a:p>
        </p:txBody>
      </p:sp>
      <p:sp>
        <p:nvSpPr>
          <p:cNvPr id="33" name="Rectangle 32"/>
          <p:cNvSpPr/>
          <p:nvPr/>
        </p:nvSpPr>
        <p:spPr>
          <a:xfrm>
            <a:off x="3857853" y="2873828"/>
            <a:ext cx="7828178" cy="398417"/>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49293" y="2873828"/>
            <a:ext cx="7645298" cy="398417"/>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Inference on a new study within 60 seconds on an 8 GB GPU; the full offline pipeline inside the 9-hour notebook budget.</a:t>
            </a:r>
          </a:p>
        </p:txBody>
      </p:sp>
      <p:sp>
        <p:nvSpPr>
          <p:cNvPr id="35" name="Rectangle 34"/>
          <p:cNvSpPr/>
          <p:nvPr/>
        </p:nvSpPr>
        <p:spPr>
          <a:xfrm>
            <a:off x="502920" y="3267673"/>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3272245"/>
            <a:ext cx="3354933" cy="398417"/>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272245"/>
            <a:ext cx="3172053" cy="398417"/>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Which failure cases matter?</a:t>
            </a:r>
          </a:p>
        </p:txBody>
      </p:sp>
      <p:sp>
        <p:nvSpPr>
          <p:cNvPr id="38" name="Rectangle 37"/>
          <p:cNvSpPr/>
          <p:nvPr/>
        </p:nvSpPr>
        <p:spPr>
          <a:xfrm>
            <a:off x="3857853" y="3272245"/>
            <a:ext cx="7828178" cy="398417"/>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49293" y="3272245"/>
            <a:ext cx="7645298" cy="398417"/>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Rare findings with thin counts; synovitis, where the model may be blind to what it must detect; severity-dependent omission; any site leakage surviving fold construction.</a:t>
            </a:r>
          </a:p>
        </p:txBody>
      </p:sp>
      <p:sp>
        <p:nvSpPr>
          <p:cNvPr id="40" name="Rectangle 39"/>
          <p:cNvSpPr/>
          <p:nvPr/>
        </p:nvSpPr>
        <p:spPr>
          <a:xfrm>
            <a:off x="502920" y="3666090"/>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3670662"/>
            <a:ext cx="3354933" cy="398417"/>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670662"/>
            <a:ext cx="3172053" cy="398417"/>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What can the evidence support?</a:t>
            </a:r>
          </a:p>
        </p:txBody>
      </p:sp>
      <p:sp>
        <p:nvSpPr>
          <p:cNvPr id="43" name="Rectangle 42"/>
          <p:cNvSpPr/>
          <p:nvPr/>
        </p:nvSpPr>
        <p:spPr>
          <a:xfrm>
            <a:off x="3857853" y="3670662"/>
            <a:ext cx="7828178" cy="398417"/>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49293" y="3670662"/>
            <a:ext cx="7645298" cy="398417"/>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A narrow claim — that modelling report reliability improves calibration and yields the first per-finding omission estimates for knee MRI. We will not claim a large AUC gain; the closest comparator gained +0.4.</a:t>
            </a:r>
          </a:p>
        </p:txBody>
      </p:sp>
      <p:sp>
        <p:nvSpPr>
          <p:cNvPr id="45" name="Rectangle 44"/>
          <p:cNvSpPr/>
          <p:nvPr/>
        </p:nvSpPr>
        <p:spPr>
          <a:xfrm>
            <a:off x="502920" y="406450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02920" y="4160520"/>
            <a:ext cx="6428232" cy="2103120"/>
          </a:xfrm>
          <a:prstGeom prst="roundRect">
            <a:avLst>
              <a:gd name="adj" fmla="val 8000"/>
            </a:avLst>
          </a:prstGeom>
          <a:solidFill>
            <a:srgbClr val="F5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4315968"/>
            <a:ext cx="6062472" cy="274320"/>
          </a:xfrm>
          <a:prstGeom prst="rect">
            <a:avLst/>
          </a:prstGeom>
          <a:noFill/>
        </p:spPr>
        <p:txBody>
          <a:bodyPr wrap="square" lIns="0" rIns="0" tIns="0" bIns="0" anchor="t">
            <a:spAutoFit/>
          </a:bodyPr>
          <a:lstStyle/>
          <a:p>
            <a:pPr algn="l">
              <a:lnSpc>
                <a:spcPct val="115000"/>
              </a:lnSpc>
            </a:pPr>
            <a:r>
              <a:rPr sz="950" b="1">
                <a:solidFill>
                  <a:srgbClr val="E0732B"/>
                </a:solidFill>
                <a:latin typeface="Carlito"/>
              </a:rPr>
              <a:t>RISKS, DEPENDENCIES AND COMMITTED SCOPE</a:t>
            </a:r>
          </a:p>
        </p:txBody>
      </p:sp>
      <p:sp>
        <p:nvSpPr>
          <p:cNvPr id="48" name="TextBox 47"/>
          <p:cNvSpPr txBox="1"/>
          <p:nvPr/>
        </p:nvSpPr>
        <p:spPr>
          <a:xfrm>
            <a:off x="685800" y="4617720"/>
            <a:ext cx="6062472" cy="1508760"/>
          </a:xfrm>
          <a:prstGeom prst="rect">
            <a:avLst/>
          </a:prstGeom>
          <a:noFill/>
        </p:spPr>
        <p:txBody>
          <a:bodyPr wrap="square" lIns="0" rIns="0" tIns="0" bIns="0" anchor="t">
            <a:spAutoFit/>
          </a:bodyPr>
          <a:lstStyle/>
          <a:p>
            <a:pPr algn="l">
              <a:lnSpc>
                <a:spcPct val="130000"/>
              </a:lnSpc>
            </a:pPr>
            <a:r>
              <a:rPr sz="1050" b="0">
                <a:solidFill>
                  <a:srgbClr val="0F1B2D"/>
                </a:solidFill>
                <a:latin typeface="Carlito"/>
              </a:rPr>
              <a:t>•  AUC gain too small to claim — lead with calibration and omission, not accuracy.</a:t>
            </a:r>
          </a:p>
          <a:p>
            <a:pPr algn="l">
              <a:lnSpc>
                <a:spcPct val="130000"/>
              </a:lnSpc>
            </a:pPr>
            <a:r>
              <a:rPr sz="1050" b="0">
                <a:solidFill>
                  <a:srgbClr val="0F1B2D"/>
                </a:solidFill>
                <a:latin typeface="Carlito"/>
              </a:rPr>
              <a:t>•  Site leakage — site-grouped folds enforced in code from week six.</a:t>
            </a:r>
          </a:p>
          <a:p>
            <a:pPr algn="l">
              <a:lnSpc>
                <a:spcPct val="130000"/>
              </a:lnSpc>
            </a:pPr>
            <a:r>
              <a:rPr sz="1050" b="0">
                <a:solidFill>
                  <a:srgbClr val="0F1B2D"/>
                </a:solidFill>
                <a:latin typeface="Carlito"/>
              </a:rPr>
              <a:t>•  Prior publication — Ye 2026 and Xiao 2024 read before the claim is written.</a:t>
            </a:r>
          </a:p>
          <a:p>
            <a:pPr algn="l">
              <a:lnSpc>
                <a:spcPct val="130000"/>
              </a:lnSpc>
            </a:pPr>
            <a:r>
              <a:rPr sz="1050" b="0">
                <a:solidFill>
                  <a:srgbClr val="0F1B2D"/>
                </a:solidFill>
                <a:latin typeface="Carlito"/>
              </a:rPr>
              <a:t>•  58 too few for stable estimates — partial pooling.</a:t>
            </a:r>
          </a:p>
          <a:p>
            <a:pPr algn="l">
              <a:lnSpc>
                <a:spcPct val="130000"/>
              </a:lnSpc>
            </a:pPr>
            <a:r>
              <a:rPr sz="1050" b="0">
                <a:solidFill>
                  <a:srgbClr val="0F1B2D"/>
                </a:solidFill>
                <a:latin typeface="Carlito"/>
              </a:rPr>
              <a:t>•  Compute limits — two-stage 2.5D, one GPU pass; subset declared if reduced.</a:t>
            </a:r>
          </a:p>
          <a:p>
            <a:pPr algn="l">
              <a:lnSpc>
                <a:spcPct val="130000"/>
              </a:lnSpc>
            </a:pPr>
            <a:r>
              <a:rPr sz="1050" b="0">
                <a:solidFill>
                  <a:srgbClr val="0F1B2D"/>
                </a:solidFill>
                <a:latin typeface="Carlito"/>
              </a:rPr>
              <a:t>•  The 58 figure is wrong — verified first-hand in week one.</a:t>
            </a:r>
          </a:p>
          <a:p>
            <a:pPr algn="l">
              <a:lnSpc>
                <a:spcPct val="130000"/>
              </a:lnSpc>
            </a:pPr>
            <a:r>
              <a:rPr sz="1050" b="0">
                <a:solidFill>
                  <a:srgbClr val="0F1B2D"/>
                </a:solidFill>
                <a:latin typeface="Carlito"/>
              </a:rPr>
              <a:t>•  Committed scope excludes institution onboarding; formats beyond DICOM and NIfTI are optional.</a:t>
            </a:r>
          </a:p>
        </p:txBody>
      </p:sp>
      <p:sp>
        <p:nvSpPr>
          <p:cNvPr id="49" name="Rounded Rectangle 48"/>
          <p:cNvSpPr/>
          <p:nvPr/>
        </p:nvSpPr>
        <p:spPr>
          <a:xfrm>
            <a:off x="7159752" y="4160520"/>
            <a:ext cx="4526280" cy="2103120"/>
          </a:xfrm>
          <a:prstGeom prst="roundRect">
            <a:avLst>
              <a:gd name="adj" fmla="val 8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42631" y="4315968"/>
            <a:ext cx="4160520" cy="274320"/>
          </a:xfrm>
          <a:prstGeom prst="rect">
            <a:avLst/>
          </a:prstGeom>
          <a:noFill/>
        </p:spPr>
        <p:txBody>
          <a:bodyPr wrap="square" lIns="0" rIns="0" tIns="0" bIns="0" anchor="t">
            <a:spAutoFit/>
          </a:bodyPr>
          <a:lstStyle/>
          <a:p>
            <a:pPr algn="l">
              <a:lnSpc>
                <a:spcPct val="115000"/>
              </a:lnSpc>
            </a:pPr>
            <a:r>
              <a:rPr sz="950" b="1">
                <a:solidFill>
                  <a:srgbClr val="2563EB"/>
                </a:solidFill>
                <a:latin typeface="Carlito"/>
              </a:rPr>
              <a:t>TOOL / API / GENAI BOUNDARY</a:t>
            </a:r>
          </a:p>
        </p:txBody>
      </p:sp>
      <p:sp>
        <p:nvSpPr>
          <p:cNvPr id="51" name="TextBox 50"/>
          <p:cNvSpPr txBox="1"/>
          <p:nvPr/>
        </p:nvSpPr>
        <p:spPr>
          <a:xfrm>
            <a:off x="7342631" y="4617720"/>
            <a:ext cx="4160520" cy="1508760"/>
          </a:xfrm>
          <a:prstGeom prst="rect">
            <a:avLst/>
          </a:prstGeom>
          <a:noFill/>
        </p:spPr>
        <p:txBody>
          <a:bodyPr wrap="square" lIns="0" rIns="0" tIns="0" bIns="0" anchor="t">
            <a:spAutoFit/>
          </a:bodyPr>
          <a:lstStyle/>
          <a:p>
            <a:pPr algn="l">
              <a:lnSpc>
                <a:spcPct val="130000"/>
              </a:lnSpc>
            </a:pPr>
            <a:r>
              <a:rPr sz="1050" b="0">
                <a:solidFill>
                  <a:srgbClr val="0F1B2D"/>
                </a:solidFill>
                <a:latin typeface="Carlito"/>
              </a:rPr>
              <a:t>Support: PyTorch, pydicom, scikit-learn, Git.</a:t>
            </a:r>
          </a:p>
          <a:p>
            <a:pPr algn="l">
              <a:lnSpc>
                <a:spcPct val="130000"/>
              </a:lnSpc>
            </a:pPr>
            <a:r>
              <a:rPr sz="1050" b="0">
                <a:solidFill>
                  <a:srgbClr val="0F1B2D"/>
                </a:solidFill>
                <a:latin typeface="Carlito"/>
              </a:rPr>
              <a:t>Core-assist: frozen pretrained encoder; open-weight in-notebook LLM for report labelling, hand-audited.</a:t>
            </a:r>
          </a:p>
          <a:p>
            <a:pPr algn="l">
              <a:lnSpc>
                <a:spcPct val="130000"/>
              </a:lnSpc>
            </a:pPr>
            <a:r>
              <a:rPr sz="1050" b="0">
                <a:solidFill>
                  <a:srgbClr val="0F1B2D"/>
                </a:solidFill>
                <a:latin typeface="Carlito"/>
              </a:rPr>
              <a:t>Core-replacement: none.</a:t>
            </a:r>
          </a:p>
          <a:p>
            <a:pPr algn="l">
              <a:lnSpc>
                <a:spcPct val="130000"/>
              </a:lnSpc>
            </a:pPr>
            <a:r>
              <a:rPr sz="1050" b="0">
                <a:solidFill>
                  <a:srgbClr val="0F1B2D"/>
                </a:solidFill>
                <a:latin typeface="Carlito"/>
              </a:rPr>
              <a:t/>
            </a:r>
          </a:p>
          <a:p>
            <a:pPr algn="l">
              <a:lnSpc>
                <a:spcPct val="130000"/>
              </a:lnSpc>
            </a:pPr>
            <a:r>
              <a:rPr sz="1050" b="0">
                <a:solidFill>
                  <a:srgbClr val="0F1B2D"/>
                </a:solidFill>
                <a:latin typeface="Carlito"/>
              </a:rPr>
              <a:t>The swap test: replace either core-assist with a comparable alternative and the contribution survives — we claim the label model, not the backbone. An AI-usage log runs from week one, countersigned.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78992"/>
            <a:ext cx="1118311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3464"/>
            <a:ext cx="502920" cy="502920"/>
          </a:xfrm>
          <a:prstGeom prst="roundRect">
            <a:avLst>
              <a:gd name="adj" fmla="val 3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83464"/>
            <a:ext cx="502920" cy="502920"/>
          </a:xfrm>
          <a:prstGeom prst="rect">
            <a:avLst/>
          </a:prstGeom>
          <a:noFill/>
        </p:spPr>
        <p:txBody>
          <a:bodyPr wrap="square" lIns="0" rIns="0" tIns="0" bIns="0" anchor="ctr">
            <a:spAutoFit/>
          </a:bodyPr>
          <a:lstStyle/>
          <a:p>
            <a:pPr algn="ctr">
              <a:lnSpc>
                <a:spcPct val="115000"/>
              </a:lnSpc>
            </a:pPr>
            <a:r>
              <a:rPr sz="2200" b="1">
                <a:solidFill>
                  <a:srgbClr val="0F1B2D"/>
                </a:solidFill>
                <a:latin typeface="Caladea"/>
              </a:rPr>
              <a:t>9</a:t>
            </a:r>
          </a:p>
        </p:txBody>
      </p:sp>
      <p:sp>
        <p:nvSpPr>
          <p:cNvPr id="7" name="TextBox 6"/>
          <p:cNvSpPr txBox="1"/>
          <p:nvPr/>
        </p:nvSpPr>
        <p:spPr>
          <a:xfrm>
            <a:off x="502920" y="768096"/>
            <a:ext cx="502920" cy="201168"/>
          </a:xfrm>
          <a:prstGeom prst="rect">
            <a:avLst/>
          </a:prstGeom>
          <a:noFill/>
        </p:spPr>
        <p:txBody>
          <a:bodyPr wrap="square" lIns="0" rIns="0" tIns="0" bIns="0" anchor="t">
            <a:spAutoFit/>
          </a:bodyPr>
          <a:lstStyle/>
          <a:p>
            <a:pPr algn="ctr">
              <a:lnSpc>
                <a:spcPct val="115000"/>
              </a:lnSpc>
            </a:pPr>
            <a:r>
              <a:rPr sz="900" b="1">
                <a:solidFill>
                  <a:srgbClr val="64748B"/>
                </a:solidFill>
                <a:latin typeface="Carlito"/>
              </a:rPr>
              <a:t>OF 10</a:t>
            </a:r>
          </a:p>
        </p:txBody>
      </p:sp>
      <p:sp>
        <p:nvSpPr>
          <p:cNvPr id="8" name="TextBox 7"/>
          <p:cNvSpPr txBox="1"/>
          <p:nvPr/>
        </p:nvSpPr>
        <p:spPr>
          <a:xfrm>
            <a:off x="502920" y="6492240"/>
            <a:ext cx="7315200" cy="256032"/>
          </a:xfrm>
          <a:prstGeom prst="rect">
            <a:avLst/>
          </a:prstGeom>
          <a:noFill/>
        </p:spPr>
        <p:txBody>
          <a:bodyPr wrap="square" lIns="0" rIns="0" tIns="0" bIns="0" anchor="t">
            <a:spAutoFit/>
          </a:bodyPr>
          <a:lstStyle/>
          <a:p>
            <a:pPr algn="l">
              <a:lnSpc>
                <a:spcPct val="115000"/>
              </a:lnSpc>
            </a:pPr>
            <a:r>
              <a:rPr sz="950" b="0">
                <a:solidFill>
                  <a:srgbClr val="64748B"/>
                </a:solidFill>
                <a:latin typeface="Carlito"/>
              </a:rPr>
              <a:t>KneeWS  ·  noise-aware weak supervision  ·  proposal defence</a:t>
            </a:r>
          </a:p>
        </p:txBody>
      </p:sp>
      <p:sp>
        <p:nvSpPr>
          <p:cNvPr id="9" name="TextBox 8"/>
          <p:cNvSpPr txBox="1"/>
          <p:nvPr/>
        </p:nvSpPr>
        <p:spPr>
          <a:xfrm>
            <a:off x="11183112" y="6492240"/>
            <a:ext cx="502920" cy="256032"/>
          </a:xfrm>
          <a:prstGeom prst="rect">
            <a:avLst/>
          </a:prstGeom>
          <a:noFill/>
        </p:spPr>
        <p:txBody>
          <a:bodyPr wrap="square" lIns="0" rIns="0" tIns="0" bIns="0" anchor="t">
            <a:spAutoFit/>
          </a:bodyPr>
          <a:lstStyle/>
          <a:p>
            <a:pPr algn="r">
              <a:lnSpc>
                <a:spcPct val="115000"/>
              </a:lnSpc>
            </a:pPr>
            <a:r>
              <a:rPr sz="950" b="0">
                <a:solidFill>
                  <a:srgbClr val="64748B"/>
                </a:solidFill>
                <a:latin typeface="Carlito"/>
              </a:rPr>
              <a:t>9</a:t>
            </a:r>
          </a:p>
        </p:txBody>
      </p:sp>
      <p:sp>
        <p:nvSpPr>
          <p:cNvPr id="10" name="TextBox 9"/>
          <p:cNvSpPr txBox="1"/>
          <p:nvPr/>
        </p:nvSpPr>
        <p:spPr>
          <a:xfrm>
            <a:off x="1124712" y="256032"/>
            <a:ext cx="9692640" cy="502920"/>
          </a:xfrm>
          <a:prstGeom prst="rect">
            <a:avLst/>
          </a:prstGeom>
          <a:noFill/>
        </p:spPr>
        <p:txBody>
          <a:bodyPr wrap="square" lIns="0" rIns="0" tIns="0" bIns="0" anchor="t">
            <a:spAutoFit/>
          </a:bodyPr>
          <a:lstStyle/>
          <a:p>
            <a:pPr algn="l">
              <a:lnSpc>
                <a:spcPct val="115000"/>
              </a:lnSpc>
            </a:pPr>
            <a:r>
              <a:rPr sz="2400" b="1">
                <a:solidFill>
                  <a:srgbClr val="0F1B2D"/>
                </a:solidFill>
                <a:latin typeface="Caladea"/>
              </a:rPr>
              <a:t>Work division and iteration plan</a:t>
            </a:r>
          </a:p>
        </p:txBody>
      </p:sp>
      <p:sp>
        <p:nvSpPr>
          <p:cNvPr id="11" name="TextBox 10"/>
          <p:cNvSpPr txBox="1"/>
          <p:nvPr/>
        </p:nvSpPr>
        <p:spPr>
          <a:xfrm>
            <a:off x="1124712" y="749808"/>
            <a:ext cx="9692640" cy="292608"/>
          </a:xfrm>
          <a:prstGeom prst="rect">
            <a:avLst/>
          </a:prstGeom>
          <a:noFill/>
        </p:spPr>
        <p:txBody>
          <a:bodyPr wrap="square" lIns="0" rIns="0" tIns="0" bIns="0" anchor="t">
            <a:spAutoFit/>
          </a:bodyPr>
          <a:lstStyle/>
          <a:p>
            <a:pPr algn="l">
              <a:lnSpc>
                <a:spcPct val="115000"/>
              </a:lnSpc>
            </a:pPr>
            <a:r>
              <a:rPr sz="1250" b="0">
                <a:solidFill>
                  <a:srgbClr val="64748B"/>
                </a:solidFill>
                <a:latin typeface="Carlito"/>
              </a:rPr>
              <a:t>Member-wise responsibilities and milestones</a:t>
            </a:r>
          </a:p>
        </p:txBody>
      </p:sp>
      <p:sp>
        <p:nvSpPr>
          <p:cNvPr id="12" name="Rectangle 11"/>
          <p:cNvSpPr/>
          <p:nvPr/>
        </p:nvSpPr>
        <p:spPr>
          <a:xfrm>
            <a:off x="502920" y="1280160"/>
            <a:ext cx="1677466" cy="5486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280160"/>
            <a:ext cx="1494586" cy="54864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Member</a:t>
            </a:r>
          </a:p>
        </p:txBody>
      </p:sp>
      <p:sp>
        <p:nvSpPr>
          <p:cNvPr id="14" name="Rectangle 13"/>
          <p:cNvSpPr/>
          <p:nvPr/>
        </p:nvSpPr>
        <p:spPr>
          <a:xfrm>
            <a:off x="2180386" y="1280160"/>
            <a:ext cx="3578595" cy="5486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71826" y="1280160"/>
            <a:ext cx="3395715" cy="54864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Primary technical ownership</a:t>
            </a:r>
          </a:p>
        </p:txBody>
      </p:sp>
      <p:sp>
        <p:nvSpPr>
          <p:cNvPr id="16" name="Rectangle 15"/>
          <p:cNvSpPr/>
          <p:nvPr/>
        </p:nvSpPr>
        <p:spPr>
          <a:xfrm>
            <a:off x="5758982" y="1280160"/>
            <a:ext cx="3578595" cy="5486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0422" y="1280160"/>
            <a:ext cx="3395715" cy="54864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Decisions they own</a:t>
            </a:r>
          </a:p>
        </p:txBody>
      </p:sp>
      <p:sp>
        <p:nvSpPr>
          <p:cNvPr id="18" name="Rectangle 17"/>
          <p:cNvSpPr/>
          <p:nvPr/>
        </p:nvSpPr>
        <p:spPr>
          <a:xfrm>
            <a:off x="9337578" y="1280160"/>
            <a:ext cx="2348453" cy="5486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29018" y="1280160"/>
            <a:ext cx="2165573" cy="54864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FYP-1 evidence</a:t>
            </a:r>
          </a:p>
        </p:txBody>
      </p:sp>
      <p:sp>
        <p:nvSpPr>
          <p:cNvPr id="20" name="Rectangle 19"/>
          <p:cNvSpPr/>
          <p:nvPr/>
        </p:nvSpPr>
        <p:spPr>
          <a:xfrm>
            <a:off x="502920" y="1828800"/>
            <a:ext cx="1677466" cy="5486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1828800"/>
            <a:ext cx="1494586" cy="54864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Member 1</a:t>
            </a:r>
          </a:p>
          <a:p>
            <a:pPr algn="l">
              <a:lnSpc>
                <a:spcPct val="110000"/>
              </a:lnSpc>
            </a:pPr>
            <a:r>
              <a:rPr sz="1000" b="1">
                <a:solidFill>
                  <a:srgbClr val="0F1B2D"/>
                </a:solidFill>
                <a:latin typeface="Carlito"/>
              </a:rPr>
              <a:t>Data and imaging pipeline</a:t>
            </a:r>
          </a:p>
        </p:txBody>
      </p:sp>
      <p:sp>
        <p:nvSpPr>
          <p:cNvPr id="22" name="Rectangle 21"/>
          <p:cNvSpPr/>
          <p:nvPr/>
        </p:nvSpPr>
        <p:spPr>
          <a:xfrm>
            <a:off x="2180386" y="1828800"/>
            <a:ext cx="3578595" cy="5486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1826" y="1828800"/>
            <a:ext cx="3395715" cy="5486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DICOM and NIfTI ingestion, series reconstruction and protocol profiling, preprocessing, frozen-encoder feature caching, site-grouped fold construction.</a:t>
            </a:r>
          </a:p>
        </p:txBody>
      </p:sp>
      <p:sp>
        <p:nvSpPr>
          <p:cNvPr id="24" name="Rectangle 23"/>
          <p:cNvSpPr/>
          <p:nvPr/>
        </p:nvSpPr>
        <p:spPr>
          <a:xfrm>
            <a:off x="5758982" y="1828800"/>
            <a:ext cx="3578595" cy="5486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50422" y="1828800"/>
            <a:ext cx="3395715" cy="5486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Slice selection strategy; resampling and normalisation; how sites are identified and grouped; the caching format everything downstream reads.</a:t>
            </a:r>
          </a:p>
        </p:txBody>
      </p:sp>
      <p:sp>
        <p:nvSpPr>
          <p:cNvPr id="26" name="Rectangle 25"/>
          <p:cNvSpPr/>
          <p:nvPr/>
        </p:nvSpPr>
        <p:spPr>
          <a:xfrm>
            <a:off x="9337578" y="1828800"/>
            <a:ext cx="2348453" cy="5486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29018" y="1828800"/>
            <a:ext cx="2165573" cy="5486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Working ingestion on real studies; cached features; an automated leakage check on the folds.</a:t>
            </a:r>
          </a:p>
        </p:txBody>
      </p:sp>
      <p:sp>
        <p:nvSpPr>
          <p:cNvPr id="28" name="Rectangle 27"/>
          <p:cNvSpPr/>
          <p:nvPr/>
        </p:nvSpPr>
        <p:spPr>
          <a:xfrm>
            <a:off x="502920" y="237286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2377439"/>
            <a:ext cx="1677466" cy="54864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2377439"/>
            <a:ext cx="1494586" cy="54864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Member 2</a:t>
            </a:r>
          </a:p>
          <a:p>
            <a:pPr algn="l">
              <a:lnSpc>
                <a:spcPct val="110000"/>
              </a:lnSpc>
            </a:pPr>
            <a:r>
              <a:rPr sz="1000" b="1">
                <a:solidFill>
                  <a:srgbClr val="0F1B2D"/>
                </a:solidFill>
                <a:latin typeface="Carlito"/>
              </a:rPr>
              <a:t>Labelling and reliability</a:t>
            </a:r>
          </a:p>
        </p:txBody>
      </p:sp>
      <p:sp>
        <p:nvSpPr>
          <p:cNvPr id="31" name="Rectangle 30"/>
          <p:cNvSpPr/>
          <p:nvPr/>
        </p:nvSpPr>
        <p:spPr>
          <a:xfrm>
            <a:off x="2180386" y="2377439"/>
            <a:ext cx="3578595" cy="54864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71826" y="2377439"/>
            <a:ext cx="3395715" cy="5486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Multilingual four-state labeller (rules, open-weight LLM, translate-then-label), the four-state matrix, and the reliability estimator with pooling.</a:t>
            </a:r>
          </a:p>
        </p:txBody>
      </p:sp>
      <p:sp>
        <p:nvSpPr>
          <p:cNvPr id="33" name="Rectangle 32"/>
          <p:cNvSpPr/>
          <p:nvPr/>
        </p:nvSpPr>
        <p:spPr>
          <a:xfrm>
            <a:off x="5758982" y="2377439"/>
            <a:ext cx="3578595" cy="54864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0422" y="2377439"/>
            <a:ext cx="3395715" cy="5486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How each language is handled; how the three labelling routes are combined; the pooling prior; which findings earn a deviation from the shared estimate.</a:t>
            </a:r>
          </a:p>
        </p:txBody>
      </p:sp>
      <p:sp>
        <p:nvSpPr>
          <p:cNvPr id="35" name="Rectangle 34"/>
          <p:cNvSpPr/>
          <p:nvPr/>
        </p:nvSpPr>
        <p:spPr>
          <a:xfrm>
            <a:off x="9337578" y="2377439"/>
            <a:ext cx="2348453" cy="54864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29018" y="2377439"/>
            <a:ext cx="2165573" cy="5486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Four-state matrix over 4,349 studies; hand-audited labeller error rate; reliability table with intervals.</a:t>
            </a:r>
          </a:p>
        </p:txBody>
      </p:sp>
      <p:sp>
        <p:nvSpPr>
          <p:cNvPr id="37" name="Rectangle 36"/>
          <p:cNvSpPr/>
          <p:nvPr/>
        </p:nvSpPr>
        <p:spPr>
          <a:xfrm>
            <a:off x="502920" y="292150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2926079"/>
            <a:ext cx="1677466" cy="5486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2926079"/>
            <a:ext cx="1494586" cy="54864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Member 3</a:t>
            </a:r>
          </a:p>
          <a:p>
            <a:pPr algn="l">
              <a:lnSpc>
                <a:spcPct val="110000"/>
              </a:lnSpc>
            </a:pPr>
            <a:r>
              <a:rPr sz="1000" b="1">
                <a:solidFill>
                  <a:srgbClr val="0F1B2D"/>
                </a:solidFill>
                <a:latin typeface="Carlito"/>
              </a:rPr>
              <a:t>Model, evaluation and application</a:t>
            </a:r>
          </a:p>
        </p:txBody>
      </p:sp>
      <p:sp>
        <p:nvSpPr>
          <p:cNvPr id="40" name="Rectangle 39"/>
          <p:cNvSpPr/>
          <p:nvPr/>
        </p:nvSpPr>
        <p:spPr>
          <a:xfrm>
            <a:off x="2180386" y="2926079"/>
            <a:ext cx="3578595" cy="5486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271826" y="2926079"/>
            <a:ext cx="3395715" cy="5486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Training arms and the soft-target loss, the metrics and calibration harness, disagreement analysis, and the clinical-facing screens.</a:t>
            </a:r>
          </a:p>
        </p:txBody>
      </p:sp>
      <p:sp>
        <p:nvSpPr>
          <p:cNvPr id="42" name="Rectangle 41"/>
          <p:cNvSpPr/>
          <p:nvPr/>
        </p:nvSpPr>
        <p:spPr>
          <a:xfrm>
            <a:off x="5758982" y="2926079"/>
            <a:ext cx="3578595" cy="5486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50422" y="2926079"/>
            <a:ext cx="3395715" cy="5486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Loss formulation for probabilistic targets; which metrics are primary; abstention thresholds; what evidence the interface exposes.</a:t>
            </a:r>
          </a:p>
        </p:txBody>
      </p:sp>
      <p:sp>
        <p:nvSpPr>
          <p:cNvPr id="44" name="Rectangle 43"/>
          <p:cNvSpPr/>
          <p:nvPr/>
        </p:nvSpPr>
        <p:spPr>
          <a:xfrm>
            <a:off x="9337578" y="2926079"/>
            <a:ext cx="2348453" cy="5486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29018" y="2926079"/>
            <a:ext cx="2165573" cy="5486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Baseline run with out-of-fold predictions; the comparison harness; the working viewer and analysis screens.</a:t>
            </a:r>
          </a:p>
        </p:txBody>
      </p:sp>
      <p:sp>
        <p:nvSpPr>
          <p:cNvPr id="46" name="Rectangle 45"/>
          <p:cNvSpPr/>
          <p:nvPr/>
        </p:nvSpPr>
        <p:spPr>
          <a:xfrm>
            <a:off x="502920" y="347014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02920" y="3611880"/>
            <a:ext cx="5422392" cy="1188720"/>
          </a:xfrm>
          <a:prstGeom prst="roundRect">
            <a:avLst>
              <a:gd name="adj" fmla="val 8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5800" y="3767328"/>
            <a:ext cx="5056631" cy="274320"/>
          </a:xfrm>
          <a:prstGeom prst="rect">
            <a:avLst/>
          </a:prstGeom>
          <a:noFill/>
        </p:spPr>
        <p:txBody>
          <a:bodyPr wrap="square" lIns="0" rIns="0" tIns="0" bIns="0" anchor="t">
            <a:spAutoFit/>
          </a:bodyPr>
          <a:lstStyle/>
          <a:p>
            <a:pPr algn="l">
              <a:lnSpc>
                <a:spcPct val="115000"/>
              </a:lnSpc>
            </a:pPr>
            <a:r>
              <a:rPr sz="950" b="1">
                <a:solidFill>
                  <a:srgbClr val="2563EB"/>
                </a:solidFill>
                <a:latin typeface="Carlito"/>
              </a:rPr>
              <a:t>SHARED RESPONSIBILITIES</a:t>
            </a:r>
          </a:p>
        </p:txBody>
      </p:sp>
      <p:sp>
        <p:nvSpPr>
          <p:cNvPr id="49" name="TextBox 48"/>
          <p:cNvSpPr txBox="1"/>
          <p:nvPr/>
        </p:nvSpPr>
        <p:spPr>
          <a:xfrm>
            <a:off x="685800" y="4069080"/>
            <a:ext cx="5056631" cy="594360"/>
          </a:xfrm>
          <a:prstGeom prst="rect">
            <a:avLst/>
          </a:prstGeom>
          <a:noFill/>
        </p:spPr>
        <p:txBody>
          <a:bodyPr wrap="square" lIns="0" rIns="0" tIns="0" bIns="0" anchor="t">
            <a:spAutoFit/>
          </a:bodyPr>
          <a:lstStyle/>
          <a:p>
            <a:pPr algn="l">
              <a:lnSpc>
                <a:spcPct val="130000"/>
              </a:lnSpc>
            </a:pPr>
            <a:r>
              <a:rPr sz="1200" b="0">
                <a:solidFill>
                  <a:srgbClr val="0F1B2D"/>
                </a:solidFill>
                <a:latin typeface="Carlito"/>
              </a:rPr>
              <a:t>Architecture and integration, quality assurance, the evaluation design itself, ethics and legal compliance, repository discipline, and the defence. Ownership is primary, not exclusive — every member can explain the whole idea.</a:t>
            </a:r>
          </a:p>
        </p:txBody>
      </p:sp>
      <p:sp>
        <p:nvSpPr>
          <p:cNvPr id="50" name="Rounded Rectangle 49"/>
          <p:cNvSpPr/>
          <p:nvPr/>
        </p:nvSpPr>
        <p:spPr>
          <a:xfrm>
            <a:off x="6263640" y="3611880"/>
            <a:ext cx="5422392" cy="1188720"/>
          </a:xfrm>
          <a:prstGeom prst="roundRect">
            <a:avLst>
              <a:gd name="adj" fmla="val 8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46520" y="3767328"/>
            <a:ext cx="5056631" cy="274320"/>
          </a:xfrm>
          <a:prstGeom prst="rect">
            <a:avLst/>
          </a:prstGeom>
          <a:noFill/>
        </p:spPr>
        <p:txBody>
          <a:bodyPr wrap="square" lIns="0" rIns="0" tIns="0" bIns="0" anchor="t">
            <a:spAutoFit/>
          </a:bodyPr>
          <a:lstStyle/>
          <a:p>
            <a:pPr algn="l">
              <a:lnSpc>
                <a:spcPct val="115000"/>
              </a:lnSpc>
            </a:pPr>
            <a:r>
              <a:rPr sz="950" b="1">
                <a:solidFill>
                  <a:srgbClr val="0EA5A4"/>
                </a:solidFill>
                <a:latin typeface="Carlito"/>
              </a:rPr>
              <a:t>THE SCOPE TEST APPLIED</a:t>
            </a:r>
          </a:p>
        </p:txBody>
      </p:sp>
      <p:sp>
        <p:nvSpPr>
          <p:cNvPr id="52" name="TextBox 51"/>
          <p:cNvSpPr txBox="1"/>
          <p:nvPr/>
        </p:nvSpPr>
        <p:spPr>
          <a:xfrm>
            <a:off x="6446520" y="4069080"/>
            <a:ext cx="5056631" cy="594360"/>
          </a:xfrm>
          <a:prstGeom prst="rect">
            <a:avLst/>
          </a:prstGeom>
          <a:noFill/>
        </p:spPr>
        <p:txBody>
          <a:bodyPr wrap="square" lIns="0" rIns="0" tIns="0" bIns="0" anchor="t">
            <a:spAutoFit/>
          </a:bodyPr>
          <a:lstStyle/>
          <a:p>
            <a:pPr algn="l">
              <a:lnSpc>
                <a:spcPct val="130000"/>
              </a:lnSpc>
            </a:pPr>
            <a:r>
              <a:rPr sz="1200" b="0">
                <a:solidFill>
                  <a:srgbClr val="0F1B2D"/>
                </a:solidFill>
                <a:latin typeface="Carlito"/>
              </a:rPr>
              <a:t>Remove any one member and a genuinely difficult subsystem and its evidence disappear — the label pipeline, the estimator, or the evaluation. None of the three is interface work or documentation.</a:t>
            </a:r>
          </a:p>
        </p:txBody>
      </p:sp>
      <p:sp>
        <p:nvSpPr>
          <p:cNvPr id="53" name="Rectangle 52"/>
          <p:cNvSpPr/>
          <p:nvPr/>
        </p:nvSpPr>
        <p:spPr>
          <a:xfrm>
            <a:off x="502920" y="4937760"/>
            <a:ext cx="1341973" cy="4724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4937760"/>
            <a:ext cx="1159093" cy="47244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Phase</a:t>
            </a:r>
          </a:p>
        </p:txBody>
      </p:sp>
      <p:sp>
        <p:nvSpPr>
          <p:cNvPr id="55" name="Rectangle 54"/>
          <p:cNvSpPr/>
          <p:nvPr/>
        </p:nvSpPr>
        <p:spPr>
          <a:xfrm>
            <a:off x="1844893" y="4937760"/>
            <a:ext cx="9841138" cy="4724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936333" y="4937760"/>
            <a:ext cx="9658258" cy="472440"/>
          </a:xfrm>
          <a:prstGeom prst="rect">
            <a:avLst/>
          </a:prstGeom>
          <a:noFill/>
        </p:spPr>
        <p:txBody>
          <a:bodyPr wrap="square" lIns="0" rIns="0" tIns="0" bIns="0" anchor="ctr">
            <a:spAutoFit/>
          </a:bodyPr>
          <a:lstStyle/>
          <a:p>
            <a:pPr algn="l">
              <a:lnSpc>
                <a:spcPct val="105000"/>
              </a:lnSpc>
            </a:pPr>
            <a:r>
              <a:rPr sz="1050" b="1">
                <a:solidFill>
                  <a:srgbClr val="FFFFFF"/>
                </a:solidFill>
                <a:latin typeface="Carlito"/>
              </a:rPr>
              <a:t>Milestones</a:t>
            </a:r>
          </a:p>
        </p:txBody>
      </p:sp>
      <p:sp>
        <p:nvSpPr>
          <p:cNvPr id="57" name="Rectangle 56"/>
          <p:cNvSpPr/>
          <p:nvPr/>
        </p:nvSpPr>
        <p:spPr>
          <a:xfrm>
            <a:off x="502920" y="5410200"/>
            <a:ext cx="1341973" cy="4724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4360" y="5410200"/>
            <a:ext cx="1159093" cy="47244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FYP-1</a:t>
            </a:r>
          </a:p>
        </p:txBody>
      </p:sp>
      <p:sp>
        <p:nvSpPr>
          <p:cNvPr id="59" name="Rectangle 58"/>
          <p:cNvSpPr/>
          <p:nvPr/>
        </p:nvSpPr>
        <p:spPr>
          <a:xfrm>
            <a:off x="1844893" y="5410200"/>
            <a:ext cx="9841138" cy="4724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936333" y="5410200"/>
            <a:ext cx="9658258" cy="4724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W1–2 verify dataset facts first-hand and secure storage  ·  W2–4 ingestion and protocol profiling  ·  W4–7 multilingual four-state labeller  ·  W6–8 feature cache and site-grouped folds  ·  W8–10 baseline arm and out-of-fold predictions  ·  W10–13 reliability estimation with intervals  ·  W13–15 checkpoint and the primary-versus-secondary decision</a:t>
            </a:r>
          </a:p>
        </p:txBody>
      </p:sp>
      <p:sp>
        <p:nvSpPr>
          <p:cNvPr id="61" name="Rectangle 60"/>
          <p:cNvSpPr/>
          <p:nvPr/>
        </p:nvSpPr>
        <p:spPr>
          <a:xfrm>
            <a:off x="502920" y="587806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02920" y="5882640"/>
            <a:ext cx="1341973" cy="47244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4360" y="5882640"/>
            <a:ext cx="1159093" cy="472440"/>
          </a:xfrm>
          <a:prstGeom prst="rect">
            <a:avLst/>
          </a:prstGeom>
          <a:noFill/>
        </p:spPr>
        <p:txBody>
          <a:bodyPr wrap="square" lIns="0" rIns="0" tIns="0" bIns="0" anchor="ctr">
            <a:spAutoFit/>
          </a:bodyPr>
          <a:lstStyle/>
          <a:p>
            <a:pPr algn="l">
              <a:lnSpc>
                <a:spcPct val="110000"/>
              </a:lnSpc>
            </a:pPr>
            <a:r>
              <a:rPr sz="1000" b="1">
                <a:solidFill>
                  <a:srgbClr val="0F1B2D"/>
                </a:solidFill>
                <a:latin typeface="Carlito"/>
              </a:rPr>
              <a:t>FYP-2</a:t>
            </a:r>
          </a:p>
        </p:txBody>
      </p:sp>
      <p:sp>
        <p:nvSpPr>
          <p:cNvPr id="64" name="Rectangle 63"/>
          <p:cNvSpPr/>
          <p:nvPr/>
        </p:nvSpPr>
        <p:spPr>
          <a:xfrm>
            <a:off x="1844893" y="5882640"/>
            <a:ext cx="9841138" cy="472440"/>
          </a:xfrm>
          <a:prstGeom prst="rect">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936333" y="5882640"/>
            <a:ext cx="9658258" cy="472440"/>
          </a:xfrm>
          <a:prstGeom prst="rect">
            <a:avLst/>
          </a:prstGeom>
          <a:noFill/>
        </p:spPr>
        <p:txBody>
          <a:bodyPr wrap="square" lIns="0" rIns="0" tIns="0" bIns="0" anchor="ctr">
            <a:spAutoFit/>
          </a:bodyPr>
          <a:lstStyle/>
          <a:p>
            <a:pPr algn="l">
              <a:lnSpc>
                <a:spcPct val="112000"/>
              </a:lnSpc>
            </a:pPr>
            <a:r>
              <a:rPr sz="950" b="0">
                <a:solidFill>
                  <a:srgbClr val="0F1B2D"/>
                </a:solidFill>
                <a:latin typeface="Carlito"/>
              </a:rPr>
              <a:t>W16–19 noise-aware training and the remaining arms  ·  W19–22 disagreement and per-language analysis  ·  W22–26 viewer, structured report and referral guidance  ·  W26–28 calibration, evaluation harness and reproducibility packaging  ·  W28–30 acceptance testing with a domain-expert proxy, write-up and defence</a:t>
            </a:r>
          </a:p>
        </p:txBody>
      </p:sp>
      <p:sp>
        <p:nvSpPr>
          <p:cNvPr id="66" name="Rectangle 65"/>
          <p:cNvSpPr/>
          <p:nvPr/>
        </p:nvSpPr>
        <p:spPr>
          <a:xfrm>
            <a:off x="502920" y="6350508"/>
            <a:ext cx="11183112"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78992"/>
            <a:ext cx="1118311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3464"/>
            <a:ext cx="502920" cy="502920"/>
          </a:xfrm>
          <a:prstGeom prst="roundRect">
            <a:avLst>
              <a:gd name="adj" fmla="val 3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83464"/>
            <a:ext cx="502920" cy="502920"/>
          </a:xfrm>
          <a:prstGeom prst="rect">
            <a:avLst/>
          </a:prstGeom>
          <a:noFill/>
        </p:spPr>
        <p:txBody>
          <a:bodyPr wrap="square" lIns="0" rIns="0" tIns="0" bIns="0" anchor="ctr">
            <a:spAutoFit/>
          </a:bodyPr>
          <a:lstStyle/>
          <a:p>
            <a:pPr algn="ctr">
              <a:lnSpc>
                <a:spcPct val="115000"/>
              </a:lnSpc>
            </a:pPr>
            <a:r>
              <a:rPr sz="2200" b="1">
                <a:solidFill>
                  <a:srgbClr val="0F1B2D"/>
                </a:solidFill>
                <a:latin typeface="Caladea"/>
              </a:rPr>
              <a:t>10</a:t>
            </a:r>
          </a:p>
        </p:txBody>
      </p:sp>
      <p:sp>
        <p:nvSpPr>
          <p:cNvPr id="7" name="TextBox 6"/>
          <p:cNvSpPr txBox="1"/>
          <p:nvPr/>
        </p:nvSpPr>
        <p:spPr>
          <a:xfrm>
            <a:off x="502920" y="768096"/>
            <a:ext cx="502920" cy="201168"/>
          </a:xfrm>
          <a:prstGeom prst="rect">
            <a:avLst/>
          </a:prstGeom>
          <a:noFill/>
        </p:spPr>
        <p:txBody>
          <a:bodyPr wrap="square" lIns="0" rIns="0" tIns="0" bIns="0" anchor="t">
            <a:spAutoFit/>
          </a:bodyPr>
          <a:lstStyle/>
          <a:p>
            <a:pPr algn="ctr">
              <a:lnSpc>
                <a:spcPct val="115000"/>
              </a:lnSpc>
            </a:pPr>
            <a:r>
              <a:rPr sz="900" b="1">
                <a:solidFill>
                  <a:srgbClr val="64748B"/>
                </a:solidFill>
                <a:latin typeface="Carlito"/>
              </a:rPr>
              <a:t>OF 10</a:t>
            </a:r>
          </a:p>
        </p:txBody>
      </p:sp>
      <p:sp>
        <p:nvSpPr>
          <p:cNvPr id="8" name="TextBox 7"/>
          <p:cNvSpPr txBox="1"/>
          <p:nvPr/>
        </p:nvSpPr>
        <p:spPr>
          <a:xfrm>
            <a:off x="502920" y="6492240"/>
            <a:ext cx="7315200" cy="256032"/>
          </a:xfrm>
          <a:prstGeom prst="rect">
            <a:avLst/>
          </a:prstGeom>
          <a:noFill/>
        </p:spPr>
        <p:txBody>
          <a:bodyPr wrap="square" lIns="0" rIns="0" tIns="0" bIns="0" anchor="t">
            <a:spAutoFit/>
          </a:bodyPr>
          <a:lstStyle/>
          <a:p>
            <a:pPr algn="l">
              <a:lnSpc>
                <a:spcPct val="115000"/>
              </a:lnSpc>
            </a:pPr>
            <a:r>
              <a:rPr sz="950" b="0">
                <a:solidFill>
                  <a:srgbClr val="64748B"/>
                </a:solidFill>
                <a:latin typeface="Carlito"/>
              </a:rPr>
              <a:t>KneeWS  ·  noise-aware weak supervision  ·  proposal defence</a:t>
            </a:r>
          </a:p>
        </p:txBody>
      </p:sp>
      <p:sp>
        <p:nvSpPr>
          <p:cNvPr id="9" name="TextBox 8"/>
          <p:cNvSpPr txBox="1"/>
          <p:nvPr/>
        </p:nvSpPr>
        <p:spPr>
          <a:xfrm>
            <a:off x="11183112" y="6492240"/>
            <a:ext cx="502920" cy="256032"/>
          </a:xfrm>
          <a:prstGeom prst="rect">
            <a:avLst/>
          </a:prstGeom>
          <a:noFill/>
        </p:spPr>
        <p:txBody>
          <a:bodyPr wrap="square" lIns="0" rIns="0" tIns="0" bIns="0" anchor="t">
            <a:spAutoFit/>
          </a:bodyPr>
          <a:lstStyle/>
          <a:p>
            <a:pPr algn="r">
              <a:lnSpc>
                <a:spcPct val="115000"/>
              </a:lnSpc>
            </a:pPr>
            <a:r>
              <a:rPr sz="950" b="0">
                <a:solidFill>
                  <a:srgbClr val="64748B"/>
                </a:solidFill>
                <a:latin typeface="Carlito"/>
              </a:rPr>
              <a:t>10</a:t>
            </a:r>
          </a:p>
        </p:txBody>
      </p:sp>
      <p:sp>
        <p:nvSpPr>
          <p:cNvPr id="10" name="TextBox 9"/>
          <p:cNvSpPr txBox="1"/>
          <p:nvPr/>
        </p:nvSpPr>
        <p:spPr>
          <a:xfrm>
            <a:off x="1124712" y="256032"/>
            <a:ext cx="9692640" cy="502920"/>
          </a:xfrm>
          <a:prstGeom prst="rect">
            <a:avLst/>
          </a:prstGeom>
          <a:noFill/>
        </p:spPr>
        <p:txBody>
          <a:bodyPr wrap="square" lIns="0" rIns="0" tIns="0" bIns="0" anchor="t">
            <a:spAutoFit/>
          </a:bodyPr>
          <a:lstStyle/>
          <a:p>
            <a:pPr algn="l">
              <a:lnSpc>
                <a:spcPct val="115000"/>
              </a:lnSpc>
            </a:pPr>
            <a:r>
              <a:rPr sz="2400" b="1">
                <a:solidFill>
                  <a:srgbClr val="0F1B2D"/>
                </a:solidFill>
                <a:latin typeface="Caladea"/>
              </a:rPr>
              <a:t>DEI, Ethics and legal issues</a:t>
            </a:r>
          </a:p>
        </p:txBody>
      </p:sp>
      <p:sp>
        <p:nvSpPr>
          <p:cNvPr id="11" name="TextBox 10"/>
          <p:cNvSpPr txBox="1"/>
          <p:nvPr/>
        </p:nvSpPr>
        <p:spPr>
          <a:xfrm>
            <a:off x="1124712" y="749808"/>
            <a:ext cx="9692640" cy="292608"/>
          </a:xfrm>
          <a:prstGeom prst="rect">
            <a:avLst/>
          </a:prstGeom>
          <a:noFill/>
        </p:spPr>
        <p:txBody>
          <a:bodyPr wrap="square" lIns="0" rIns="0" tIns="0" bIns="0" anchor="t">
            <a:spAutoFit/>
          </a:bodyPr>
          <a:lstStyle/>
          <a:p>
            <a:pPr algn="l">
              <a:lnSpc>
                <a:spcPct val="115000"/>
              </a:lnSpc>
            </a:pPr>
            <a:r>
              <a:rPr sz="1250" b="0">
                <a:solidFill>
                  <a:srgbClr val="64748B"/>
                </a:solidFill>
                <a:latin typeface="Carlito"/>
              </a:rPr>
              <a:t>Statements we can be held to, not boilerplate</a:t>
            </a:r>
          </a:p>
        </p:txBody>
      </p:sp>
      <p:sp>
        <p:nvSpPr>
          <p:cNvPr id="12" name="Rounded Rectangle 11"/>
          <p:cNvSpPr/>
          <p:nvPr/>
        </p:nvSpPr>
        <p:spPr>
          <a:xfrm>
            <a:off x="502920" y="1298448"/>
            <a:ext cx="3749039" cy="4023360"/>
          </a:xfrm>
          <a:prstGeom prst="roundRect">
            <a:avLst>
              <a:gd name="adj" fmla="val 5000"/>
            </a:avLst>
          </a:prstGeom>
          <a:solidFill>
            <a:srgbClr val="EEF3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98448"/>
            <a:ext cx="3749039" cy="914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499616"/>
            <a:ext cx="3383279" cy="274320"/>
          </a:xfrm>
          <a:prstGeom prst="rect">
            <a:avLst/>
          </a:prstGeom>
          <a:noFill/>
        </p:spPr>
        <p:txBody>
          <a:bodyPr wrap="square" lIns="0" rIns="0" tIns="0" bIns="0" anchor="t">
            <a:spAutoFit/>
          </a:bodyPr>
          <a:lstStyle/>
          <a:p>
            <a:pPr algn="l">
              <a:lnSpc>
                <a:spcPct val="115000"/>
              </a:lnSpc>
            </a:pPr>
            <a:r>
              <a:rPr sz="1100" b="1">
                <a:solidFill>
                  <a:srgbClr val="2563EB"/>
                </a:solidFill>
                <a:latin typeface="Carlito"/>
              </a:rPr>
              <a:t>DIVERSITY, EQUITY AND INCLUSION</a:t>
            </a:r>
          </a:p>
        </p:txBody>
      </p:sp>
      <p:sp>
        <p:nvSpPr>
          <p:cNvPr id="15" name="TextBox 14"/>
          <p:cNvSpPr txBox="1"/>
          <p:nvPr/>
        </p:nvSpPr>
        <p:spPr>
          <a:xfrm>
            <a:off x="685800" y="1847088"/>
            <a:ext cx="3383279" cy="3337560"/>
          </a:xfrm>
          <a:prstGeom prst="rect">
            <a:avLst/>
          </a:prstGeom>
          <a:noFill/>
        </p:spPr>
        <p:txBody>
          <a:bodyPr wrap="square" lIns="0" rIns="0" tIns="0" bIns="0" anchor="t">
            <a:spAutoFit/>
          </a:bodyPr>
          <a:lstStyle/>
          <a:p>
            <a:pPr algn="l">
              <a:lnSpc>
                <a:spcPct val="130000"/>
              </a:lnSpc>
            </a:pPr>
            <a:r>
              <a:rPr sz="1100" b="0">
                <a:solidFill>
                  <a:srgbClr val="0F1B2D"/>
                </a:solidFill>
                <a:latin typeface="Carlito"/>
              </a:rPr>
              <a:t>• The core measurement of this project is an equity measurement.</a:t>
            </a:r>
          </a:p>
          <a:p>
            <a:pPr algn="l">
              <a:lnSpc>
                <a:spcPct val="130000"/>
              </a:lnSpc>
            </a:pPr>
            <a:r>
              <a:rPr sz="1100" b="0">
                <a:solidFill>
                  <a:srgbClr val="0F1B2D"/>
                </a:solidFill>
                <a:latin typeface="Carlito"/>
              </a:rPr>
              <a:t>• We report omission rates per language. If the system degrades for Turkish, Croatian or Greek reporting sites relative to English, our own headline metric exposes it rather than hiding it.</a:t>
            </a:r>
          </a:p>
          <a:p>
            <a:pPr algn="l">
              <a:lnSpc>
                <a:spcPct val="130000"/>
              </a:lnSpc>
            </a:pPr>
            <a:r>
              <a:rPr sz="1100" b="0">
                <a:solidFill>
                  <a:srgbClr val="0F1B2D"/>
                </a:solidFill>
                <a:latin typeface="Carlito"/>
              </a:rPr>
              <a:t>• Accessibility is built in, not retrofitted: colour-blind-safe palette, no meaning carried by colour alone, keyboard-navigable review screens, and readable type in the clinical views.</a:t>
            </a:r>
          </a:p>
          <a:p>
            <a:pPr algn="l">
              <a:lnSpc>
                <a:spcPct val="130000"/>
              </a:lnSpc>
            </a:pPr>
            <a:r>
              <a:rPr sz="1100" b="0">
                <a:solidFill>
                  <a:srgbClr val="0F1B2D"/>
                </a:solidFill>
                <a:latin typeface="Carlito"/>
              </a:rPr>
              <a:t>• Within the team, primary technical ownership is distributed across the three genuinely difficult subsystems, with a rotating reviewer so no member is confined to interface or documentation work.</a:t>
            </a:r>
          </a:p>
        </p:txBody>
      </p:sp>
      <p:sp>
        <p:nvSpPr>
          <p:cNvPr id="16" name="Rounded Rectangle 15"/>
          <p:cNvSpPr/>
          <p:nvPr/>
        </p:nvSpPr>
        <p:spPr>
          <a:xfrm>
            <a:off x="4398264" y="1298448"/>
            <a:ext cx="3749039" cy="4023360"/>
          </a:xfrm>
          <a:prstGeom prst="roundRect">
            <a:avLst>
              <a:gd name="adj" fmla="val 5000"/>
            </a:avLst>
          </a:prstGeom>
          <a:solidFill>
            <a:srgbClr val="EEF3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298448"/>
            <a:ext cx="3749039" cy="91440"/>
          </a:xfrm>
          <a:prstGeom prst="rect">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81144" y="1499616"/>
            <a:ext cx="3383279" cy="274320"/>
          </a:xfrm>
          <a:prstGeom prst="rect">
            <a:avLst/>
          </a:prstGeom>
          <a:noFill/>
        </p:spPr>
        <p:txBody>
          <a:bodyPr wrap="square" lIns="0" rIns="0" tIns="0" bIns="0" anchor="t">
            <a:spAutoFit/>
          </a:bodyPr>
          <a:lstStyle/>
          <a:p>
            <a:pPr algn="l">
              <a:lnSpc>
                <a:spcPct val="115000"/>
              </a:lnSpc>
            </a:pPr>
            <a:r>
              <a:rPr sz="1100" b="1">
                <a:solidFill>
                  <a:srgbClr val="0EA5A4"/>
                </a:solidFill>
                <a:latin typeface="Carlito"/>
              </a:rPr>
              <a:t>ETHICS</a:t>
            </a:r>
          </a:p>
        </p:txBody>
      </p:sp>
      <p:sp>
        <p:nvSpPr>
          <p:cNvPr id="19" name="TextBox 18"/>
          <p:cNvSpPr txBox="1"/>
          <p:nvPr/>
        </p:nvSpPr>
        <p:spPr>
          <a:xfrm>
            <a:off x="4581144" y="1847088"/>
            <a:ext cx="3383279" cy="3337560"/>
          </a:xfrm>
          <a:prstGeom prst="rect">
            <a:avLst/>
          </a:prstGeom>
          <a:noFill/>
        </p:spPr>
        <p:txBody>
          <a:bodyPr wrap="square" lIns="0" rIns="0" tIns="0" bIns="0" anchor="t">
            <a:spAutoFit/>
          </a:bodyPr>
          <a:lstStyle/>
          <a:p>
            <a:pPr algn="l">
              <a:lnSpc>
                <a:spcPct val="130000"/>
              </a:lnSpc>
            </a:pPr>
            <a:r>
              <a:rPr sz="1100" b="0">
                <a:solidFill>
                  <a:srgbClr val="0F1B2D"/>
                </a:solidFill>
                <a:latin typeface="Carlito"/>
              </a:rPr>
              <a:t>• De-identified public research data. No patient recruitment, no new data collection, no identifiable records handled by the team.</a:t>
            </a:r>
          </a:p>
          <a:p>
            <a:pPr algn="l">
              <a:lnSpc>
                <a:spcPct val="130000"/>
              </a:lnSpc>
            </a:pPr>
            <a:r>
              <a:rPr sz="1100" b="0">
                <a:solidFill>
                  <a:srgbClr val="0F1B2D"/>
                </a:solidFill>
                <a:latin typeface="Carlito"/>
              </a:rPr>
              <a:t>• The system abstains rather than guesses.</a:t>
            </a:r>
          </a:p>
          <a:p>
            <a:pPr algn="l">
              <a:lnSpc>
                <a:spcPct val="130000"/>
              </a:lnSpc>
            </a:pPr>
            <a:r>
              <a:rPr sz="1100" b="0">
                <a:solidFill>
                  <a:srgbClr val="0F1B2D"/>
                </a:solidFill>
                <a:latin typeface="Carlito"/>
              </a:rPr>
              <a:t>• Where the confidence range is too wide to act on, it reports abstention instead of a number — the behaviour a decision-support tool should have.</a:t>
            </a:r>
          </a:p>
          <a:p>
            <a:pPr algn="l">
              <a:lnSpc>
                <a:spcPct val="130000"/>
              </a:lnSpc>
            </a:pPr>
            <a:r>
              <a:rPr sz="1100" b="0">
                <a:solidFill>
                  <a:srgbClr val="0F1B2D"/>
                </a:solidFill>
                <a:latin typeface="Carlito"/>
              </a:rPr>
              <a:t>• Every screen carries a standing non-diagnostic disclaimer. Referral guidance names a specialist category, never a named doctor, a diagnosis or a treatment.</a:t>
            </a:r>
          </a:p>
          <a:p>
            <a:pPr algn="l">
              <a:lnSpc>
                <a:spcPct val="130000"/>
              </a:lnSpc>
            </a:pPr>
            <a:r>
              <a:rPr sz="1100" b="0">
                <a:solidFill>
                  <a:srgbClr val="0F1B2D"/>
                </a:solidFill>
                <a:latin typeface="Carlito"/>
              </a:rPr>
              <a:t>• Failures, disagreements and the limits of the evidence are reported as results, not omitted from them.</a:t>
            </a:r>
          </a:p>
          <a:p>
            <a:pPr algn="l">
              <a:lnSpc>
                <a:spcPct val="130000"/>
              </a:lnSpc>
            </a:pPr>
            <a:r>
              <a:rPr sz="1100" b="0">
                <a:solidFill>
                  <a:srgbClr val="0F1B2D"/>
                </a:solidFill>
                <a:latin typeface="Carlito"/>
              </a:rPr>
              <a:t>• No real users can be reached inside two semesters for a clinical tool. Acceptance testing will use a domain-expert proxy, declared now at proposal stage rather than at the final defence.</a:t>
            </a:r>
          </a:p>
        </p:txBody>
      </p:sp>
      <p:sp>
        <p:nvSpPr>
          <p:cNvPr id="20" name="Rounded Rectangle 19"/>
          <p:cNvSpPr/>
          <p:nvPr/>
        </p:nvSpPr>
        <p:spPr>
          <a:xfrm>
            <a:off x="8293608" y="1298448"/>
            <a:ext cx="3749039" cy="4023360"/>
          </a:xfrm>
          <a:prstGeom prst="roundRect">
            <a:avLst>
              <a:gd name="adj" fmla="val 5000"/>
            </a:avLst>
          </a:prstGeom>
          <a:solidFill>
            <a:srgbClr val="F5F1E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93608" y="1298448"/>
            <a:ext cx="3749039" cy="91440"/>
          </a:xfrm>
          <a:prstGeom prst="rect">
            <a:avLst/>
          </a:prstGeom>
          <a:solidFill>
            <a:srgbClr val="E07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76488" y="1499616"/>
            <a:ext cx="3383279" cy="274320"/>
          </a:xfrm>
          <a:prstGeom prst="rect">
            <a:avLst/>
          </a:prstGeom>
          <a:noFill/>
        </p:spPr>
        <p:txBody>
          <a:bodyPr wrap="square" lIns="0" rIns="0" tIns="0" bIns="0" anchor="t">
            <a:spAutoFit/>
          </a:bodyPr>
          <a:lstStyle/>
          <a:p>
            <a:pPr algn="l">
              <a:lnSpc>
                <a:spcPct val="115000"/>
              </a:lnSpc>
            </a:pPr>
            <a:r>
              <a:rPr sz="1100" b="1">
                <a:solidFill>
                  <a:srgbClr val="E0732B"/>
                </a:solidFill>
                <a:latin typeface="Carlito"/>
              </a:rPr>
              <a:t>LEGAL AND PROFESSIONAL</a:t>
            </a:r>
          </a:p>
        </p:txBody>
      </p:sp>
      <p:sp>
        <p:nvSpPr>
          <p:cNvPr id="23" name="TextBox 22"/>
          <p:cNvSpPr txBox="1"/>
          <p:nvPr/>
        </p:nvSpPr>
        <p:spPr>
          <a:xfrm>
            <a:off x="8476488" y="1847088"/>
            <a:ext cx="3383279" cy="3337560"/>
          </a:xfrm>
          <a:prstGeom prst="rect">
            <a:avLst/>
          </a:prstGeom>
          <a:noFill/>
        </p:spPr>
        <p:txBody>
          <a:bodyPr wrap="square" lIns="0" rIns="0" tIns="0" bIns="0" anchor="t">
            <a:spAutoFit/>
          </a:bodyPr>
          <a:lstStyle/>
          <a:p>
            <a:pPr algn="l">
              <a:lnSpc>
                <a:spcPct val="130000"/>
              </a:lnSpc>
            </a:pPr>
            <a:r>
              <a:rPr sz="1100" b="0">
                <a:solidFill>
                  <a:srgbClr val="0F1B2D"/>
                </a:solidFill>
                <a:latin typeface="Carlito"/>
              </a:rPr>
              <a:t>• RSNA / Kaggle competition data licence and rules observed, including the prohibition on hosted LLM APIs for report text and the offline notebook constraint.</a:t>
            </a:r>
          </a:p>
          <a:p>
            <a:pPr algn="l">
              <a:lnSpc>
                <a:spcPct val="130000"/>
              </a:lnSpc>
            </a:pPr>
            <a:r>
              <a:rPr sz="1100" b="0">
                <a:solidFill>
                  <a:srgbClr val="0F1B2D"/>
                </a:solidFill>
                <a:latin typeface="Carlito"/>
              </a:rPr>
              <a:t>• Only open-weight models with permissive licences. All external code, models, datasets and prompts attributed in the dependency disclosure sheet.</a:t>
            </a:r>
          </a:p>
          <a:p>
            <a:pPr algn="l">
              <a:lnSpc>
                <a:spcPct val="130000"/>
              </a:lnSpc>
            </a:pPr>
            <a:r>
              <a:rPr sz="1100" b="0">
                <a:solidFill>
                  <a:srgbClr val="0F1B2D"/>
                </a:solidFill>
                <a:latin typeface="Carlito"/>
              </a:rPr>
              <a:t>• No redistribution of DICOM data. Derived features and trained weights only.</a:t>
            </a:r>
          </a:p>
          <a:p>
            <a:pPr algn="l">
              <a:lnSpc>
                <a:spcPct val="130000"/>
              </a:lnSpc>
            </a:pPr>
            <a:r>
              <a:rPr sz="1100" b="0">
                <a:solidFill>
                  <a:srgbClr val="0F1B2D"/>
                </a:solidFill>
                <a:latin typeface="Carlito"/>
              </a:rPr>
              <a:t>• An AI-usage log is maintained from week one and countersigned by the supervisor, covering ideation, code generation, debugging, test generation and documentation.</a:t>
            </a:r>
          </a:p>
        </p:txBody>
      </p:sp>
      <p:sp>
        <p:nvSpPr>
          <p:cNvPr id="24" name="Rounded Rectangle 23"/>
          <p:cNvSpPr/>
          <p:nvPr/>
        </p:nvSpPr>
        <p:spPr>
          <a:xfrm>
            <a:off x="502920" y="5486400"/>
            <a:ext cx="11183112" cy="996696"/>
          </a:xfrm>
          <a:prstGeom prst="roundRect">
            <a:avLst>
              <a:gd name="adj" fmla="val 8000"/>
            </a:avLst>
          </a:prstGeom>
          <a:solidFill>
            <a:srgbClr val="DB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641848"/>
            <a:ext cx="10817352" cy="274320"/>
          </a:xfrm>
          <a:prstGeom prst="rect">
            <a:avLst/>
          </a:prstGeom>
          <a:noFill/>
        </p:spPr>
        <p:txBody>
          <a:bodyPr wrap="square" lIns="0" rIns="0" tIns="0" bIns="0" anchor="t">
            <a:spAutoFit/>
          </a:bodyPr>
          <a:lstStyle/>
          <a:p>
            <a:pPr algn="l">
              <a:lnSpc>
                <a:spcPct val="115000"/>
              </a:lnSpc>
            </a:pPr>
            <a:r>
              <a:rPr sz="950" b="1">
                <a:solidFill>
                  <a:srgbClr val="2563EB"/>
                </a:solidFill>
                <a:latin typeface="Carlito"/>
              </a:rPr>
              <a:t>THE STANDING DISCLAIMER, CARRIED ON EVERY SCREEN OF THE SYSTEM</a:t>
            </a:r>
          </a:p>
        </p:txBody>
      </p:sp>
      <p:sp>
        <p:nvSpPr>
          <p:cNvPr id="26" name="TextBox 25"/>
          <p:cNvSpPr txBox="1"/>
          <p:nvPr/>
        </p:nvSpPr>
        <p:spPr>
          <a:xfrm>
            <a:off x="685800" y="5943600"/>
            <a:ext cx="10817352" cy="402336"/>
          </a:xfrm>
          <a:prstGeom prst="rect">
            <a:avLst/>
          </a:prstGeom>
          <a:noFill/>
        </p:spPr>
        <p:txBody>
          <a:bodyPr wrap="square" lIns="0" rIns="0" tIns="0" bIns="0" anchor="t">
            <a:spAutoFit/>
          </a:bodyPr>
          <a:lstStyle/>
          <a:p>
            <a:pPr algn="l">
              <a:lnSpc>
                <a:spcPct val="130000"/>
              </a:lnSpc>
            </a:pPr>
            <a:r>
              <a:rPr sz="1200" b="0">
                <a:solidFill>
                  <a:srgbClr val="0F1B2D"/>
                </a:solidFill>
                <a:latin typeface="Carlito"/>
              </a:rPr>
              <a:t>KneeWS is a medical-imaging research and decision-support system. It is not a clinically validated diagnostic system, it does not provide diagnosis or treatment advice, and its referral guidance names a specialist category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